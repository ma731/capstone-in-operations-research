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5" d="100"/>
          <a:sy n="55" d="100"/>
        </p:scale>
        <p:origin x="846" y="3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o Ortiz Togashi" userId="a6b1bd4bd622e749" providerId="LiveId" clId="{FEB8A5B0-0BEB-411C-85FE-1B4563D04CD7}"/>
    <pc:docChg chg="modShowInfo">
      <pc:chgData name="Marco Ortiz Togashi" userId="a6b1bd4bd622e749" providerId="LiveId" clId="{FEB8A5B0-0BEB-411C-85FE-1B4563D04CD7}" dt="2026-07-07T10:38:52.209" v="0" actId="2744"/>
      <pc:docMkLst>
        <pc:docMk/>
      </pc:docMkLst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5741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e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502920"/>
            <a:ext cx="1371600" cy="11775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80" y="2121408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The Price of Sophistication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80944"/>
            <a:ext cx="106984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0">
                <a:solidFill>
                  <a:srgbClr val="CDD6E4"/>
                </a:solidFill>
                <a:latin typeface="Georgia"/>
              </a:rPr>
              <a:t>When does a fancier model actually pay in carbon-aware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0">
                <a:solidFill>
                  <a:srgbClr val="CDD6E4"/>
                </a:solidFill>
                <a:latin typeface="Georgia"/>
              </a:rPr>
              <a:t>data-center scheduling?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14800"/>
            <a:ext cx="292608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334256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E69F00"/>
                </a:solidFill>
                <a:latin typeface="Segoe UI"/>
              </a:rPr>
              <a:t>We built a real scheduler, then put a price on three upgrades. One pays. Two do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41264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Marco Ortiz Togashi</a:t>
            </a:r>
            <a:r>
              <a:rPr sz="1450" b="0">
                <a:solidFill>
                  <a:srgbClr val="CDD6E4"/>
                </a:solidFill>
                <a:latin typeface="Segoe UI"/>
              </a:rPr>
              <a:t>    ·    IE University · MSc Business Analytics &amp; Data Science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CDD6E4"/>
                </a:solidFill>
                <a:latin typeface="Segoe UI"/>
              </a:rPr>
              <a:t>Supervisor: Prof. Bissan Ghaddar    ·    Viva · 7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CASE IN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One operator, three decisions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17320"/>
            <a:ext cx="3533546" cy="2514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417320"/>
            <a:ext cx="118872" cy="251460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563624"/>
            <a:ext cx="303062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E2A52"/>
                </a:solidFill>
                <a:latin typeface="Georgia"/>
              </a:rPr>
              <a:t>Move work between regions?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331720"/>
            <a:ext cx="3030626" cy="1472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Yes. Worst-day emissions fall 4.0 to 9.9%, roughly $1.7M a year (gross). No statistics needed. This is the lever.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9074" y="1417320"/>
            <a:ext cx="3533546" cy="2514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9074" y="1417320"/>
            <a:ext cx="118872" cy="251460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1682" y="1563624"/>
            <a:ext cx="303062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E2A52"/>
                </a:solidFill>
                <a:latin typeface="Georgia"/>
              </a:rPr>
              <a:t>Model how regions co-move?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1682" y="2331720"/>
            <a:ext cx="3030626" cy="1472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No. It adds under 0.4%, worth about $37k gross and not reliable. Skip it, and we show why.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1220" y="1417320"/>
            <a:ext cx="3533546" cy="2514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1220" y="1417320"/>
            <a:ext cx="118872" cy="25146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3828" y="1563624"/>
            <a:ext cx="3030626" cy="7680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E2A52"/>
                </a:solidFill>
                <a:latin typeface="Georgia"/>
              </a:rPr>
              <a:t>Plan for worse than forecast?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3828" y="2331720"/>
            <a:ext cx="3030626" cy="1472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Only if carbon can spike to triple. Real grids peak near 1.4 times, far below that, so on observed data, skip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224528"/>
            <a:ext cx="11057839" cy="9144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66928" y="4224528"/>
            <a:ext cx="118872" cy="9144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8680" y="4352544"/>
            <a:ext cx="1050005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>
                <a:solidFill>
                  <a:srgbClr val="0E2A52"/>
                </a:solidFill>
                <a:latin typeface="Georgia"/>
              </a:rPr>
              <a:t>The contribution: </a:t>
            </a:r>
            <a:r>
              <a:rPr sz="1650" b="0">
                <a:solidFill>
                  <a:srgbClr val="16202E"/>
                </a:solidFill>
                <a:latin typeface="Georgia"/>
              </a:rPr>
              <a:t>a rule that tells you when a dependence model can ever pay, and a fair way to put a price on any modelling layer.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394960"/>
            <a:ext cx="1105783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The operator is a stand-in for the real study: three grids, 17 US and Canada zones. We priced all three upgrades on a year of real data it never saw, under a pre-committed test. 202 tests, every number archived.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SETUP · MEET THE OPERATOR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Electricity is not equally clean all day, everywhere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44752"/>
            <a:ext cx="5394960" cy="374903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0E2A52"/>
                </a:solidFill>
                <a:latin typeface="Segoe UI"/>
              </a:rPr>
              <a:t>You run compute across regions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You run a fleet of data centers across the US and Canada, with a carbon promise to keep. Every evening you choose where tomorrow's flexible work runs.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The work can wait. Training and batch jobs can start a few hours later, or run in a cleaner region, and nobody notices.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The grid will not wait. Clean power comes and goes by the hour and by region. So you send the work to the cleanest hour and place.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248656"/>
            <a:ext cx="5394960" cy="9144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5248656"/>
            <a:ext cx="118872" cy="9144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41248" y="5413248"/>
            <a:ext cx="4937760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E2A52"/>
                </a:solidFill>
                <a:latin typeface="Georgia"/>
              </a:rPr>
              <a:t>The question is not whether to do this. It is how fancy the model needs to be.</a:t>
            </a:r>
          </a:p>
        </p:txBody>
      </p:sp>
      <p:pic>
        <p:nvPicPr>
          <p:cNvPr id="15" name="Picture 14" descr="correlation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81328"/>
            <a:ext cx="5303520" cy="331076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59436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Carbon intensity differs across regions, and it keeps moving.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CATCH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Nobody had priced the upgrades one at a time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3533546" cy="2286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481328"/>
            <a:ext cx="118872" cy="2286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627632"/>
            <a:ext cx="303062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2A52"/>
                </a:solidFill>
                <a:latin typeface="Georgia"/>
              </a:rPr>
              <a:t>Savings were never separated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450592"/>
            <a:ext cx="303062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Papers change many things at once and report one big saving. Nobody can say which part earned what.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29074" y="1481328"/>
            <a:ext cx="3533546" cy="2286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29074" y="1481328"/>
            <a:ext cx="118872" cy="2286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21682" y="1627632"/>
            <a:ext cx="303062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2A52"/>
                </a:solidFill>
                <a:latin typeface="Georgia"/>
              </a:rPr>
              <a:t>No fair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1682" y="2450592"/>
            <a:ext cx="303062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Richer models get compared against weaker setups under different rules. The model and the setup are mixed together.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91220" y="1481328"/>
            <a:ext cx="3533546" cy="22860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91220" y="1481328"/>
            <a:ext cx="118872" cy="2286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3828" y="1627632"/>
            <a:ext cx="3030626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2A52"/>
                </a:solidFill>
                <a:latin typeface="Georgia"/>
              </a:rPr>
              <a:t>The closest work stops at one region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3828" y="2450592"/>
            <a:ext cx="3030626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Hall et al. 2024 builds robust carbon scheduling for a single region. Whether links across regions pay was an open question.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023360"/>
            <a:ext cx="11057839" cy="9144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4169663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Our fix: one scheduler, the same rules for everyone, add one layer at a time, and price each layer on data it has never seen.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193792"/>
            <a:ext cx="11057839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B57D00"/>
                </a:solidFill>
                <a:latin typeface="Segoe UI"/>
              </a:rPr>
              <a:t>RQ1</a:t>
            </a:r>
            <a:r>
              <a:rPr sz="1600" b="0">
                <a:solidFill>
                  <a:srgbClr val="16202E"/>
                </a:solidFill>
                <a:latin typeface="Segoe UI"/>
              </a:rPr>
              <a:t>  moving work between regions. Does it pay, and how much?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B57D00"/>
                </a:solidFill>
                <a:latin typeface="Segoe UI"/>
              </a:rPr>
              <a:t>RQ2</a:t>
            </a:r>
            <a:r>
              <a:rPr sz="1600" b="0">
                <a:solidFill>
                  <a:srgbClr val="16202E"/>
                </a:solidFill>
                <a:latin typeface="Segoe UI"/>
              </a:rPr>
              <a:t>  modelling how regions move together. Does that add anything?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B57D00"/>
                </a:solidFill>
                <a:latin typeface="Segoe UI"/>
              </a:rPr>
              <a:t>RQ3</a:t>
            </a:r>
            <a:r>
              <a:rPr sz="1600" b="0">
                <a:solidFill>
                  <a:srgbClr val="16202E"/>
                </a:solidFill>
                <a:latin typeface="Segoe UI"/>
              </a:rPr>
              <a:t>  planning for a worse day than the forecast. When is that worth it?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HOW WE TESTED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A day-ahead scheduler, scored on its worst days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5394960" cy="4114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900" b="1">
                <a:solidFill>
                  <a:srgbClr val="0E2A52"/>
                </a:solidFill>
                <a:latin typeface="Segoe UI"/>
              </a:rPr>
              <a:t>Forecast, plan, execute, score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Every evening: forecast tomorrow's carbon per region, plan where and when the work runs, execute, score. Repeat for a full held-out year (2025).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The fair-test rule: every version of the scheduler runs under identical constraints. Only the brain changes, so any difference is the brain's doing.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The baseline is the same scheduler with the transfer channel switched off (Φ = 0). Like for like.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0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1">
                <a:solidFill>
                  <a:srgbClr val="0E2A52"/>
                </a:solidFill>
                <a:latin typeface="Segoe UI"/>
              </a:rPr>
              <a:t>The score: CVaR, the average of the worst 5% of days.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029200"/>
            <a:ext cx="5394960" cy="1115568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66928" y="5029200"/>
            <a:ext cx="118872" cy="1115568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138928"/>
            <a:ext cx="50292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0E2A52"/>
                </a:solidFill>
                <a:latin typeface="Segoe UI"/>
              </a:rPr>
              <a:t>The constraints: </a:t>
            </a:r>
            <a:r>
              <a:rPr sz="1350" b="0">
                <a:solidFill>
                  <a:srgbClr val="16202E"/>
                </a:solidFill>
                <a:latin typeface="Segoe UI"/>
              </a:rPr>
              <a:t>a capacity ceiling, ramp limits, a work deadline, and a thermal (PUE) limit, plus the transfer budget Φ. The full model is written out on the last backup slide.</a:t>
            </a:r>
          </a:p>
        </p:txBody>
      </p:sp>
      <p:pic>
        <p:nvPicPr>
          <p:cNvPr id="15" name="Picture 14" descr="model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81328"/>
            <a:ext cx="5303520" cy="197634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55080" y="594360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Check: on small problems the scheduler finds the exact best answer.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HOW WE TESTED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Real data, and grids picked to work against us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53949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950" b="1">
                <a:solidFill>
                  <a:srgbClr val="0E2A52"/>
                </a:solidFill>
                <a:latin typeface="Segoe UI"/>
              </a:rPr>
              <a:t>If the layer can pay anywhere, it is here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Real hourly carbon data (Electricity Maps), 2021 to 2025, 17 zones across the US and Canada. Trained up to 2024, tested once on 2025.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US West: regions strongly linked, all moving together.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Eastern US and Canada belt: middle of the road.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A built portfolio of solar, wind and hydro zones: barely linked, on purpose. The best possible case for the co-movement layer.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5B6675"/>
                </a:solidFill>
                <a:latin typeface="Segoe UI"/>
              </a:rPr>
              <a:t>Iberia and France: checked early, set aside as too weak a test. The robust machinery does not engage there, so a zero from it would prove nothing.</a:t>
            </a:r>
          </a:p>
        </p:txBody>
      </p:sp>
      <p:pic>
        <p:nvPicPr>
          <p:cNvPr id="12" name="Picture 11" descr="ci_corr_heatmap_us_w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81328"/>
            <a:ext cx="5303520" cy="29430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55080" y="58978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The links are real, up to 0.78 out of 1 on the US West, close to a perfect match. Value is the question.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DECISION 1 · MOVE THE 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Let the work chase the clean region. It pays.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7</a:t>
            </a:r>
          </a:p>
        </p:txBody>
      </p:sp>
      <p:pic>
        <p:nvPicPr>
          <p:cNvPr id="11" name="Picture 10" descr="transfer_valu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6675120" cy="42519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554480"/>
            <a:ext cx="3931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4A7C59"/>
                </a:solidFill>
                <a:latin typeface="Georgia"/>
              </a:rPr>
              <a:t>4.0 to 9.9%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12848"/>
            <a:ext cx="393192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675"/>
                </a:solidFill>
                <a:latin typeface="Segoe UI"/>
              </a:rPr>
              <a:t>cut in worst-day emissions, against the same scheduler with transfer switched 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3063240"/>
            <a:ext cx="402336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Per grid: Western 4.0%, Eastern 9.9%, Diversified 9.0%. On the Eastern fleet, roughly $1.7M a year, before the cost of moving work.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Savings flatten out near a 20% transfer budget. A modest channel captures nearly all the value.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1">
                <a:solidFill>
                  <a:srgbClr val="0E2A52"/>
                </a:solidFill>
                <a:latin typeface="Segoe UI"/>
              </a:rPr>
              <a:t>And it needs no statistics at all. This is the lever.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VERDICT SO FAR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One jump, then flat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8</a:t>
            </a:r>
          </a:p>
        </p:txBody>
      </p:sp>
      <p:pic>
        <p:nvPicPr>
          <p:cNvPr id="11" name="Picture 10" descr="complexity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6565695" cy="42062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600200"/>
            <a:ext cx="402336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950" b="1">
                <a:solidFill>
                  <a:srgbClr val="0E2A52"/>
                </a:solidFill>
                <a:latin typeface="Segoe UI"/>
              </a:rPr>
              <a:t>The whole thesis in one image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0">
                <a:solidFill>
                  <a:srgbClr val="16202E"/>
                </a:solidFill>
                <a:latin typeface="Segoe UI"/>
              </a:rPr>
              <a:t>Every model we built, on one line: value against complexity. Same rules, same test year.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1">
                <a:solidFill>
                  <a:srgbClr val="4A7C59"/>
                </a:solidFill>
                <a:latin typeface="Segoe UI"/>
              </a:rPr>
              <a:t>Transfer is the single jump. Everything after it adds almost no height.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50" b="1">
                <a:solidFill>
                  <a:srgbClr val="0E2A52"/>
                </a:solidFill>
                <a:latin typeface="Segoe UI"/>
              </a:rPr>
              <a:t>The rest of this talk explains why the line goes flat, and when it would not.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06440"/>
            <a:ext cx="6675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y-axis: savings vs a carbon-blind scheduler; the 4.0 to 9.9% headline is CVaR vs Φ = 0 (archived: complexity_frontier_2026-07-05.csv).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DECISION 2 · MODEL THE LINKS?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Knowing how regions move together adds nothing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61872"/>
            <a:ext cx="11057839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E2A52"/>
                </a:solidFill>
                <a:latin typeface="Segoe UI"/>
              </a:rPr>
              <a:t>The test, fixed in advance:  </a:t>
            </a:r>
            <a:r>
              <a:rPr sz="1600" b="0">
                <a:solidFill>
                  <a:srgbClr val="16202E"/>
                </a:solidFill>
                <a:latin typeface="Segoe UI"/>
              </a:rPr>
              <a:t>fit the schedule with the real links between regions, then with the links destroyed. Across 144 pre-committed cells the gap never leaves a plus or minus 0.4% band, and its sign flips.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1">
                <a:solidFill>
                  <a:srgbClr val="0E2A52"/>
                </a:solidFill>
                <a:latin typeface="Segoe UI"/>
              </a:rPr>
              <a:t>An active zero:  </a:t>
            </a:r>
            <a:r>
              <a:rPr sz="1600" b="0">
                <a:solidFill>
                  <a:srgbClr val="16202E"/>
                </a:solidFill>
                <a:latin typeface="Segoe UI"/>
              </a:rPr>
              <a:t>the machinery was on and engaged, so this is a real zero, not a switched-off one. Skip this layer.</a:t>
            </a:r>
          </a:p>
        </p:txBody>
      </p:sp>
      <p:pic>
        <p:nvPicPr>
          <p:cNvPr id="12" name="Picture 11" descr="cv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845" y="2651760"/>
            <a:ext cx="9564004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TWIST: A REAL SIGNAL THAT STILL DOES NOT PAY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A wave and a ripple: the signal was there all along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539496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signal is real, but the wave hides it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Carbon follows a big daily wave, driven by sun and demand. It is large, shared, and easy to predict.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links between regions live in a small ripple on top, 2 to 4 times smaller than the wave. The schedule barely reacts to it.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The proof the test works: flatten the wave artificially, and the same layer suddenly pays +1.46%. Far above the 0.4% bar.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So the signal is real, just too small and shaky to bank. It loses to the wave.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572768"/>
            <a:ext cx="5257800" cy="41148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29400" y="1783080"/>
            <a:ext cx="4754880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1">
                <a:solidFill>
                  <a:srgbClr val="0E2A52"/>
                </a:solidFill>
                <a:latin typeface="Georgia"/>
              </a:rPr>
              <a:t>The wave-and-ripple rule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6202E"/>
                </a:solidFill>
                <a:latin typeface="Segoe UI"/>
              </a:rPr>
              <a:t>A dependence layer can only move the schedule when the ripple rivals the wave.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16202E"/>
                </a:solidFill>
                <a:latin typeface="Segoe UI"/>
              </a:rPr>
              <a:t>On every grid we measured, the wave is 2 to 4 times bigger. So the layer cannot pay there.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1">
                <a:solidFill>
                  <a:srgbClr val="0E2A52"/>
                </a:solidFill>
                <a:latin typeface="Segoe UI"/>
              </a:rPr>
              <a:t>This is the part that travels: a simple check anyone can run on their own grid, before spending anything.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DECISION 3 · BUY INSURANCE?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Forecasts miss, so the plan should expect worse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481328"/>
            <a:ext cx="539496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Hedging the forecast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Planning a day ahead means planning under forecast error.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The robust plan does not trust one forecast. It draws a ball of plausible tomorrows around it and plans against the worst one inside.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Like packing for weather a bit worse than predicted.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More caution buys protection on bad days, and costs a small premium every day. Insurance, in one dial.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2057400"/>
            <a:ext cx="5257800" cy="137160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_eq_d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2377440"/>
            <a:ext cx="4937760" cy="6228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55080" y="3703320"/>
            <a:ext cx="525780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5B6675"/>
                </a:solidFill>
                <a:latin typeface="Segoe UI"/>
              </a:rPr>
              <a:t>The first term carries the saving. The second term prices the caution. So the real question: how bad must the bad day be before the insurance pays for itself?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DECISION 3 · BUY INSURANCE?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Insurance pays past a tripling. Observed grids fall far short.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12</a:t>
            </a:r>
          </a:p>
        </p:txBody>
      </p:sp>
      <p:pic>
        <p:nvPicPr>
          <p:cNvPr id="11" name="Picture 10" descr="crosso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6675120" cy="42069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9520" y="1554480"/>
            <a:ext cx="402336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0">
                <a:solidFill>
                  <a:srgbClr val="16202E"/>
                </a:solidFill>
                <a:latin typeface="Segoe UI"/>
              </a:rPr>
              <a:t>We injected emergencies into the test year and turned the severity up step by step. The robust plan starts to win past M = 3: carbon spiking to triple.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1">
                <a:solidFill>
                  <a:srgbClr val="B3402F"/>
                </a:solidFill>
                <a:latin typeface="Segoe UI"/>
              </a:rPr>
              <a:t>Reality check, 17 zones, 5 years: the median worst spike is about 1.43 times. Even Winter Storm Uri reached only 1.28 times.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0">
                <a:solidFill>
                  <a:srgbClr val="16202E"/>
                </a:solidFill>
                <a:latin typeface="Segoe UI"/>
              </a:rPr>
              <a:t>One caveat, stated up front: this holds for single-region emergencies. For storms that hit every region at once, there is nowhere clean to move the work anyway.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1">
                <a:solidFill>
                  <a:srgbClr val="0E2A52"/>
                </a:solidFill>
                <a:latin typeface="Segoe UI"/>
              </a:rPr>
              <a:t>So robustness is an option you price, not a free win.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A decision rule the operator can use tomorrow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5391759" cy="210312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481328"/>
            <a:ext cx="118872" cy="2103120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627632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Layer 1 · Always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084832"/>
            <a:ext cx="4888839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Schedule per region, day ahead. Riding the daily carbon wave is the free baseline everyone should run.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1481328"/>
            <a:ext cx="5391759" cy="210312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3007" y="1481328"/>
            <a:ext cx="118872" cy="2103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5615" y="1627632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Layer 2 · The lever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5615" y="2084832"/>
            <a:ext cx="4888839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Add transfer between regions: 4.0 to 9.9% off worst-day emissions. A modest channel near a 20% budget captures nearly all of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840480"/>
            <a:ext cx="5391759" cy="210312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3840480"/>
            <a:ext cx="118872" cy="2103120"/>
          </a:xfrm>
          <a:prstGeom prst="rect">
            <a:avLst/>
          </a:prstGeom>
          <a:solidFill>
            <a:srgbClr val="B340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" y="3986784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Layer 3 · Skip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443984"/>
            <a:ext cx="4888839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The co-movement models. Covariance and copulas add under 0.4%, below the noise, while the daily wave dominates.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3007" y="3840480"/>
            <a:ext cx="5391759" cy="2103120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33007" y="3840480"/>
            <a:ext cx="118872" cy="21031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5615" y="3986784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Layer 4 · Conditional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5615" y="4443984"/>
            <a:ext cx="4888839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CDD6E4"/>
                </a:solidFill>
                <a:latin typeface="Segoe UI"/>
              </a:rPr>
              <a:t>Buy robustness only if you expect emergencies past a tripling. Real grids have not come close.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WHY YOU CAN TRUST A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Built so that a zero is a result, not an excuse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80160"/>
            <a:ext cx="11057839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E2A52"/>
                </a:solidFill>
                <a:latin typeface="Segoe UI"/>
              </a:rPr>
              <a:t>Locked first. </a:t>
            </a:r>
            <a:r>
              <a:rPr sz="1550" b="0">
                <a:solidFill>
                  <a:srgbClr val="16202E"/>
                </a:solidFill>
                <a:latin typeface="Segoe UI"/>
              </a:rPr>
              <a:t>The pass-or-fail rule went into version control before we read 2025. An equivalence test, built to prove smallness rather than just miss it, rules out any effect above 0.4%, and holds down to a 0.31% bar. A correction for testing many cells, a resampling check that keeps nearby days together, and re-runs on 2022 to 2024 all give the same zero.  </a:t>
            </a:r>
            <a:r>
              <a:rPr sz="1550" b="1">
                <a:solidFill>
                  <a:srgbClr val="B3402F"/>
                </a:solidFill>
                <a:latin typeface="Segoe UI"/>
              </a:rPr>
              <a:t>The +1.46% positive control proves the test can fire.</a:t>
            </a:r>
          </a:p>
        </p:txBody>
      </p:sp>
      <p:pic>
        <p:nvPicPr>
          <p:cNvPr id="12" name="Picture 11" descr="robust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9128" y="2926080"/>
            <a:ext cx="8133437" cy="3200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6199632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The gap stays inside the 0.4% band under every check, and the test had the power to catch any real gap down to 0.015 to 0.11%. Every number is archived.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WHY YOU CAN TRUST A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202 tests: the thesis's claims run as code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298448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66928" y="1344168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0E2A52"/>
                </a:solidFill>
                <a:latin typeface="Georgia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2801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Models against known answers.  </a:t>
            </a:r>
            <a:r>
              <a:rPr sz="1300" b="0">
                <a:solidFill>
                  <a:srgbClr val="16202E"/>
                </a:solidFill>
                <a:latin typeface="Segoe UI"/>
              </a:rPr>
              <a:t>every scheduler is solved on small test problems where we know the exact best answer, and must match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2066543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112263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0E2A52"/>
                </a:solidFill>
                <a:latin typeface="Georgia"/>
              </a:rPr>
              <a:t>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048255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Covariance and dependence tools.  </a:t>
            </a:r>
            <a:r>
              <a:rPr sz="1300" b="0">
                <a:solidFill>
                  <a:srgbClr val="16202E"/>
                </a:solidFill>
                <a:latin typeface="Segoe UI"/>
              </a:rPr>
              <a:t>the estimators, the link-destroying shuffle, the correlation and tail measures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2834639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880359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0E2A52"/>
                </a:solidFill>
                <a:latin typeface="Georgia"/>
              </a:rPr>
              <a:t>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816351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The shared rulebook.  </a:t>
            </a:r>
            <a:r>
              <a:rPr sz="1300" b="0">
                <a:solidFill>
                  <a:srgbClr val="16202E"/>
                </a:solidFill>
                <a:latin typeface="Segoe UI"/>
              </a:rPr>
              <a:t>capacity, ramp and budget constraints. The fair-test rule, enforced in code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3602735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3648455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5B6675"/>
                </a:solidFill>
                <a:latin typeface="Georgia"/>
              </a:rPr>
              <a:t>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3584447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Data pipelines.  </a:t>
            </a:r>
            <a:r>
              <a:rPr sz="1300" b="0">
                <a:solidFill>
                  <a:srgbClr val="16202E"/>
                </a:solidFill>
                <a:latin typeface="Segoe UI"/>
              </a:rPr>
              <a:t>loading the carbon data (13 tests need the licensed files, so the automatic test runner runs 189) and the weather data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4370831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4416551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B3402F"/>
                </a:solidFill>
                <a:latin typeface="Georgia"/>
              </a:rPr>
              <a:t>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4352544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The thesis's math, run as tests.  </a:t>
            </a:r>
            <a:r>
              <a:rPr sz="1300" b="0">
                <a:solidFill>
                  <a:srgbClr val="16202E"/>
                </a:solidFill>
                <a:latin typeface="Segoe UI"/>
              </a:rPr>
              <a:t>key claims from the thesis are checked by code on every push. If a claim breaks, the build goes 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138927"/>
            <a:ext cx="868680" cy="6400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5184647"/>
            <a:ext cx="8686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300" b="1">
                <a:solidFill>
                  <a:srgbClr val="0E2A52"/>
                </a:solidFill>
                <a:latin typeface="Georgia"/>
              </a:rPr>
              <a:t>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512064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Frozen numbers and guards.  </a:t>
            </a:r>
            <a:r>
              <a:rPr sz="1300" b="0">
                <a:solidFill>
                  <a:srgbClr val="16202E"/>
                </a:solidFill>
                <a:latin typeface="Segoe UI"/>
              </a:rPr>
              <a:t>the headline numbers are re-checked against their archived files, so nothing can drift quietly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907023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0E2A52"/>
                </a:solidFill>
                <a:latin typeface="Georgia"/>
              </a:rPr>
              <a:t>Why so many? Because the weak point of finding nothing is: you did not look hard enough. The tests are how we prove we looked.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THE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What this thesis adds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81328"/>
            <a:ext cx="11057839" cy="169164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481328"/>
            <a:ext cx="118872" cy="169164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627632"/>
            <a:ext cx="105549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1. A rule for when the dependence layer can pay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084832"/>
            <a:ext cx="1055491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It can only pay when the ripple rivals the wave. We show how to split the score into the big daily wave and the small leftover ripple, give a limit you can check before touching any data, and back it with a measurement that has a working positive control. Carbon grids are not in that regime, and that is a rule about a whole class of problems, not one number.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364992"/>
            <a:ext cx="11057839" cy="169164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66928" y="3364992"/>
            <a:ext cx="118872" cy="1691640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9536" y="3511296"/>
            <a:ext cx="1055491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2. A fair way to price a modelling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3968496"/>
            <a:ext cx="10554919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16202E"/>
                </a:solidFill>
                <a:latin typeface="Segoe UI"/>
              </a:rPr>
              <a:t>Lock the pass-or-fail rule first. Keep everything else identical. Compare against a like-for-like baseline and an economic bar. The field added this layer by default. We put a price on it.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85232"/>
            <a:ext cx="11057839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16202E"/>
                </a:solidFill>
                <a:latin typeface="Segoe UI"/>
              </a:rPr>
              <a:t>Plus: the measured 4.0 to 9.9% transfer saving, the priced robustness rule, and a pipeline anyone can re-run. 202 tests, archived numbers, free solvers.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WHERE IT COULD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Stated plainly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54480"/>
            <a:ext cx="11057839" cy="4389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3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50" b="0">
                <a:solidFill>
                  <a:srgbClr val="16202E"/>
                </a:solidFill>
                <a:latin typeface="Segoe UI"/>
              </a:rPr>
              <a:t>One workload shape: jobs that can split across hours and sites, with ramp limits. A very different cost shape could change the answer.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3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50" b="0">
                <a:solidFill>
                  <a:srgbClr val="16202E"/>
                </a:solidFill>
                <a:latin typeface="Segoe UI"/>
              </a:rPr>
              <a:t>One main test year. Re-runs on 2022 to 2024 agree, but the truly independent evidence is a handful of yearly reads, not 362 days. A longer evaluation is the named next step.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3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50" b="0">
                <a:solidFill>
                  <a:srgbClr val="16202E"/>
                </a:solidFill>
                <a:latin typeface="Segoe UI"/>
              </a:rPr>
              <a:t>A pattern, not a law: the rule holds where the daily wave dominates. That is every grid we measured, but we hand you the check, not a theorem.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600"/>
              </a:spcAft>
            </a:pPr>
            <a:r>
              <a:rPr sz="13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50" b="0">
                <a:solidFill>
                  <a:srgbClr val="16202E"/>
                </a:solidFill>
                <a:latin typeface="Segoe UI"/>
              </a:rPr>
              <a:t>The crossover is characterized, not observed: no real grid in our data ever crossed it. It is reported at the pre-committed caution and tail level, not tuned to a number, and we say exactly where that line 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5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777240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Georgia"/>
              </a:rPr>
              <a:t>The rule in one 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572768"/>
            <a:ext cx="2377440" cy="45720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104241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E69F00"/>
                </a:solidFill>
                <a:latin typeface="Georgia"/>
              </a:rPr>
              <a:t>Fancier is not safer. It is a bill, and it pays only when the ripple rivals the wave.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743200"/>
            <a:ext cx="10424160" cy="2468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Always schedule with the daily wave.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1">
                <a:solidFill>
                  <a:srgbClr val="E69F00"/>
                </a:solidFill>
                <a:latin typeface="Segoe UI"/>
              </a:rPr>
              <a:t>Add the transfer channel. That is the lever: 4.0 to 9.9%.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Skip the co-movement models: under 0.4%, below the noise.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300"/>
              </a:spcAft>
            </a:pPr>
            <a:r>
              <a:rPr sz="14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800" b="0">
                <a:solidFill>
                  <a:srgbClr val="CDD6E4"/>
                </a:solidFill>
                <a:latin typeface="Segoe UI"/>
              </a:rPr>
              <a:t>Buy robustness only past a tripling. Real grids are not there.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34924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E69F00"/>
                </a:solidFill>
                <a:latin typeface="Georgia"/>
              </a:rPr>
              <a:t>Thank you. Questions welcome.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CDD6E4"/>
                </a:solidFill>
                <a:latin typeface="Segoe UI"/>
              </a:rPr>
              <a:t>Every number on these slides traces to an archived file in the repository (docs/deck_provenance.md).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DD6E4"/>
                </a:solidFill>
                <a:latin typeface="Segoe UI"/>
              </a:rPr>
              <a:t>M. Ortiz Togashi ·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RQ2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The test in detail: destroy the links, keep everything else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80160"/>
            <a:ext cx="11057839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E2A52"/>
                </a:solidFill>
                <a:latin typeface="Segoe UI"/>
              </a:rPr>
              <a:t>Keep each region, cut the links. </a:t>
            </a:r>
            <a:r>
              <a:rPr sz="1550" b="0">
                <a:solidFill>
                  <a:srgbClr val="16202E"/>
                </a:solidFill>
                <a:latin typeface="Segoe UI"/>
              </a:rPr>
              <a:t>Fit the schedule on the real links between regions. Then refit on a copy where each region keeps its own exact daily pattern, but every cross-region link is destroyed. Score both on the held-out worst days. The rule, fixed in advance: if spatial structure matters, the real-links schedule must win.  </a:t>
            </a:r>
            <a:r>
              <a:rPr sz="1550" b="1">
                <a:solidFill>
                  <a:srgbClr val="0E2A52"/>
                </a:solidFill>
                <a:latin typeface="Segoe UI"/>
              </a:rPr>
              <a:t>It does not.</a:t>
            </a:r>
          </a:p>
        </p:txBody>
      </p:sp>
      <p:pic>
        <p:nvPicPr>
          <p:cNvPr id="12" name="Picture 11" descr="schedule_us_w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327" y="2944368"/>
            <a:ext cx="10607040" cy="196748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928" y="6199632"/>
            <a:ext cx="110578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Western US, joint (filled) vs shuffled (outline) schedules. They overlap almost everywhere.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RQ2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The leftover dependence has the wrong shape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20</a:t>
            </a:r>
          </a:p>
        </p:txBody>
      </p:sp>
      <p:pic>
        <p:nvPicPr>
          <p:cNvPr id="11" name="Picture 10" descr="tail_dependence_us_w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481328"/>
            <a:ext cx="3391037" cy="4480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69480" y="1554480"/>
            <a:ext cx="4343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850" b="1">
                <a:solidFill>
                  <a:srgbClr val="0E2A52"/>
                </a:solidFill>
                <a:latin typeface="Segoe UI"/>
              </a:rPr>
              <a:t>Clean together, dirty apart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0">
                <a:solidFill>
                  <a:srgbClr val="16202E"/>
                </a:solidFill>
                <a:latin typeface="Segoe UI"/>
              </a:rPr>
              <a:t>Regions hit their clean extremes together far more than their dirty ones. CISO/LDWP: 0.48 clean vs 0.25 dirty. BANC/LDWP: 0.40 vs 0.17.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0">
                <a:solidFill>
                  <a:srgbClr val="16202E"/>
                </a:solidFill>
                <a:latin typeface="Segoe UI"/>
              </a:rPr>
              <a:t>A simple co-movement model is symmetric: it treats clean-together and dirty-together as the same size. Real grids do not, so it cannot capture this shape.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1">
                <a:solidFill>
                  <a:srgbClr val="0E2A52"/>
                </a:solidFill>
                <a:latin typeface="Segoe UI"/>
              </a:rPr>
              <a:t>And the structure sits in the clean tail, which a risk-averse scheduler ignores anyway.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1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550" b="0">
                <a:solidFill>
                  <a:srgbClr val="5B6675"/>
                </a:solidFill>
                <a:latin typeface="Segoe UI"/>
              </a:rPr>
              <a:t>Archived: tail_dependence_2026-07-05.csv (residual series).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144 cells, 198 rows: the anatomy of the test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54480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0E2A52"/>
                </a:solidFill>
                <a:latin typeface="Georgia"/>
              </a:rPr>
              <a:t>144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212848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675"/>
                </a:solidFill>
                <a:latin typeface="Segoe UI"/>
              </a:rPr>
              <a:t>pre-committed null-family 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554480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B3402F"/>
                </a:solidFill>
                <a:latin typeface="Georgia"/>
              </a:rPr>
              <a:t>+ 54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212848"/>
            <a:ext cx="27432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675"/>
                </a:solidFill>
                <a:latin typeface="Segoe UI"/>
              </a:rPr>
              <a:t>positive-control cells (wave flattened)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554480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5B6675"/>
                </a:solidFill>
                <a:latin typeface="Georgia"/>
              </a:rPr>
              <a:t>= 198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212848"/>
            <a:ext cx="31089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675"/>
                </a:solidFill>
                <a:latin typeface="Segoe UI"/>
              </a:rPr>
              <a:t>rows in bh_correction.csv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108960"/>
            <a:ext cx="11057839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144 = 4 grid-runs x 9 regime cells x 4 covariance estimators. The multiple-testing correction applies to this family.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0">
                <a:solidFill>
                  <a:srgbClr val="16202E"/>
                </a:solidFill>
                <a:latin typeface="Segoe UI"/>
              </a:rPr>
              <a:t>Biggest gap among the 144: 0.355%, inside the 0.4% band. And the test had the power to catch any real gap down to 0.015 to 0.11% (80% power, TOST at alpha 0.05), an order of magnitude below the bar.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1">
                <a:solidFill>
                  <a:srgbClr val="B3402F"/>
                </a:solidFill>
                <a:latin typeface="Segoe UI"/>
              </a:rPr>
              <a:t>The 54 extra rows are the instrument check: flatten the wave and the test fires at +1.46%, well above the bar, by design.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600" b="1">
                <a:solidFill>
                  <a:srgbClr val="0E2A52"/>
                </a:solidFill>
                <a:latin typeface="Segoe UI"/>
              </a:rPr>
              <a:t>The claim is a conjunction: every cell must rule out a material effect, so it is only as strong as its hardest case, the Diversified grid, which still clears the bar comfortably (z = 3.7). Conservative without extra correction.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STATISTICS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Why 0.4%? An economics bar, and it only cuts one way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54480"/>
            <a:ext cx="11057839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The bar, defended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0.4% is the smallest saving that covers building and running a covariance layer. And that layer can itself hurt: up to 0.233% on the Diversified grid.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It was not tuned to get the result: the conclusion keeps holding for any bar down to 0.31%.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B3402F"/>
                </a:solidFill>
                <a:latin typeface="Segoe UI"/>
              </a:rPr>
              <a:t>Push the bar to 0.1% and only one cell flips: Diversified at minus 0.233%, and it flips to clearly negative. A tighter bar makes skipping the layer stronger, not weaker.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Scale: on the Eastern facility the covariance channel is worth about $37k a year, and not reliably positive. The transfer lever is worth about $1.7M.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RQ3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Why BPAT's 5.12x does not break the crossover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554480"/>
            <a:ext cx="11057839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700"/>
              </a:spcAft>
            </a:pPr>
            <a:r>
              <a:rPr sz="2000" b="1">
                <a:solidFill>
                  <a:srgbClr val="0E2A52"/>
                </a:solidFill>
                <a:latin typeface="Segoe UI"/>
              </a:rPr>
              <a:t>A big ratio on a tiny base is not risk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BPAT is a hydro zone with near-zero baseline carbon. A 5.12x jump on a tiny base is a small change in grams. It barely moves the portfolio.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What the schedule's risk actually feels is the portfolio-level worst day: Western 1.34x, Eastern 1.29x, Diversified 1.89x. All well under the tripling.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0">
                <a:solidFill>
                  <a:srgbClr val="16202E"/>
                </a:solidFill>
                <a:latin typeface="Segoe UI"/>
              </a:rPr>
              <a:t>Context: CA-ON 2.57x, US-SW-PNM 1.90x, median of the 17 zones 1.43x, Winter Storm Uri 1.28x. (carbon_ceiling_2026-06-24.csv)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1500"/>
              </a:spcAft>
            </a:pPr>
            <a:r>
              <a:rPr sz="1300" b="1">
                <a:solidFill>
                  <a:srgbClr val="E69F00"/>
                </a:solidFill>
                <a:latin typeface="Segoe UI"/>
              </a:rPr>
              <a:t>●  </a:t>
            </a:r>
            <a:r>
              <a:rPr sz="1700" b="1">
                <a:solidFill>
                  <a:srgbClr val="0E2A52"/>
                </a:solidFill>
                <a:latin typeface="Segoe UI"/>
              </a:rPr>
              <a:t>And the decisive check: draw emergencies from each region's own real worst days, and the robust plan still does not pay.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THE FULL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The scheduler, written out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298448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52"/>
                </a:solidFill>
                <a:latin typeface="Segoe UI"/>
              </a:rPr>
              <a:t>The problem is a second-order cone program: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737360"/>
            <a:ext cx="5349240" cy="1097280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Picture 12" descr="_eq_d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79" y="1975104"/>
            <a:ext cx="4983480" cy="6286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" y="3017520"/>
            <a:ext cx="53492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1">
                <a:solidFill>
                  <a:srgbClr val="0E2A52"/>
                </a:solidFill>
                <a:latin typeface="Segoe UI"/>
              </a:rPr>
              <a:t>x</a:t>
            </a:r>
            <a:r>
              <a:rPr sz="1400" b="0">
                <a:solidFill>
                  <a:srgbClr val="16202E"/>
                </a:solidFill>
                <a:latin typeface="Segoe UI"/>
              </a:rPr>
              <a:t> is the schedule (power per region, per hour), </a:t>
            </a:r>
            <a:r>
              <a:rPr sz="1400" b="1">
                <a:solidFill>
                  <a:srgbClr val="0E2A52"/>
                </a:solidFill>
                <a:latin typeface="Segoe UI"/>
              </a:rPr>
              <a:t>ρ̄</a:t>
            </a:r>
            <a:r>
              <a:rPr sz="1400" b="0">
                <a:solidFill>
                  <a:srgbClr val="16202E"/>
                </a:solidFill>
                <a:latin typeface="Segoe UI"/>
              </a:rPr>
              <a:t> is forecast carbon, </a:t>
            </a:r>
            <a:r>
              <a:rPr sz="1400" b="1">
                <a:solidFill>
                  <a:srgbClr val="0E2A52"/>
                </a:solidFill>
                <a:latin typeface="Segoe UI"/>
              </a:rPr>
              <a:t>ε</a:t>
            </a:r>
            <a:r>
              <a:rPr sz="1400" b="0">
                <a:solidFill>
                  <a:srgbClr val="16202E"/>
                </a:solidFill>
                <a:latin typeface="Segoe UI"/>
              </a:rPr>
              <a:t> is how cautious, </a:t>
            </a:r>
            <a:r>
              <a:rPr sz="1400" b="1">
                <a:solidFill>
                  <a:srgbClr val="0E2A52"/>
                </a:solidFill>
                <a:latin typeface="Segoe UI"/>
              </a:rPr>
              <a:t>Σ</a:t>
            </a:r>
            <a:r>
              <a:rPr sz="1400" b="0">
                <a:solidFill>
                  <a:srgbClr val="16202E"/>
                </a:solidFill>
                <a:latin typeface="Segoe UI"/>
              </a:rPr>
              <a:t> is how the regions co-vary.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At ε = 0 it is a plain linear program on the forecast. The cone term is the only place covariance can act, which is exactly what Decision 2 prices.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298448"/>
            <a:ext cx="5349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2A52"/>
                </a:solidFill>
                <a:latin typeface="Segoe UI"/>
              </a:rPr>
              <a:t>Subject to (the feasible set):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783080"/>
            <a:ext cx="5349240" cy="4206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0">
                <a:solidFill>
                  <a:srgbClr val="16202E"/>
                </a:solidFill>
                <a:latin typeface="Segoe UI"/>
              </a:rPr>
              <a:t>Ceiling: 0 ≤ x ≤ capacity. A site cannot exceed its installed power.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0">
                <a:solidFill>
                  <a:srgbClr val="16202E"/>
                </a:solidFill>
                <a:latin typeface="Segoe UI"/>
              </a:rPr>
              <a:t>Work and flexible split: each region serves its daily work. A fixed fraction is inflexible (pinned shape); the rest is free to move.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0">
                <a:solidFill>
                  <a:srgbClr val="16202E"/>
                </a:solidFill>
                <a:latin typeface="Segoe UI"/>
              </a:rPr>
              <a:t>Ramp: hour-to-hour change ≤ 15 MW. Power cannot jump, so the greedy cheapest-hour schedule is infeasible.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0">
                <a:solidFill>
                  <a:srgbClr val="16202E"/>
                </a:solidFill>
                <a:latin typeface="Segoe UI"/>
              </a:rPr>
              <a:t>Deadline: at least 20% of flexible work done in the morning window. You cannot defer everything to the cheap hour.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0">
                <a:solidFill>
                  <a:srgbClr val="16202E"/>
                </a:solidFill>
                <a:latin typeface="Segoe UI"/>
              </a:rPr>
              <a:t>Thermal (PUE): hotter hours cost more cooling, so less usable compute. This is why weather enters the model.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950" b="1">
                <a:solidFill>
                  <a:srgbClr val="E69F00"/>
                </a:solidFill>
                <a:latin typeface="Segoe UI"/>
              </a:rPr>
              <a:t>●  </a:t>
            </a:r>
            <a:r>
              <a:rPr sz="1350" b="1">
                <a:solidFill>
                  <a:srgbClr val="0E2A52"/>
                </a:solidFill>
                <a:latin typeface="Segoe UI"/>
              </a:rPr>
              <a:t>Transfer (Part 3): work can move between regions up to a budget Φ, and flows conserve work. Φ = 0 is the honest baseline.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5943600"/>
            <a:ext cx="5349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B6675"/>
                </a:solidFill>
                <a:latin typeface="Segoe UI"/>
              </a:rPr>
              <a:t>Calibrated on training data to bind loosely, so the schedule still moves 25 to 30% and covariance gets its best shot.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60704"/>
            <a:ext cx="12191695" cy="502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66928" y="118872"/>
            <a:ext cx="1091153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E69F00"/>
                </a:solidFill>
                <a:latin typeface="Segoe UI"/>
              </a:rPr>
              <a:t>BACKUP ·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"/>
            <a:ext cx="10911535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The null is a sharpened mandate, not a dead end</a:t>
            </a:r>
          </a:p>
        </p:txBody>
      </p:sp>
      <p:sp>
        <p:nvSpPr>
          <p:cNvPr id="6" name="Oval 5"/>
          <p:cNvSpPr/>
          <p:nvPr/>
        </p:nvSpPr>
        <p:spPr>
          <a:xfrm>
            <a:off x="11332159" y="301752"/>
            <a:ext cx="457200" cy="457200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332159" y="30175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0E2A52"/>
                </a:solidFill>
                <a:latin typeface="Georgia"/>
              </a:rPr>
              <a:t>25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6473952"/>
            <a:ext cx="11057839" cy="10972"/>
          </a:xfrm>
          <a:prstGeom prst="rect">
            <a:avLst/>
          </a:prstGeom>
          <a:solidFill>
            <a:srgbClr val="D9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6492240"/>
            <a:ext cx="73152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The Price of Sophistication · carbon-aware data-center scheduling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95967" y="6492240"/>
            <a:ext cx="182880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5B6675"/>
                </a:solidFill>
                <a:latin typeface="Segoe UI"/>
              </a:rPr>
              <a:t>M. Ortiz Togashi · 25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463040"/>
            <a:ext cx="5391759" cy="1993392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463040"/>
            <a:ext cx="118872" cy="19933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59536" y="1609344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1. Settle the crossover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" y="2066544"/>
            <a:ext cx="4888839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6202E"/>
                </a:solidFill>
                <a:latin typeface="Segoe UI"/>
              </a:rPr>
              <a:t>Build a calibrated outage model from grid-operator data, not the carbon tail, with a pre-committed evaluation and affine recourse. Does real emergency risk ever reach the 3x the robust plan needs?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3007" y="1463040"/>
            <a:ext cx="5391759" cy="1993392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33007" y="1463040"/>
            <a:ext cx="118872" cy="1993392"/>
          </a:xfrm>
          <a:prstGeom prst="rect">
            <a:avLst/>
          </a:prstGeom>
          <a:solidFill>
            <a:srgbClr val="1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25615" y="1609344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2. Make the null model-free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5615" y="2066544"/>
            <a:ext cx="4888839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6202E"/>
                </a:solidFill>
                <a:latin typeface="Segoe UI"/>
              </a:rPr>
              <a:t>A copula-ambiguity Wasserstein DRO (Fan-Ji-Lejeune) on a fitted vine, robustifying the dependence structure itself. Mean-dominance predicts it still will not pay, but this closes the last objection.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639312"/>
            <a:ext cx="5391759" cy="1993392"/>
          </a:xfrm>
          <a:prstGeom prst="rect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6928" y="3639312"/>
            <a:ext cx="118872" cy="1993392"/>
          </a:xfrm>
          <a:prstGeom prst="rect">
            <a:avLst/>
          </a:prstGeom>
          <a:solidFill>
            <a:srgbClr val="4A7C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9536" y="3785615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E2A52"/>
                </a:solidFill>
                <a:latin typeface="Georgia"/>
              </a:rPr>
              <a:t>3. Transfer, online and multistage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" y="4242816"/>
            <a:ext cx="4888839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16202E"/>
                </a:solidFill>
                <a:latin typeface="Segoe UI"/>
              </a:rPr>
              <a:t>Forecasts arrive in sequence, with demand and transmission themselves uncertain, and the ambiguity ball centred on a learned forecast. This is where the online loss on the Diversified grid could flip.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33007" y="3639312"/>
            <a:ext cx="5391759" cy="1993392"/>
          </a:xfrm>
          <a:prstGeom prst="rect">
            <a:avLst/>
          </a:prstGeom>
          <a:solidFill>
            <a:srgbClr val="0E2A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33007" y="3639312"/>
            <a:ext cx="118872" cy="1993392"/>
          </a:xfrm>
          <a:prstGeom prst="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25615" y="3785615"/>
            <a:ext cx="488883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Georgia"/>
              </a:rPr>
              <a:t>4. A general screening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25615" y="4242816"/>
            <a:ext cx="4888839" cy="1261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CDD6E4"/>
                </a:solidFill>
                <a:latin typeface="Segoe UI"/>
              </a:rPr>
              <a:t>Turn mean-dominance into a condition for when cross-region dependence can ever help a robust allocation. Carbon-aware scheduling is one instance of a wider class.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70448"/>
            <a:ext cx="11057839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5B6675"/>
                </a:solidFill>
                <a:latin typeface="Segoe UI"/>
              </a:rPr>
              <a:t>Plus broader external validity: a longer multi-year rolling evaluation, grids with different generation mixes (hydro-thermal with seasonal storage), and hard-deadline objectives. Every direction is named in the thesis Future Work section.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7183</Words>
  <Application>Microsoft Office PowerPoint</Application>
  <PresentationFormat>Widescreen</PresentationFormat>
  <Paragraphs>412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Georgia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Marco Ortiz Togashi</cp:lastModifiedBy>
  <cp:revision>1</cp:revision>
  <dcterms:created xsi:type="dcterms:W3CDTF">2013-01-27T09:14:16Z</dcterms:created>
  <dcterms:modified xsi:type="dcterms:W3CDTF">2026-07-07T10:39:01Z</dcterms:modified>
  <cp:category/>
</cp:coreProperties>
</file>