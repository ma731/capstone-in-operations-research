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TITLE</a:t>
            </a:r>
          </a:p>
          <a:p>
            <a:r>
              <a:t>Good morning, thank you for being here.</a:t>
            </a:r>
          </a:p>
          <a:p>
            <a:r>
              <a:t>One plain question: in carbon-aware data-center scheduling, when is a fancier model actually worth it? A fancier model always feels safer; this asks whether it earns the bill.</a:t>
            </a:r>
          </a:p>
          <a:p>
            <a:r>
              <a:t>The field already moves work to cleaner hours and places, and it works. But every paper stacks another layer and assumes it pays. Nobody measured it.</a:t>
            </a:r>
          </a:p>
          <a:p>
            <a:r>
              <a:t>We built one real scheduler and priced three upgrades, one at a time. Result: ONE pays, TWO do not.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THE CASE IN ONE SLIDE</a:t>
            </a:r>
          </a:p>
          <a:p>
            <a:r>
              <a:t>Meet the operator: flexible compute across regions, three decisions each evening. Stand-in for the real study: 3 grids, 17 zones.</a:t>
            </a:r>
          </a:p>
          <a:p>
            <a:r>
              <a:t>D1 move work between regions? YES. Worst-day emissions fall 4 to 10%, ~$1.7M/yr on one fleet (gross, no statistics). The lever.</a:t>
            </a:r>
          </a:p>
          <a:p>
            <a:r>
              <a:t>D2 model how regions move together? NO. Under 0.4%, below the noise, ~$37k, not reliably positive.</a:t>
            </a:r>
          </a:p>
          <a:p>
            <a:r>
              <a:t>D3 buy insurance for bad days? Only if carbon can TRIPLE. Real grids peak ~1.4x.</a:t>
            </a:r>
          </a:p>
          <a:p>
            <a:r>
              <a:t>Underneath: a rule for when a dependence model can pay, and a fair way to price any layer.</a:t>
            </a:r>
          </a:p>
          <a:p>
            <a:r>
              <a:t>Hold onto: ONE LEVER, TWO SKIPS.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MEET THE OPERATOR</a:t>
            </a:r>
          </a:p>
          <a:p>
            <a:r>
              <a:t>You run data centers across US and Canada with a carbon promise. Every evening you pick where tomorrow's flexible work runs.</a:t>
            </a:r>
          </a:p>
          <a:p>
            <a:r>
              <a:t>Two facts: the WORK CAN WAIT (a training/batch job can start later or run cleaner, nobody notices). The GRID WILL NOT WAIT (cleanliness swings by hour and place). Same hour looks completely different across regions on this map.</a:t>
            </a:r>
          </a:p>
          <a:p>
            <a:r>
              <a:t>Google and Microsoft already do this at production scale.</a:t>
            </a:r>
          </a:p>
          <a:p>
            <a:r>
              <a:t>So the question is not WHETHER to shift work. It is HOW FANCY the model needs to be.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 GAP</a:t>
            </a:r>
          </a:p>
          <a:p>
            <a:r>
              <a:t>Why still open? Three reasons.</a:t>
            </a:r>
          </a:p>
          <a:p>
            <a:r>
              <a:t>1. Savings never separated: papers change many things at once, report one big number.</a:t>
            </a:r>
          </a:p>
          <a:p>
            <a:r>
              <a:t>2. No fair baseline: richer models compared under different rules, so model and setup get tangled.</a:t>
            </a:r>
          </a:p>
          <a:p>
            <a:r>
              <a:t>3. Closest work (Hall et al 2024) does robust scheduling for a SINGLE region. Whether the links ACROSS regions pay was open.</a:t>
            </a:r>
          </a:p>
          <a:p>
            <a:r>
              <a:t>Our fix is discipline, not a new algorithm: one scheduler, same rules every version, add one layer at a time, price each on data it never saw.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THE MACHINE AND THE RULES  (constraints live here)</a:t>
            </a:r>
          </a:p>
          <a:p>
            <a:r>
              <a:t>Machine: every evening forecast carbon per region, plan where/when work runs, execute, score. Repeat over a full held-out year (2025).</a:t>
            </a:r>
          </a:p>
          <a:p>
            <a:r>
              <a:t>RULES OF THE GAME (slow down): capacity ceiling; power RAMPS not jumps (15 MW/h); a DEADLINE stops dumping all work in the single cheapest hour; a THERMAL limit (hot hours cost cooling, less compute) = where weather enters.</a:t>
            </a:r>
          </a:p>
          <a:p>
            <a:r>
              <a:t>Two fairness rules: every version runs under IDENTICAL constraints (only the brain changes); baseline is like-for-like, same scheduler with transfer OFF (Phi=0).</a:t>
            </a:r>
          </a:p>
          <a:p>
            <a:r>
              <a:t>In our favor: constraints calibrated to bind LOOSELY, schedule still moves 25-30%, so fancier models get their best shot.</a:t>
            </a:r>
          </a:p>
          <a:p>
            <a:r>
              <a:t>Ruler: CVaR = average of the worst 5% of days. Matches exact optimum on small problems. Full model on last backup.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 DATA</a:t>
            </a:r>
          </a:p>
          <a:p>
            <a:r>
              <a:t>Real hourly carbon (Electricity Maps) 2021-2025, 17 zones US/Canada. Trained to 2024, tested ONCE on 2025.</a:t>
            </a:r>
          </a:p>
          <a:p>
            <a:r>
              <a:t>Three grids chosen to work AGAINST our conclusion: US West (regions move together strongly, up to 0.78); Eastern belt (middle); built portfolio of solar/wind/hydro (barely linked, the BEST case for co-movement). If it can pay anywhere, it pays there.</a:t>
            </a:r>
          </a:p>
          <a:p>
            <a:r>
              <a:t>Iberia/France checked early, set aside: robust machinery doesn't engage, a zero there proves nothing. We keep only tests that could have failed.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DECISION 1 - MOVE THE WORK?  YES.</a:t>
            </a:r>
          </a:p>
          <a:p>
            <a:r>
              <a:t>Ran the test year twice, transfer on vs off, measured the gap. Worst-day emissions fall: Western 4.0%, Eastern 9.9%, Diversified 9.0%. Eastern fleet ~ $1.7M/yr.</a:t>
            </a:r>
          </a:p>
          <a:p>
            <a:r>
              <a:t>(PAUSE)</a:t>
            </a:r>
          </a:p>
          <a:p>
            <a:r>
              <a:t>Two points: savings FLATTEN near a 20% transfer budget (a modest channel gets nearly all the value). And it needs NO statistics, just a forecast and a channel.</a:t>
            </a:r>
          </a:p>
          <a:p>
            <a:r>
              <a:t>Scope: the dollar figure is a GROSS ceiling, before the cost of moving work. But this is the lever. Everything else is measured against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ONE JUMP, THEN FLAT</a:t>
            </a:r>
          </a:p>
          <a:p>
            <a:r>
              <a:t>This one picture is the whole thesis. Value up, complexity right. Same rules, same test year.</a:t>
            </a:r>
          </a:p>
          <a:p>
            <a:r>
              <a:t>Exactly ONE jump, and it is transfer. After that flat: co-movement, robustness, copulas, almost no extra height.</a:t>
            </a:r>
          </a:p>
          <a:p>
            <a:r>
              <a:t>Rest of the talk answers two questions about this picture: why is the line flat, and when would it not be?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DECISION 2 - MODEL THE LINKS?  NO.</a:t>
            </a:r>
          </a:p>
          <a:p>
            <a:r>
              <a:t>Regions really do move together (you saw 0.78). Question is not whether links exist, but whether KNOWING them helps the scheduler.</a:t>
            </a:r>
          </a:p>
          <a:p>
            <a:r>
              <a:t>Test fixed in advance in version control BEFORE reading the test year: fit the schedule with real links, then with links destroyed (each region keeps its own daily pattern). If links matter, real-links must win.</a:t>
            </a:r>
          </a:p>
          <a:p>
            <a:r>
              <a:t>It does not. Across 144 pre-committed cells (4 grids x 9 regimes x 4 estimators), gap never leaves +/- 0.4%. Biggest 0.355%, sign flips.</a:t>
            </a:r>
          </a:p>
          <a:p>
            <a:r>
              <a:t>ACTIVE zero: machinery on and engaged, had every chance, found nothing. Skip this layer. Why? Best part next.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THE TWIST - WAVE AND RIPPLE  (positive control)</a:t>
            </a:r>
          </a:p>
          <a:p>
            <a:r>
              <a:t>[JUDGES: both Pablo and Nacho will hammer the null's credibility. Lead with +1.46%.]</a:t>
            </a:r>
          </a:p>
          <a:p>
            <a:r>
              <a:t>Carbon follows a BIG DAILY WAVE (sun + demand): large, shared, easy to predict. The links live in a SMALL RIPPLE on top. Schedule follows the wave; ripple too small to change its mind. On every grid, wave is 2 to 4x the ripple.</a:t>
            </a:r>
          </a:p>
          <a:p>
            <a:r>
              <a:t>But how do I know my test isn't just too weak?</a:t>
            </a:r>
          </a:p>
          <a:p>
            <a:r>
              <a:t>(STOP. Pause before and after the number.)</a:t>
            </a:r>
          </a:p>
          <a:p>
            <a:r>
              <a:t>We flattened the wave artificially and re-ran the IDENTICAL test. The same layer suddenly pays +1.46%. Far above the 0.4% bar.</a:t>
            </a:r>
          </a:p>
          <a:p>
            <a:r>
              <a:t>(PAUSE)</a:t>
            </a:r>
          </a:p>
          <a:p>
            <a:r>
              <a:t>So the instrument fires. That is why the zero is trustworthy. Signal is real, just too small and shaky to bank; it loses to the wave.</a:t>
            </a:r>
          </a:p>
          <a:p>
            <a:r>
              <a:t>Travels beyond this dataset: a dependence layer only pays when the RIPPLE RIVALS THE WAVE. Anyone can check their own grid in an afternoon.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DECISION 3 - BUY INSURANCE?  (the DRO math)</a:t>
            </a:r>
          </a:p>
          <a:p>
            <a:r>
              <a:t>[JUDGES: Nacho uses optimal transport himself - can go deep on the Wasserstein ball. Be ready.]</a:t>
            </a:r>
          </a:p>
          <a:p>
            <a:r>
              <a:t>Forecasts miss. Robust plan does not trust one forecast: draws a BALL of plausible tomorrows and plans against the worst inside. Like packing for weather a bit worse than predicted.</a:t>
            </a:r>
          </a:p>
          <a:p>
            <a:r>
              <a:t>Read the equation: minimize TWO terms. First (forecast carbon x schedule) = the carbon bill, carries the saving. Second = caution surcharge: epsilon (one dial for how much you distrust the forecast) x how exposed the plan is to shared swings.</a:t>
            </a:r>
          </a:p>
          <a:p>
            <a:r>
              <a:t>Epsilon = 0 -&gt; plain forecast-only plan. Turn it up -&gt; hedges. Convex, free solver in seconds.</a:t>
            </a:r>
          </a:p>
          <a:p>
            <a:r>
              <a:t>Real question: how bad must the bad day get before that surcharge pays for itself?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THE CROSSOVER</a:t>
            </a:r>
          </a:p>
          <a:p>
            <a:r>
              <a:t>Injected emergencies into the test year, turned severity up step by step. Robust plan starts to win once carbon spikes to ~3x normal. That is the crossover.</a:t>
            </a:r>
          </a:p>
          <a:p>
            <a:r>
              <a:t>Reality check (17 zones, 5 years): median worst spike ~1.43x. Even Winter Storm Uri only 1.28x. Portfolio worst days 1.3 to 1.9. Nothing near 3.</a:t>
            </a:r>
          </a:p>
          <a:p>
            <a:r>
              <a:t>Caveat up front: holds for single-region emergencies. For storms hitting every region at once, nowhere clean to move anyway (that tests the lever, not robustness).</a:t>
            </a:r>
          </a:p>
          <a:p>
            <a:r>
              <a:t>So robustness is an option you PRICE, not a free win. On observed grids it does not activate.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 PLAYBOOK</a:t>
            </a:r>
          </a:p>
          <a:p>
            <a:r>
              <a:t>A rule the operator uses tomorrow.</a:t>
            </a:r>
          </a:p>
          <a:p>
            <a:r>
              <a:t>Layer 1 ALWAYS: schedule per region, day ahead. Riding the wave is free.</a:t>
            </a:r>
          </a:p>
          <a:p>
            <a:r>
              <a:t>Layer 2 THE LEVER: add transfer. 4 to 10% off worst days, modest channel gets nearly all.</a:t>
            </a:r>
          </a:p>
          <a:p>
            <a:r>
              <a:t>Layer 3 SKIP: co-movement models. Under 0.4%, below noise, while the wave dominates.</a:t>
            </a:r>
          </a:p>
          <a:p>
            <a:r>
              <a:t>Layer 4 CONDITIONAL: buy robustness only if you face emergencies past a tripling. Real grids have not come close.</a:t>
            </a:r>
          </a:p>
          <a:p>
            <a:r>
              <a:t>Every line measured, not asserted.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WHY YOU CAN TRUST A ZERO</a:t>
            </a:r>
          </a:p>
          <a:p>
            <a:r>
              <a:t>[JUDGES: this + slide 10 is the crux for BOTH examiners. Nail power + positive control + equivalence.]</a:t>
            </a:r>
          </a:p>
          <a:p>
            <a:r>
              <a:t>LOCKED FIRST: pass/fail rule in version control before reading 2025. Equivalence test turns 'found nothing' into a positive statement: any effect above 0.4% is RULED OUT, holds down to a 0.31% bar.</a:t>
            </a:r>
          </a:p>
          <a:p>
            <a:r>
              <a:t>Corrected for multiple testing across all 144 cells, resampling that keeps nearby days together, re-ran on 2022/2023/2024. Same answer.</a:t>
            </a:r>
          </a:p>
          <a:p>
            <a:r>
              <a:t>POWER: at 80% power it would detect any real gap down to 0.015 to 0.11%, an order of magnitude below the bar. Evidence of absence, not absence of evidence.</a:t>
            </a:r>
          </a:p>
          <a:p>
            <a:r>
              <a:t>KEY: positive control. Flatten the wave, test fires at +1.46%. Real zero, not a blind instrument. Every number archived.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THE 202 TESTS</a:t>
            </a:r>
          </a:p>
          <a:p>
            <a:r>
              <a:t>Same philosophy in code. 202 automated tests, 6 groups.</a:t>
            </a:r>
          </a:p>
          <a:p>
            <a:r>
              <a:t>70 solve every scheduler on small problems with known answers (must match). 59 cover covariance/dependence tools. 25 enforce the shared rulebook (constraints). 16 check data pipelines (13 need licensed carbon files -&gt; public build runs 189).</a:t>
            </a:r>
          </a:p>
          <a:p>
            <a:r>
              <a:t>Proudest 11: the thesis's own MATH, run as tests every push; if a claim breaks, build goes red. 21 guard tests re-check headline numbers vs archived files.</a:t>
            </a:r>
          </a:p>
          <a:p>
            <a:r>
              <a:t>Why so many? The weak point of a zero is 'you didn't look hard enough.' The tests prove we looked.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CONTRIBUTION</a:t>
            </a:r>
          </a:p>
          <a:p>
            <a:r>
              <a:t>Two things, defended without inflation.</a:t>
            </a:r>
          </a:p>
          <a:p>
            <a:r>
              <a:t>1. A RULE for when the dependence layer can pay: only when the ripple rivals the wave. Decomposition + a bound you can check before touching data + a measurement with a working positive control. A rule about a CLASS of problems, not one number.</a:t>
            </a:r>
          </a:p>
          <a:p>
            <a:r>
              <a:t>2. A FAIR WAY to price a modelling layer: lock the rule first, keep everything identical, compare to like-for-like baseline + an economic bar. The field added this layer by default; we put a price on it.</a:t>
            </a:r>
          </a:p>
          <a:p>
            <a:r>
              <a:t>Plus: measured transfer saving, priced robustness rule, a pipeline anyone can re-run.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LIMITATIONS (a limitation you name yourself is a strength)</a:t>
            </a:r>
          </a:p>
          <a:p>
            <a:r>
              <a:t>One workload shape (splittable jobs, ramp limits); a very different cost structure could change the answer.</a:t>
            </a:r>
          </a:p>
          <a:p>
            <a:r>
              <a:t>One main test year; re-runs agree but independent evidence is a few yearly reads, not 362 days. Longer eval is the named next step.</a:t>
            </a:r>
          </a:p>
          <a:p>
            <a:r>
              <a:t>A pattern, not a law: we hand you the check, not a theorem.</a:t>
            </a:r>
          </a:p>
          <a:p>
            <a:r>
              <a:t>Crossover characterized, not observed: a grid that crosses it flips the robustness verdict, and we say exactly where the line 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CLOSE</a:t>
            </a:r>
          </a:p>
          <a:p>
            <a:r>
              <a:t>The rule in one line.</a:t>
            </a:r>
          </a:p>
          <a:p>
            <a:r>
              <a:t>Always schedule with the daily wave. Add the transfer channel (the lever, 4 to 10%). Skip co-movement models. Buy robustness only past a tripling, which real grids do not reach.</a:t>
            </a:r>
          </a:p>
          <a:p>
            <a:r>
              <a:t>One sentence: a fancier model only pays when the ripple rivals the wave, and carbon grids are not there. Fancier is not safer. It is a bill, and now you know when it is worth paying.</a:t>
            </a:r>
          </a:p>
          <a:p>
            <a:r>
              <a:t>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jump if: 'how did you destroy the links?' / 'isn't the null a weak test?']</a:t>
            </a:r>
          </a:p>
          <a:p>
            <a:r>
              <a:t>Falsification. Fit on real links; refit on a copy where each region keeps its OWN daily pattern but every cross-region link is shuffled out. Score both on worst days. Rule fixed in advance: if spatial structure matters, real-links must win.</a:t>
            </a:r>
          </a:p>
          <a:p>
            <a:r>
              <a:t>It does not. Joint (filled) and shuffled (outline) schedules sit on top of each other. The wave, which the shuffle preserves, is what drives the schedule.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jump if: tail dependence / copulas]</a:t>
            </a:r>
          </a:p>
          <a:p>
            <a:r>
              <a:t>Correlation sees only average, symmetric co-movement. A copula sees the whole shape, including whether regions hit extremes together. We measured tail dependence.</a:t>
            </a:r>
          </a:p>
          <a:p>
            <a:r>
              <a:t>1. Asymmetric the WRONG way: regions hit CLEAN extremes together far more than dirty ones (CISO/LDWP 0.48 clean vs 0.25 dirty). A symmetric model can't represent this, and the co-movement sits in the clean tail a risk-averse scheduler ignores.</a:t>
            </a:r>
          </a:p>
          <a:p>
            <a:r>
              <a:t>2. Re-ran under 4 couplings: independence, Gaussian, Clayton (lower-tail), comonotone (perfect). Comonotone is the CEILING over every copula: if even that buys nothing, no copula can. It bought under 0.2%, noise. That's why no elaborate vine copula was needed.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jump if: where do 144 cells / the numbers come from?]</a:t>
            </a:r>
          </a:p>
          <a:p>
            <a:r>
              <a:t>144 = 4 grid-runs x 9 regime cells x 4 covariance estimators, every combination pre-committed; the multiple-testing correction applies to this family.</a:t>
            </a:r>
          </a:p>
          <a:p>
            <a:r>
              <a:t>Biggest gap among 144: 0.355%, inside the band. Power to catch any real gap down to 0.015 to 0.11%.</a:t>
            </a:r>
          </a:p>
          <a:p>
            <a:r>
              <a:t>54 extra rows = the instrument check: flatten the wave, fires at +1.46%, by design.</a:t>
            </a:r>
          </a:p>
          <a:p>
            <a:r>
              <a:t>Claim is a conjunction, only as strong as the hardest case (Diversified), which still clears the bar at z=3.7.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jump if: is 0.4% arbitrary / tuned?]</a:t>
            </a:r>
          </a:p>
          <a:p>
            <a:r>
              <a:t>No, and it cuts one way. 0.4% is the smallest saving that covers building+running a covariance layer, and that layer can HURT (up to 0.233% on Diversified).</a:t>
            </a:r>
          </a:p>
          <a:p>
            <a:r>
              <a:t>Not tuned: conclusion holds for any bar down to 0.31%. Push it TIGHTER to 0.1% and only one cell flips (Diversified) to clearly negative, so a stricter bar makes 'skip' STRONGER.</a:t>
            </a:r>
          </a:p>
          <a:p>
            <a:r>
              <a:t>Money: covariance channel ~$37k/yr, not reliably positive; transfer lever ~$1.7M.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jump if: 'no grid hits 3x but this zone hits 5x']</a:t>
            </a:r>
          </a:p>
          <a:p>
            <a:r>
              <a:t>BPAT is a hydro zone with near-zero baseline carbon: a 5.12x jump on a tiny base is a small change in grams, barely moves the portfolio.</a:t>
            </a:r>
          </a:p>
          <a:p>
            <a:r>
              <a:t>What risk actually feels is the portfolio worst day: Western 1.34x, Eastern 1.29x, Diversified 1.89x, all under a tripling.</a:t>
            </a:r>
          </a:p>
          <a:p>
            <a:r>
              <a:t>Decisive check: draw emergencies from each region's own real worst days, robust plan still does not pay.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THE MATH SLIDE - jump if: 'walk me through your model / the constraints']</a:t>
            </a:r>
          </a:p>
          <a:p>
            <a:r>
              <a:t>[JUDGES: Nacho can go deep on the Wasserstein/transport geometry. Point at the equation, then the constraints.]</a:t>
            </a:r>
          </a:p>
          <a:p>
            <a:r>
              <a:t>OBJECTIVE, two parts. Pick schedule x (compute per region per hour). First part rho-bar . x = expected carbon bill (minimize alone -&gt; pile into cleanest forecast hours). Second part epsilon x ||L^T x|| = caution surcharge; L is the sqrt of covariance, so it measures exposure to shared forecast swings. Epsilon = the caution dial; 0 -&gt; plain LP, no statistics.</a:t>
            </a:r>
          </a:p>
          <a:p>
            <a:r>
              <a:t>Covariance enters in EXACTLY ONE place, that second term = the entirety of Decision 2. SOCP, convex, exact optimum in seconds.</a:t>
            </a:r>
          </a:p>
          <a:p>
            <a:r>
              <a:t>CONSTRAINTS: Ceiling (0 to capacity). Flexible split (fraction alpha inflexible, rest movable; alpha the master dial, swept 30/50/75%). Ramp (15 MW/h; kills the trivial dump-in-cleanest-hour solution). Deadline (&gt;=20% flexible in the morning). Thermal/PUE (weather enters here, tightest). Transfer (budget Phi, Phi=0 honest baseline).</a:t>
            </a:r>
          </a:p>
          <a:p>
            <a:r>
              <a:t>Removed on purpose: an aggregate power cap - it would have coupled regions artificially and faked the co-movement effect.</a:t>
            </a:r>
          </a:p>
          <a:p>
            <a:r>
              <a:t>Calibrated to bind LOOSELY, schedule still moves 25-30%: best case for covariance, and still nothing.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jump if: 'what still needs to be done / future work?' - near-certain]</a:t>
            </a:r>
          </a:p>
          <a:p>
            <a:r>
              <a:t>The null sharpened the agenda, did not close it. Four directions.</a:t>
            </a:r>
          </a:p>
          <a:p>
            <a:r>
              <a:t>1. Settle the crossover: a calibrated outage model from grid-operator data (not the carbon tail), pre-committed, affine recourse; does real emergency risk ever reach 3x?</a:t>
            </a:r>
          </a:p>
          <a:p>
            <a:r>
              <a:t>2. Make the null model-free: a copula-ambiguity Wasserstein DRO (Fan-Ji-Lejeune) on a fitted vine, robustifying the dependence structure itself. Mean-dominance predicts it still won't pay, but closes the last objection.</a:t>
            </a:r>
          </a:p>
          <a:p>
            <a:r>
              <a:t>3. Transfer online and multistage: sequential forecasts, uncertain demand/transmission, ball on a learned forecast. Where the Diversified online loss could flip.</a:t>
            </a:r>
          </a:p>
          <a:p>
            <a:r>
              <a:t>4. Generalize the rule into a condition for when cross-region dependence can ever help a robust allocation.</a:t>
            </a:r>
          </a:p>
          <a:p>
            <a:r>
              <a:t>Plus external validity (longer eval, other generation mixes, hard deadlines). One line: the value, if any, comes from an active spatial decision, not a fancier passive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52"/>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e_logo_white.png"/>
          <p:cNvPicPr>
            <a:picLocks noChangeAspect="1"/>
          </p:cNvPicPr>
          <p:nvPr/>
        </p:nvPicPr>
        <p:blipFill>
          <a:blip r:embed="rId2"/>
          <a:stretch>
            <a:fillRect/>
          </a:stretch>
        </p:blipFill>
        <p:spPr>
          <a:xfrm>
            <a:off x="868680" y="502920"/>
            <a:ext cx="1371600" cy="1177599"/>
          </a:xfrm>
          <a:prstGeom prst="rect">
            <a:avLst/>
          </a:prstGeom>
        </p:spPr>
      </p:pic>
      <p:sp>
        <p:nvSpPr>
          <p:cNvPr id="4" name="TextBox 3"/>
          <p:cNvSpPr txBox="1"/>
          <p:nvPr/>
        </p:nvSpPr>
        <p:spPr>
          <a:xfrm>
            <a:off x="868680" y="2121408"/>
            <a:ext cx="10698480" cy="1005840"/>
          </a:xfrm>
          <a:prstGeom prst="rect">
            <a:avLst/>
          </a:prstGeom>
          <a:noFill/>
        </p:spPr>
        <p:txBody>
          <a:bodyPr wrap="square" anchor="t" lIns="0" rIns="0" tIns="0" bIns="0">
            <a:spAutoFit/>
          </a:bodyPr>
          <a:lstStyle/>
          <a:p>
            <a:pPr algn="l">
              <a:lnSpc>
                <a:spcPct val="106000"/>
              </a:lnSpc>
              <a:spcBef>
                <a:spcPts val="0"/>
              </a:spcBef>
              <a:spcAft>
                <a:spcPts val="600"/>
              </a:spcAft>
            </a:pPr>
            <a:r>
              <a:rPr sz="4000" b="1">
                <a:solidFill>
                  <a:srgbClr val="FFFFFF"/>
                </a:solidFill>
                <a:latin typeface="Georgia"/>
              </a:rPr>
              <a:t>The Price of Sophistication</a:t>
            </a:r>
          </a:p>
        </p:txBody>
      </p:sp>
      <p:sp>
        <p:nvSpPr>
          <p:cNvPr id="5" name="TextBox 4"/>
          <p:cNvSpPr txBox="1"/>
          <p:nvPr/>
        </p:nvSpPr>
        <p:spPr>
          <a:xfrm>
            <a:off x="868680" y="2980944"/>
            <a:ext cx="10698480" cy="1188720"/>
          </a:xfrm>
          <a:prstGeom prst="rect">
            <a:avLst/>
          </a:prstGeom>
          <a:noFill/>
        </p:spPr>
        <p:txBody>
          <a:bodyPr wrap="square" anchor="t" lIns="0" rIns="0" tIns="0" bIns="0">
            <a:spAutoFit/>
          </a:bodyPr>
          <a:lstStyle/>
          <a:p>
            <a:pPr algn="l">
              <a:lnSpc>
                <a:spcPct val="106000"/>
              </a:lnSpc>
              <a:spcBef>
                <a:spcPts val="0"/>
              </a:spcBef>
              <a:spcAft>
                <a:spcPts val="300"/>
              </a:spcAft>
            </a:pPr>
            <a:r>
              <a:rPr sz="2100" b="0">
                <a:solidFill>
                  <a:srgbClr val="CDD6E4"/>
                </a:solidFill>
                <a:latin typeface="Georgia"/>
              </a:rPr>
              <a:t>When does a fancier model actually pay in carbon-aware</a:t>
            </a:r>
          </a:p>
          <a:p>
            <a:pPr algn="l">
              <a:lnSpc>
                <a:spcPct val="106000"/>
              </a:lnSpc>
              <a:spcBef>
                <a:spcPts val="0"/>
              </a:spcBef>
              <a:spcAft>
                <a:spcPts val="300"/>
              </a:spcAft>
            </a:pPr>
            <a:r>
              <a:rPr sz="2100" b="0">
                <a:solidFill>
                  <a:srgbClr val="CDD6E4"/>
                </a:solidFill>
                <a:latin typeface="Georgia"/>
              </a:rPr>
              <a:t>data-center scheduling?</a:t>
            </a:r>
          </a:p>
        </p:txBody>
      </p:sp>
      <p:sp>
        <p:nvSpPr>
          <p:cNvPr id="6" name="Rectangle 5"/>
          <p:cNvSpPr/>
          <p:nvPr/>
        </p:nvSpPr>
        <p:spPr>
          <a:xfrm>
            <a:off x="914400" y="4114800"/>
            <a:ext cx="2926080" cy="4572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334256"/>
            <a:ext cx="10607040" cy="822960"/>
          </a:xfrm>
          <a:prstGeom prst="rect">
            <a:avLst/>
          </a:prstGeom>
          <a:noFill/>
        </p:spPr>
        <p:txBody>
          <a:bodyPr wrap="square" anchor="t" lIns="0" rIns="0" tIns="0" bIns="0">
            <a:spAutoFit/>
          </a:bodyPr>
          <a:lstStyle/>
          <a:p>
            <a:pPr algn="l">
              <a:lnSpc>
                <a:spcPct val="115000"/>
              </a:lnSpc>
              <a:spcBef>
                <a:spcPts val="0"/>
              </a:spcBef>
              <a:spcAft>
                <a:spcPts val="600"/>
              </a:spcAft>
            </a:pPr>
            <a:r>
              <a:rPr sz="1800" b="1">
                <a:solidFill>
                  <a:srgbClr val="E69F00"/>
                </a:solidFill>
                <a:latin typeface="Segoe UI"/>
              </a:rPr>
              <a:t>We built a real scheduler, then put a price on three upgrades. One pays. Two do not.</a:t>
            </a:r>
          </a:p>
        </p:txBody>
      </p:sp>
      <p:sp>
        <p:nvSpPr>
          <p:cNvPr id="8" name="TextBox 7"/>
          <p:cNvSpPr txBox="1"/>
          <p:nvPr/>
        </p:nvSpPr>
        <p:spPr>
          <a:xfrm>
            <a:off x="868680" y="5541264"/>
            <a:ext cx="10058400" cy="1097280"/>
          </a:xfrm>
          <a:prstGeom prst="rect">
            <a:avLst/>
          </a:prstGeom>
          <a:noFill/>
        </p:spPr>
        <p:txBody>
          <a:bodyPr wrap="square" anchor="t" lIns="0" rIns="0" tIns="0" bIns="0">
            <a:spAutoFit/>
          </a:bodyPr>
          <a:lstStyle/>
          <a:p>
            <a:pPr algn="l">
              <a:lnSpc>
                <a:spcPct val="106000"/>
              </a:lnSpc>
              <a:spcBef>
                <a:spcPts val="0"/>
              </a:spcBef>
              <a:spcAft>
                <a:spcPts val="400"/>
              </a:spcAft>
            </a:pPr>
            <a:r>
              <a:rPr sz="1700" b="1">
                <a:solidFill>
                  <a:srgbClr val="FFFFFF"/>
                </a:solidFill>
                <a:latin typeface="Segoe UI"/>
              </a:rPr>
              <a:t>Marco Ortiz Togashi</a:t>
            </a:r>
            <a:r>
              <a:rPr sz="1450" b="0">
                <a:solidFill>
                  <a:srgbClr val="CDD6E4"/>
                </a:solidFill>
                <a:latin typeface="Segoe UI"/>
              </a:rPr>
              <a:t>    ·    IE University · MSc Business Analytics &amp; Data Science</a:t>
            </a:r>
          </a:p>
          <a:p>
            <a:pPr algn="l">
              <a:lnSpc>
                <a:spcPct val="106000"/>
              </a:lnSpc>
              <a:spcBef>
                <a:spcPts val="0"/>
              </a:spcBef>
              <a:spcAft>
                <a:spcPts val="400"/>
              </a:spcAft>
            </a:pPr>
            <a:r>
              <a:rPr sz="1450" b="0">
                <a:solidFill>
                  <a:srgbClr val="CDD6E4"/>
                </a:solidFill>
                <a:latin typeface="Segoe UI"/>
              </a:rPr>
              <a:t>Supervisor: Prof. Bissan Ghaddar    ·    Viva · 7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THE CASE IN ONE SLIDE</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One operator, three decisions</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2</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2</a:t>
            </a:r>
          </a:p>
        </p:txBody>
      </p:sp>
      <p:sp>
        <p:nvSpPr>
          <p:cNvPr id="11" name="Rectangle 10"/>
          <p:cNvSpPr/>
          <p:nvPr/>
        </p:nvSpPr>
        <p:spPr>
          <a:xfrm>
            <a:off x="566928" y="1417320"/>
            <a:ext cx="3533546" cy="25146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417320"/>
            <a:ext cx="118872" cy="2514600"/>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563624"/>
            <a:ext cx="3030626" cy="768096"/>
          </a:xfrm>
          <a:prstGeom prst="rect">
            <a:avLst/>
          </a:prstGeom>
          <a:noFill/>
        </p:spPr>
        <p:txBody>
          <a:bodyPr wrap="square" anchor="t" lIns="0" rIns="0" tIns="0" bIns="0">
            <a:spAutoFit/>
          </a:bodyPr>
          <a:lstStyle/>
          <a:p>
            <a:pPr algn="l">
              <a:lnSpc>
                <a:spcPct val="106000"/>
              </a:lnSpc>
              <a:spcBef>
                <a:spcPts val="0"/>
              </a:spcBef>
              <a:spcAft>
                <a:spcPts val="600"/>
              </a:spcAft>
            </a:pPr>
            <a:r>
              <a:rPr sz="1550" b="1">
                <a:solidFill>
                  <a:srgbClr val="0E2A52"/>
                </a:solidFill>
                <a:latin typeface="Georgia"/>
              </a:rPr>
              <a:t>Move work between regions?</a:t>
            </a:r>
          </a:p>
        </p:txBody>
      </p:sp>
      <p:sp>
        <p:nvSpPr>
          <p:cNvPr id="14" name="TextBox 13"/>
          <p:cNvSpPr txBox="1"/>
          <p:nvPr/>
        </p:nvSpPr>
        <p:spPr>
          <a:xfrm>
            <a:off x="859536" y="2331720"/>
            <a:ext cx="3030626" cy="1472184"/>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Yes. Worst-day emissions fall 4.0 to 9.9%, roughly $1.7M a year (gross). No statistics needed. This is the lever.</a:t>
            </a:r>
          </a:p>
        </p:txBody>
      </p:sp>
      <p:sp>
        <p:nvSpPr>
          <p:cNvPr id="15" name="Rectangle 14"/>
          <p:cNvSpPr/>
          <p:nvPr/>
        </p:nvSpPr>
        <p:spPr>
          <a:xfrm>
            <a:off x="4329074" y="1417320"/>
            <a:ext cx="3533546" cy="25146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29074" y="1417320"/>
            <a:ext cx="118872" cy="2514600"/>
          </a:xfrm>
          <a:prstGeom prst="rect">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1682" y="1563624"/>
            <a:ext cx="3030626" cy="768096"/>
          </a:xfrm>
          <a:prstGeom prst="rect">
            <a:avLst/>
          </a:prstGeom>
          <a:noFill/>
        </p:spPr>
        <p:txBody>
          <a:bodyPr wrap="square" anchor="t" lIns="0" rIns="0" tIns="0" bIns="0">
            <a:spAutoFit/>
          </a:bodyPr>
          <a:lstStyle/>
          <a:p>
            <a:pPr algn="l">
              <a:lnSpc>
                <a:spcPct val="106000"/>
              </a:lnSpc>
              <a:spcBef>
                <a:spcPts val="0"/>
              </a:spcBef>
              <a:spcAft>
                <a:spcPts val="600"/>
              </a:spcAft>
            </a:pPr>
            <a:r>
              <a:rPr sz="1550" b="1">
                <a:solidFill>
                  <a:srgbClr val="0E2A52"/>
                </a:solidFill>
                <a:latin typeface="Georgia"/>
              </a:rPr>
              <a:t>Model how regions co-move?</a:t>
            </a:r>
          </a:p>
        </p:txBody>
      </p:sp>
      <p:sp>
        <p:nvSpPr>
          <p:cNvPr id="18" name="TextBox 17"/>
          <p:cNvSpPr txBox="1"/>
          <p:nvPr/>
        </p:nvSpPr>
        <p:spPr>
          <a:xfrm>
            <a:off x="4621682" y="2331720"/>
            <a:ext cx="3030626" cy="1472184"/>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No. It adds under 0.4%, worth about $37k gross and not reliable. Skip it, and we show why.</a:t>
            </a:r>
          </a:p>
        </p:txBody>
      </p:sp>
      <p:sp>
        <p:nvSpPr>
          <p:cNvPr id="19" name="Rectangle 18"/>
          <p:cNvSpPr/>
          <p:nvPr/>
        </p:nvSpPr>
        <p:spPr>
          <a:xfrm>
            <a:off x="8091220" y="1417320"/>
            <a:ext cx="3533546" cy="25146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1220" y="1417320"/>
            <a:ext cx="118872" cy="25146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3828" y="1563624"/>
            <a:ext cx="3030626" cy="768096"/>
          </a:xfrm>
          <a:prstGeom prst="rect">
            <a:avLst/>
          </a:prstGeom>
          <a:noFill/>
        </p:spPr>
        <p:txBody>
          <a:bodyPr wrap="square" anchor="t" lIns="0" rIns="0" tIns="0" bIns="0">
            <a:spAutoFit/>
          </a:bodyPr>
          <a:lstStyle/>
          <a:p>
            <a:pPr algn="l">
              <a:lnSpc>
                <a:spcPct val="106000"/>
              </a:lnSpc>
              <a:spcBef>
                <a:spcPts val="0"/>
              </a:spcBef>
              <a:spcAft>
                <a:spcPts val="600"/>
              </a:spcAft>
            </a:pPr>
            <a:r>
              <a:rPr sz="1550" b="1">
                <a:solidFill>
                  <a:srgbClr val="0E2A52"/>
                </a:solidFill>
                <a:latin typeface="Georgia"/>
              </a:rPr>
              <a:t>Plan for worse than forecast?</a:t>
            </a:r>
          </a:p>
        </p:txBody>
      </p:sp>
      <p:sp>
        <p:nvSpPr>
          <p:cNvPr id="22" name="TextBox 21"/>
          <p:cNvSpPr txBox="1"/>
          <p:nvPr/>
        </p:nvSpPr>
        <p:spPr>
          <a:xfrm>
            <a:off x="8383828" y="2331720"/>
            <a:ext cx="3030626" cy="1472184"/>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Only if carbon can spike to triple. Real grids peak near 1.4 times, far below that, so on observed data, skip it.</a:t>
            </a:r>
          </a:p>
        </p:txBody>
      </p:sp>
      <p:sp>
        <p:nvSpPr>
          <p:cNvPr id="23" name="Rectangle 22"/>
          <p:cNvSpPr/>
          <p:nvPr/>
        </p:nvSpPr>
        <p:spPr>
          <a:xfrm>
            <a:off x="566928" y="4224528"/>
            <a:ext cx="11057839" cy="9144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4528"/>
            <a:ext cx="118872" cy="9144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352544"/>
            <a:ext cx="10500055" cy="731520"/>
          </a:xfrm>
          <a:prstGeom prst="rect">
            <a:avLst/>
          </a:prstGeom>
          <a:noFill/>
        </p:spPr>
        <p:txBody>
          <a:bodyPr wrap="square" anchor="t" lIns="0" rIns="0" tIns="0" bIns="0">
            <a:spAutoFit/>
          </a:bodyPr>
          <a:lstStyle/>
          <a:p>
            <a:pPr algn="l">
              <a:lnSpc>
                <a:spcPct val="115000"/>
              </a:lnSpc>
              <a:spcBef>
                <a:spcPts val="0"/>
              </a:spcBef>
              <a:spcAft>
                <a:spcPts val="600"/>
              </a:spcAft>
            </a:pPr>
            <a:r>
              <a:rPr sz="1650" b="1">
                <a:solidFill>
                  <a:srgbClr val="0E2A52"/>
                </a:solidFill>
                <a:latin typeface="Georgia"/>
              </a:rPr>
              <a:t>The contribution: </a:t>
            </a:r>
            <a:r>
              <a:rPr sz="1650" b="0">
                <a:solidFill>
                  <a:srgbClr val="16202E"/>
                </a:solidFill>
                <a:latin typeface="Georgia"/>
              </a:rPr>
              <a:t>a rule that tells you when a dependence model can ever pay, and a fair way to put a price on any modelling layer.</a:t>
            </a:r>
          </a:p>
        </p:txBody>
      </p:sp>
      <p:sp>
        <p:nvSpPr>
          <p:cNvPr id="26" name="TextBox 25"/>
          <p:cNvSpPr txBox="1"/>
          <p:nvPr/>
        </p:nvSpPr>
        <p:spPr>
          <a:xfrm>
            <a:off x="566928" y="5394960"/>
            <a:ext cx="11057839" cy="640080"/>
          </a:xfrm>
          <a:prstGeom prst="rect">
            <a:avLst/>
          </a:prstGeom>
          <a:noFill/>
        </p:spPr>
        <p:txBody>
          <a:bodyPr wrap="square" anchor="t" lIns="0" rIns="0" tIns="0" bIns="0">
            <a:spAutoFit/>
          </a:bodyPr>
          <a:lstStyle/>
          <a:p>
            <a:pPr algn="l">
              <a:lnSpc>
                <a:spcPct val="120000"/>
              </a:lnSpc>
              <a:spcBef>
                <a:spcPts val="0"/>
              </a:spcBef>
              <a:spcAft>
                <a:spcPts val="600"/>
              </a:spcAft>
            </a:pPr>
            <a:r>
              <a:rPr sz="1400" b="0">
                <a:solidFill>
                  <a:srgbClr val="5B6675"/>
                </a:solidFill>
                <a:latin typeface="Segoe UI"/>
              </a:rPr>
              <a:t>The operator is a stand-in for the real study: three grids, 17 US and Canada zones. We priced all three upgrades on a year of real data it never saw, under a pre-committed test. 202 tests, every number archived.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THE SETUP · MEET THE OPERATOR</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Electricity is not equally clean all day, everywhere</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3</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3</a:t>
            </a:r>
          </a:p>
        </p:txBody>
      </p:sp>
      <p:sp>
        <p:nvSpPr>
          <p:cNvPr id="11" name="TextBox 10"/>
          <p:cNvSpPr txBox="1"/>
          <p:nvPr/>
        </p:nvSpPr>
        <p:spPr>
          <a:xfrm>
            <a:off x="566928" y="1444752"/>
            <a:ext cx="5394960" cy="3749039"/>
          </a:xfrm>
          <a:prstGeom prst="rect">
            <a:avLst/>
          </a:prstGeom>
          <a:noFill/>
        </p:spPr>
        <p:txBody>
          <a:bodyPr wrap="square" lIns="0" rIns="0" tIns="0" bIns="0">
            <a:spAutoFit/>
          </a:bodyPr>
          <a:lstStyle/>
          <a:p>
            <a:pPr>
              <a:lnSpc>
                <a:spcPct val="112000"/>
              </a:lnSpc>
              <a:spcAft>
                <a:spcPts val="1400"/>
              </a:spcAft>
            </a:pPr>
            <a:r>
              <a:rPr sz="1950" b="1">
                <a:solidFill>
                  <a:srgbClr val="0E2A52"/>
                </a:solidFill>
                <a:latin typeface="Segoe UI"/>
              </a:rPr>
              <a:t>You run compute across regions</a:t>
            </a:r>
          </a:p>
          <a:p>
            <a:pPr>
              <a:lnSpc>
                <a:spcPct val="112000"/>
              </a:lnSpc>
              <a:spcBef>
                <a:spcPts val="0"/>
              </a:spcBef>
              <a:spcAft>
                <a:spcPts val="1200"/>
              </a:spcAft>
            </a:pPr>
            <a:r>
              <a:rPr sz="1250" b="1">
                <a:solidFill>
                  <a:srgbClr val="E69F00"/>
                </a:solidFill>
                <a:latin typeface="Segoe UI"/>
              </a:rPr>
              <a:t>●  </a:t>
            </a:r>
            <a:r>
              <a:rPr sz="1650" b="0">
                <a:solidFill>
                  <a:srgbClr val="16202E"/>
                </a:solidFill>
                <a:latin typeface="Segoe UI"/>
              </a:rPr>
              <a:t>You run a fleet of data centers across the US and Canada, with a carbon promise to keep. Every evening you choose where tomorrow's flexible work runs.</a:t>
            </a:r>
          </a:p>
          <a:p>
            <a:pPr>
              <a:lnSpc>
                <a:spcPct val="112000"/>
              </a:lnSpc>
              <a:spcBef>
                <a:spcPts val="0"/>
              </a:spcBef>
              <a:spcAft>
                <a:spcPts val="1200"/>
              </a:spcAft>
            </a:pPr>
            <a:r>
              <a:rPr sz="1250" b="1">
                <a:solidFill>
                  <a:srgbClr val="E69F00"/>
                </a:solidFill>
                <a:latin typeface="Segoe UI"/>
              </a:rPr>
              <a:t>●  </a:t>
            </a:r>
            <a:r>
              <a:rPr sz="1650" b="0">
                <a:solidFill>
                  <a:srgbClr val="16202E"/>
                </a:solidFill>
                <a:latin typeface="Segoe UI"/>
              </a:rPr>
              <a:t>The work can wait. Training and batch jobs can start a few hours later, or run in a cleaner region, and nobody notices.</a:t>
            </a:r>
          </a:p>
          <a:p>
            <a:pPr>
              <a:lnSpc>
                <a:spcPct val="112000"/>
              </a:lnSpc>
              <a:spcBef>
                <a:spcPts val="0"/>
              </a:spcBef>
              <a:spcAft>
                <a:spcPts val="1200"/>
              </a:spcAft>
            </a:pPr>
            <a:r>
              <a:rPr sz="1250" b="1">
                <a:solidFill>
                  <a:srgbClr val="E69F00"/>
                </a:solidFill>
                <a:latin typeface="Segoe UI"/>
              </a:rPr>
              <a:t>●  </a:t>
            </a:r>
            <a:r>
              <a:rPr sz="1650" b="0">
                <a:solidFill>
                  <a:srgbClr val="16202E"/>
                </a:solidFill>
                <a:latin typeface="Segoe UI"/>
              </a:rPr>
              <a:t>The grid will not wait. Clean power comes and goes by the hour and by region. So you send the work to the cleanest hour and place.</a:t>
            </a:r>
          </a:p>
        </p:txBody>
      </p:sp>
      <p:sp>
        <p:nvSpPr>
          <p:cNvPr id="12" name="Rectangle 11"/>
          <p:cNvSpPr/>
          <p:nvPr/>
        </p:nvSpPr>
        <p:spPr>
          <a:xfrm>
            <a:off x="566928" y="5248656"/>
            <a:ext cx="5394960" cy="9144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5248656"/>
            <a:ext cx="118872" cy="9144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5413248"/>
            <a:ext cx="4937760" cy="658368"/>
          </a:xfrm>
          <a:prstGeom prst="rect">
            <a:avLst/>
          </a:prstGeom>
          <a:noFill/>
        </p:spPr>
        <p:txBody>
          <a:bodyPr wrap="square" anchor="t" lIns="0" rIns="0" tIns="0" bIns="0">
            <a:spAutoFit/>
          </a:bodyPr>
          <a:lstStyle/>
          <a:p>
            <a:pPr algn="l">
              <a:lnSpc>
                <a:spcPct val="114000"/>
              </a:lnSpc>
              <a:spcBef>
                <a:spcPts val="0"/>
              </a:spcBef>
              <a:spcAft>
                <a:spcPts val="600"/>
              </a:spcAft>
            </a:pPr>
            <a:r>
              <a:rPr sz="1700" b="1">
                <a:solidFill>
                  <a:srgbClr val="0E2A52"/>
                </a:solidFill>
                <a:latin typeface="Georgia"/>
              </a:rPr>
              <a:t>The question is not whether to do this. It is how fancy the model needs to be.</a:t>
            </a:r>
          </a:p>
        </p:txBody>
      </p:sp>
      <p:pic>
        <p:nvPicPr>
          <p:cNvPr id="15" name="Picture 14" descr="correlation_map.png"/>
          <p:cNvPicPr>
            <a:picLocks noChangeAspect="1"/>
          </p:cNvPicPr>
          <p:nvPr/>
        </p:nvPicPr>
        <p:blipFill>
          <a:blip r:embed="rId2"/>
          <a:stretch>
            <a:fillRect/>
          </a:stretch>
        </p:blipFill>
        <p:spPr>
          <a:xfrm>
            <a:off x="6355080" y="1481328"/>
            <a:ext cx="5303520" cy="3310766"/>
          </a:xfrm>
          <a:prstGeom prst="rect">
            <a:avLst/>
          </a:prstGeom>
        </p:spPr>
      </p:pic>
      <p:sp>
        <p:nvSpPr>
          <p:cNvPr id="16" name="TextBox 15"/>
          <p:cNvSpPr txBox="1"/>
          <p:nvPr/>
        </p:nvSpPr>
        <p:spPr>
          <a:xfrm>
            <a:off x="6355080" y="5943600"/>
            <a:ext cx="5303520" cy="365760"/>
          </a:xfrm>
          <a:prstGeom prst="rect">
            <a:avLst/>
          </a:prstGeom>
          <a:noFill/>
        </p:spPr>
        <p:txBody>
          <a:bodyPr wrap="square" anchor="t" lIns="0" rIns="0" tIns="0" bIns="0">
            <a:spAutoFit/>
          </a:bodyPr>
          <a:lstStyle/>
          <a:p>
            <a:pPr algn="ctr">
              <a:lnSpc>
                <a:spcPct val="106000"/>
              </a:lnSpc>
              <a:spcBef>
                <a:spcPts val="0"/>
              </a:spcBef>
              <a:spcAft>
                <a:spcPts val="600"/>
              </a:spcAft>
            </a:pPr>
            <a:r>
              <a:rPr sz="1150" b="0">
                <a:solidFill>
                  <a:srgbClr val="5B6675"/>
                </a:solidFill>
                <a:latin typeface="Segoe UI"/>
              </a:rPr>
              <a:t>Carbon intensity differs across regions, and it keeps moving.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THE CATCH</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Nobody had priced the upgrades one at a time</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4</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4</a:t>
            </a:r>
          </a:p>
        </p:txBody>
      </p:sp>
      <p:sp>
        <p:nvSpPr>
          <p:cNvPr id="11" name="Rectangle 10"/>
          <p:cNvSpPr/>
          <p:nvPr/>
        </p:nvSpPr>
        <p:spPr>
          <a:xfrm>
            <a:off x="566928" y="1481328"/>
            <a:ext cx="3533546" cy="22860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481328"/>
            <a:ext cx="118872" cy="22860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627632"/>
            <a:ext cx="3030626" cy="822960"/>
          </a:xfrm>
          <a:prstGeom prst="rect">
            <a:avLst/>
          </a:prstGeom>
          <a:noFill/>
        </p:spPr>
        <p:txBody>
          <a:bodyPr wrap="square" anchor="t" lIns="0" rIns="0" tIns="0" bIns="0">
            <a:spAutoFit/>
          </a:bodyPr>
          <a:lstStyle/>
          <a:p>
            <a:pPr algn="l">
              <a:lnSpc>
                <a:spcPct val="106000"/>
              </a:lnSpc>
              <a:spcBef>
                <a:spcPts val="0"/>
              </a:spcBef>
              <a:spcAft>
                <a:spcPts val="600"/>
              </a:spcAft>
            </a:pPr>
            <a:r>
              <a:rPr sz="1600" b="1">
                <a:solidFill>
                  <a:srgbClr val="0E2A52"/>
                </a:solidFill>
                <a:latin typeface="Georgia"/>
              </a:rPr>
              <a:t>Savings were never separated</a:t>
            </a:r>
          </a:p>
        </p:txBody>
      </p:sp>
      <p:sp>
        <p:nvSpPr>
          <p:cNvPr id="14" name="TextBox 13"/>
          <p:cNvSpPr txBox="1"/>
          <p:nvPr/>
        </p:nvSpPr>
        <p:spPr>
          <a:xfrm>
            <a:off x="859536" y="2450592"/>
            <a:ext cx="3030626" cy="118871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Papers change many things at once and report one big saving. Nobody can say which part earned what.</a:t>
            </a:r>
          </a:p>
        </p:txBody>
      </p:sp>
      <p:sp>
        <p:nvSpPr>
          <p:cNvPr id="15" name="Rectangle 14"/>
          <p:cNvSpPr/>
          <p:nvPr/>
        </p:nvSpPr>
        <p:spPr>
          <a:xfrm>
            <a:off x="4329074" y="1481328"/>
            <a:ext cx="3533546" cy="22860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29074" y="1481328"/>
            <a:ext cx="118872" cy="22860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1682" y="1627632"/>
            <a:ext cx="3030626" cy="822960"/>
          </a:xfrm>
          <a:prstGeom prst="rect">
            <a:avLst/>
          </a:prstGeom>
          <a:noFill/>
        </p:spPr>
        <p:txBody>
          <a:bodyPr wrap="square" anchor="t" lIns="0" rIns="0" tIns="0" bIns="0">
            <a:spAutoFit/>
          </a:bodyPr>
          <a:lstStyle/>
          <a:p>
            <a:pPr algn="l">
              <a:lnSpc>
                <a:spcPct val="106000"/>
              </a:lnSpc>
              <a:spcBef>
                <a:spcPts val="0"/>
              </a:spcBef>
              <a:spcAft>
                <a:spcPts val="600"/>
              </a:spcAft>
            </a:pPr>
            <a:r>
              <a:rPr sz="1600" b="1">
                <a:solidFill>
                  <a:srgbClr val="0E2A52"/>
                </a:solidFill>
                <a:latin typeface="Georgia"/>
              </a:rPr>
              <a:t>No fair baseline</a:t>
            </a:r>
          </a:p>
        </p:txBody>
      </p:sp>
      <p:sp>
        <p:nvSpPr>
          <p:cNvPr id="18" name="TextBox 17"/>
          <p:cNvSpPr txBox="1"/>
          <p:nvPr/>
        </p:nvSpPr>
        <p:spPr>
          <a:xfrm>
            <a:off x="4621682" y="2450592"/>
            <a:ext cx="3030626" cy="118871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Richer models get compared against weaker setups under different rules. The model and the setup are mixed together.</a:t>
            </a:r>
          </a:p>
        </p:txBody>
      </p:sp>
      <p:sp>
        <p:nvSpPr>
          <p:cNvPr id="19" name="Rectangle 18"/>
          <p:cNvSpPr/>
          <p:nvPr/>
        </p:nvSpPr>
        <p:spPr>
          <a:xfrm>
            <a:off x="8091220" y="1481328"/>
            <a:ext cx="3533546" cy="22860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1220" y="1481328"/>
            <a:ext cx="118872" cy="22860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3828" y="1627632"/>
            <a:ext cx="3030626" cy="822960"/>
          </a:xfrm>
          <a:prstGeom prst="rect">
            <a:avLst/>
          </a:prstGeom>
          <a:noFill/>
        </p:spPr>
        <p:txBody>
          <a:bodyPr wrap="square" anchor="t" lIns="0" rIns="0" tIns="0" bIns="0">
            <a:spAutoFit/>
          </a:bodyPr>
          <a:lstStyle/>
          <a:p>
            <a:pPr algn="l">
              <a:lnSpc>
                <a:spcPct val="106000"/>
              </a:lnSpc>
              <a:spcBef>
                <a:spcPts val="0"/>
              </a:spcBef>
              <a:spcAft>
                <a:spcPts val="600"/>
              </a:spcAft>
            </a:pPr>
            <a:r>
              <a:rPr sz="1600" b="1">
                <a:solidFill>
                  <a:srgbClr val="0E2A52"/>
                </a:solidFill>
                <a:latin typeface="Georgia"/>
              </a:rPr>
              <a:t>The closest work stops at one region</a:t>
            </a:r>
          </a:p>
        </p:txBody>
      </p:sp>
      <p:sp>
        <p:nvSpPr>
          <p:cNvPr id="22" name="TextBox 21"/>
          <p:cNvSpPr txBox="1"/>
          <p:nvPr/>
        </p:nvSpPr>
        <p:spPr>
          <a:xfrm>
            <a:off x="8383828" y="2450592"/>
            <a:ext cx="3030626" cy="118871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Hall et al. 2024 builds robust carbon scheduling for a single region. Whether links across regions pay was an open question.</a:t>
            </a:r>
          </a:p>
        </p:txBody>
      </p:sp>
      <p:sp>
        <p:nvSpPr>
          <p:cNvPr id="23" name="Rectangle 22"/>
          <p:cNvSpPr/>
          <p:nvPr/>
        </p:nvSpPr>
        <p:spPr>
          <a:xfrm>
            <a:off x="566928" y="4023360"/>
            <a:ext cx="11057839" cy="9144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4169663"/>
            <a:ext cx="10545775" cy="685800"/>
          </a:xfrm>
          <a:prstGeom prst="rect">
            <a:avLst/>
          </a:prstGeom>
          <a:noFill/>
        </p:spPr>
        <p:txBody>
          <a:bodyPr wrap="square" anchor="t" lIns="0" rIns="0" tIns="0" bIns="0">
            <a:spAutoFit/>
          </a:bodyPr>
          <a:lstStyle/>
          <a:p>
            <a:pPr algn="l">
              <a:lnSpc>
                <a:spcPct val="112000"/>
              </a:lnSpc>
              <a:spcBef>
                <a:spcPts val="0"/>
              </a:spcBef>
              <a:spcAft>
                <a:spcPts val="600"/>
              </a:spcAft>
            </a:pPr>
            <a:r>
              <a:rPr sz="1800" b="1">
                <a:solidFill>
                  <a:srgbClr val="0E2A52"/>
                </a:solidFill>
                <a:latin typeface="Georgia"/>
              </a:rPr>
              <a:t>Our fix: one scheduler, the same rules for everyone, add one layer at a time, and price each layer on data it has never seen.</a:t>
            </a:r>
          </a:p>
        </p:txBody>
      </p:sp>
      <p:sp>
        <p:nvSpPr>
          <p:cNvPr id="25" name="TextBox 24"/>
          <p:cNvSpPr txBox="1"/>
          <p:nvPr/>
        </p:nvSpPr>
        <p:spPr>
          <a:xfrm>
            <a:off x="566928" y="5193792"/>
            <a:ext cx="11057839" cy="1005840"/>
          </a:xfrm>
          <a:prstGeom prst="rect">
            <a:avLst/>
          </a:prstGeom>
          <a:noFill/>
        </p:spPr>
        <p:txBody>
          <a:bodyPr wrap="square" anchor="t" lIns="0" rIns="0" tIns="0" bIns="0">
            <a:spAutoFit/>
          </a:bodyPr>
          <a:lstStyle/>
          <a:p>
            <a:pPr algn="l">
              <a:lnSpc>
                <a:spcPct val="106000"/>
              </a:lnSpc>
              <a:spcBef>
                <a:spcPts val="0"/>
              </a:spcBef>
              <a:spcAft>
                <a:spcPts val="700"/>
              </a:spcAft>
            </a:pPr>
            <a:r>
              <a:rPr sz="1600" b="1">
                <a:solidFill>
                  <a:srgbClr val="B57D00"/>
                </a:solidFill>
                <a:latin typeface="Segoe UI"/>
              </a:rPr>
              <a:t>RQ1</a:t>
            </a:r>
            <a:r>
              <a:rPr sz="1600" b="0">
                <a:solidFill>
                  <a:srgbClr val="16202E"/>
                </a:solidFill>
                <a:latin typeface="Segoe UI"/>
              </a:rPr>
              <a:t>  moving work between regions. Does it pay, and how much?</a:t>
            </a:r>
          </a:p>
          <a:p>
            <a:pPr algn="l">
              <a:lnSpc>
                <a:spcPct val="106000"/>
              </a:lnSpc>
              <a:spcBef>
                <a:spcPts val="0"/>
              </a:spcBef>
              <a:spcAft>
                <a:spcPts val="700"/>
              </a:spcAft>
            </a:pPr>
            <a:r>
              <a:rPr sz="1600" b="1">
                <a:solidFill>
                  <a:srgbClr val="B57D00"/>
                </a:solidFill>
                <a:latin typeface="Segoe UI"/>
              </a:rPr>
              <a:t>RQ2</a:t>
            </a:r>
            <a:r>
              <a:rPr sz="1600" b="0">
                <a:solidFill>
                  <a:srgbClr val="16202E"/>
                </a:solidFill>
                <a:latin typeface="Segoe UI"/>
              </a:rPr>
              <a:t>  modelling how regions move together. Does that add anything?</a:t>
            </a:r>
          </a:p>
          <a:p>
            <a:pPr algn="l">
              <a:lnSpc>
                <a:spcPct val="106000"/>
              </a:lnSpc>
              <a:spcBef>
                <a:spcPts val="0"/>
              </a:spcBef>
              <a:spcAft>
                <a:spcPts val="700"/>
              </a:spcAft>
            </a:pPr>
            <a:r>
              <a:rPr sz="1600" b="1">
                <a:solidFill>
                  <a:srgbClr val="B57D00"/>
                </a:solidFill>
                <a:latin typeface="Segoe UI"/>
              </a:rPr>
              <a:t>RQ3</a:t>
            </a:r>
            <a:r>
              <a:rPr sz="1600" b="0">
                <a:solidFill>
                  <a:srgbClr val="16202E"/>
                </a:solidFill>
                <a:latin typeface="Segoe UI"/>
              </a:rPr>
              <a:t>  planning for a worse day than the forecast. When is that worth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HOW WE TESTED IT</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A day-ahead scheduler, scored on its worst days</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5</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5</a:t>
            </a:r>
          </a:p>
        </p:txBody>
      </p:sp>
      <p:sp>
        <p:nvSpPr>
          <p:cNvPr id="11" name="TextBox 10"/>
          <p:cNvSpPr txBox="1"/>
          <p:nvPr/>
        </p:nvSpPr>
        <p:spPr>
          <a:xfrm>
            <a:off x="566928" y="1481328"/>
            <a:ext cx="5394960" cy="4114800"/>
          </a:xfrm>
          <a:prstGeom prst="rect">
            <a:avLst/>
          </a:prstGeom>
          <a:noFill/>
        </p:spPr>
        <p:txBody>
          <a:bodyPr wrap="square" lIns="0" rIns="0" tIns="0" bIns="0">
            <a:spAutoFit/>
          </a:bodyPr>
          <a:lstStyle/>
          <a:p>
            <a:pPr>
              <a:lnSpc>
                <a:spcPct val="112000"/>
              </a:lnSpc>
              <a:spcAft>
                <a:spcPts val="1200"/>
              </a:spcAft>
            </a:pPr>
            <a:r>
              <a:rPr sz="1900" b="1">
                <a:solidFill>
                  <a:srgbClr val="0E2A52"/>
                </a:solidFill>
                <a:latin typeface="Segoe UI"/>
              </a:rPr>
              <a:t>Forecast, plan, execute, score</a:t>
            </a:r>
          </a:p>
          <a:p>
            <a:pPr>
              <a:lnSpc>
                <a:spcPct val="112000"/>
              </a:lnSpc>
              <a:spcBef>
                <a:spcPts val="0"/>
              </a:spcBef>
              <a:spcAft>
                <a:spcPts val="1000"/>
              </a:spcAft>
            </a:pPr>
            <a:r>
              <a:rPr sz="1200" b="1">
                <a:solidFill>
                  <a:srgbClr val="E69F00"/>
                </a:solidFill>
                <a:latin typeface="Segoe UI"/>
              </a:rPr>
              <a:t>●  </a:t>
            </a:r>
            <a:r>
              <a:rPr sz="1600" b="0">
                <a:solidFill>
                  <a:srgbClr val="16202E"/>
                </a:solidFill>
                <a:latin typeface="Segoe UI"/>
              </a:rPr>
              <a:t>Every evening: forecast tomorrow's carbon per region, plan where and when the work runs, execute, score. Repeat for a full held-out year (2025).</a:t>
            </a:r>
          </a:p>
          <a:p>
            <a:pPr>
              <a:lnSpc>
                <a:spcPct val="112000"/>
              </a:lnSpc>
              <a:spcBef>
                <a:spcPts val="0"/>
              </a:spcBef>
              <a:spcAft>
                <a:spcPts val="1000"/>
              </a:spcAft>
            </a:pPr>
            <a:r>
              <a:rPr sz="1200" b="1">
                <a:solidFill>
                  <a:srgbClr val="E69F00"/>
                </a:solidFill>
                <a:latin typeface="Segoe UI"/>
              </a:rPr>
              <a:t>●  </a:t>
            </a:r>
            <a:r>
              <a:rPr sz="1600" b="0">
                <a:solidFill>
                  <a:srgbClr val="16202E"/>
                </a:solidFill>
                <a:latin typeface="Segoe UI"/>
              </a:rPr>
              <a:t>The fair-test rule: every version of the scheduler runs under identical constraints. Only the brain changes, so any difference is the brain's doing.</a:t>
            </a:r>
          </a:p>
          <a:p>
            <a:pPr>
              <a:lnSpc>
                <a:spcPct val="112000"/>
              </a:lnSpc>
              <a:spcBef>
                <a:spcPts val="0"/>
              </a:spcBef>
              <a:spcAft>
                <a:spcPts val="1000"/>
              </a:spcAft>
            </a:pPr>
            <a:r>
              <a:rPr sz="1200" b="1">
                <a:solidFill>
                  <a:srgbClr val="E69F00"/>
                </a:solidFill>
                <a:latin typeface="Segoe UI"/>
              </a:rPr>
              <a:t>●  </a:t>
            </a:r>
            <a:r>
              <a:rPr sz="1600" b="0">
                <a:solidFill>
                  <a:srgbClr val="16202E"/>
                </a:solidFill>
                <a:latin typeface="Segoe UI"/>
              </a:rPr>
              <a:t>The baseline is the same scheduler with the transfer channel switched off (Φ = 0). Like for like.</a:t>
            </a:r>
          </a:p>
          <a:p>
            <a:pPr>
              <a:lnSpc>
                <a:spcPct val="112000"/>
              </a:lnSpc>
              <a:spcBef>
                <a:spcPts val="0"/>
              </a:spcBef>
              <a:spcAft>
                <a:spcPts val="1000"/>
              </a:spcAft>
            </a:pPr>
            <a:r>
              <a:rPr sz="1200" b="1">
                <a:solidFill>
                  <a:srgbClr val="E69F00"/>
                </a:solidFill>
                <a:latin typeface="Segoe UI"/>
              </a:rPr>
              <a:t>●  </a:t>
            </a:r>
            <a:r>
              <a:rPr sz="1600" b="1">
                <a:solidFill>
                  <a:srgbClr val="0E2A52"/>
                </a:solidFill>
                <a:latin typeface="Segoe UI"/>
              </a:rPr>
              <a:t>The score: CVaR, the average of the worst 5% of days.</a:t>
            </a:r>
          </a:p>
        </p:txBody>
      </p:sp>
      <p:sp>
        <p:nvSpPr>
          <p:cNvPr id="12" name="Rectangle 11"/>
          <p:cNvSpPr/>
          <p:nvPr/>
        </p:nvSpPr>
        <p:spPr>
          <a:xfrm>
            <a:off x="566928" y="5029200"/>
            <a:ext cx="5394960" cy="1115568"/>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5029200"/>
            <a:ext cx="118872" cy="1115568"/>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5138928"/>
            <a:ext cx="5029200" cy="960120"/>
          </a:xfrm>
          <a:prstGeom prst="rect">
            <a:avLst/>
          </a:prstGeom>
          <a:noFill/>
        </p:spPr>
        <p:txBody>
          <a:bodyPr wrap="square" anchor="t" lIns="0" rIns="0" tIns="0" bIns="0">
            <a:spAutoFit/>
          </a:bodyPr>
          <a:lstStyle/>
          <a:p>
            <a:pPr algn="l">
              <a:lnSpc>
                <a:spcPct val="116000"/>
              </a:lnSpc>
              <a:spcBef>
                <a:spcPts val="0"/>
              </a:spcBef>
              <a:spcAft>
                <a:spcPts val="600"/>
              </a:spcAft>
            </a:pPr>
            <a:r>
              <a:rPr sz="1350" b="1">
                <a:solidFill>
                  <a:srgbClr val="0E2A52"/>
                </a:solidFill>
                <a:latin typeface="Segoe UI"/>
              </a:rPr>
              <a:t>The constraints: </a:t>
            </a:r>
            <a:r>
              <a:rPr sz="1350" b="0">
                <a:solidFill>
                  <a:srgbClr val="16202E"/>
                </a:solidFill>
                <a:latin typeface="Segoe UI"/>
              </a:rPr>
              <a:t>a capacity ceiling, ramp limits, a work deadline, and a thermal (PUE) limit, plus the transfer budget Φ. The full model is written out on the last backup slide.</a:t>
            </a:r>
          </a:p>
        </p:txBody>
      </p:sp>
      <p:pic>
        <p:nvPicPr>
          <p:cNvPr id="15" name="Picture 14" descr="model_validation.png"/>
          <p:cNvPicPr>
            <a:picLocks noChangeAspect="1"/>
          </p:cNvPicPr>
          <p:nvPr/>
        </p:nvPicPr>
        <p:blipFill>
          <a:blip r:embed="rId2"/>
          <a:stretch>
            <a:fillRect/>
          </a:stretch>
        </p:blipFill>
        <p:spPr>
          <a:xfrm>
            <a:off x="6355080" y="1481328"/>
            <a:ext cx="5303520" cy="1976343"/>
          </a:xfrm>
          <a:prstGeom prst="rect">
            <a:avLst/>
          </a:prstGeom>
        </p:spPr>
      </p:pic>
      <p:sp>
        <p:nvSpPr>
          <p:cNvPr id="16" name="TextBox 15"/>
          <p:cNvSpPr txBox="1"/>
          <p:nvPr/>
        </p:nvSpPr>
        <p:spPr>
          <a:xfrm>
            <a:off x="6355080" y="5943600"/>
            <a:ext cx="5303520" cy="365760"/>
          </a:xfrm>
          <a:prstGeom prst="rect">
            <a:avLst/>
          </a:prstGeom>
          <a:noFill/>
        </p:spPr>
        <p:txBody>
          <a:bodyPr wrap="square" anchor="t" lIns="0" rIns="0" tIns="0" bIns="0">
            <a:spAutoFit/>
          </a:bodyPr>
          <a:lstStyle/>
          <a:p>
            <a:pPr algn="ctr">
              <a:lnSpc>
                <a:spcPct val="106000"/>
              </a:lnSpc>
              <a:spcBef>
                <a:spcPts val="0"/>
              </a:spcBef>
              <a:spcAft>
                <a:spcPts val="600"/>
              </a:spcAft>
            </a:pPr>
            <a:r>
              <a:rPr sz="1150" b="0">
                <a:solidFill>
                  <a:srgbClr val="5B6675"/>
                </a:solidFill>
                <a:latin typeface="Segoe UI"/>
              </a:rPr>
              <a:t>Check: on small problems the scheduler finds the exact best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HOW WE TESTED IT</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Real data, and grids picked to work against us</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6</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6</a:t>
            </a:r>
          </a:p>
        </p:txBody>
      </p:sp>
      <p:sp>
        <p:nvSpPr>
          <p:cNvPr id="11" name="TextBox 10"/>
          <p:cNvSpPr txBox="1"/>
          <p:nvPr/>
        </p:nvSpPr>
        <p:spPr>
          <a:xfrm>
            <a:off x="566928" y="1481328"/>
            <a:ext cx="5394960" cy="4480560"/>
          </a:xfrm>
          <a:prstGeom prst="rect">
            <a:avLst/>
          </a:prstGeom>
          <a:noFill/>
        </p:spPr>
        <p:txBody>
          <a:bodyPr wrap="square" lIns="0" rIns="0" tIns="0" bIns="0">
            <a:spAutoFit/>
          </a:bodyPr>
          <a:lstStyle/>
          <a:p>
            <a:pPr>
              <a:lnSpc>
                <a:spcPct val="112000"/>
              </a:lnSpc>
              <a:spcAft>
                <a:spcPts val="1400"/>
              </a:spcAft>
            </a:pPr>
            <a:r>
              <a:rPr sz="1950" b="1">
                <a:solidFill>
                  <a:srgbClr val="0E2A52"/>
                </a:solidFill>
                <a:latin typeface="Segoe UI"/>
              </a:rPr>
              <a:t>If the layer can pay anywhere, it is here</a:t>
            </a:r>
          </a:p>
          <a:p>
            <a:pPr>
              <a:lnSpc>
                <a:spcPct val="112000"/>
              </a:lnSpc>
              <a:spcBef>
                <a:spcPts val="0"/>
              </a:spcBef>
              <a:spcAft>
                <a:spcPts val="1200"/>
              </a:spcAft>
            </a:pPr>
            <a:r>
              <a:rPr sz="1250" b="1">
                <a:solidFill>
                  <a:srgbClr val="E69F00"/>
                </a:solidFill>
                <a:latin typeface="Segoe UI"/>
              </a:rPr>
              <a:t>●  </a:t>
            </a:r>
            <a:r>
              <a:rPr sz="1650" b="0">
                <a:solidFill>
                  <a:srgbClr val="16202E"/>
                </a:solidFill>
                <a:latin typeface="Segoe UI"/>
              </a:rPr>
              <a:t>Real hourly carbon data (Electricity Maps), 2021 to 2025, 17 zones across the US and Canada. Trained up to 2024, tested once on 2025.</a:t>
            </a:r>
          </a:p>
          <a:p>
            <a:pPr>
              <a:lnSpc>
                <a:spcPct val="112000"/>
              </a:lnSpc>
              <a:spcBef>
                <a:spcPts val="0"/>
              </a:spcBef>
              <a:spcAft>
                <a:spcPts val="1200"/>
              </a:spcAft>
            </a:pPr>
            <a:r>
              <a:rPr sz="1250" b="1">
                <a:solidFill>
                  <a:srgbClr val="E69F00"/>
                </a:solidFill>
                <a:latin typeface="Segoe UI"/>
              </a:rPr>
              <a:t>●  </a:t>
            </a:r>
            <a:r>
              <a:rPr sz="1650" b="0">
                <a:solidFill>
                  <a:srgbClr val="16202E"/>
                </a:solidFill>
                <a:latin typeface="Segoe UI"/>
              </a:rPr>
              <a:t>US West: regions strongly linked, all moving together.</a:t>
            </a:r>
          </a:p>
          <a:p>
            <a:pPr>
              <a:lnSpc>
                <a:spcPct val="112000"/>
              </a:lnSpc>
              <a:spcBef>
                <a:spcPts val="0"/>
              </a:spcBef>
              <a:spcAft>
                <a:spcPts val="1200"/>
              </a:spcAft>
            </a:pPr>
            <a:r>
              <a:rPr sz="1250" b="1">
                <a:solidFill>
                  <a:srgbClr val="E69F00"/>
                </a:solidFill>
                <a:latin typeface="Segoe UI"/>
              </a:rPr>
              <a:t>●  </a:t>
            </a:r>
            <a:r>
              <a:rPr sz="1650" b="0">
                <a:solidFill>
                  <a:srgbClr val="16202E"/>
                </a:solidFill>
                <a:latin typeface="Segoe UI"/>
              </a:rPr>
              <a:t>Eastern US and Canada belt: middle of the road.</a:t>
            </a:r>
          </a:p>
          <a:p>
            <a:pPr>
              <a:lnSpc>
                <a:spcPct val="112000"/>
              </a:lnSpc>
              <a:spcBef>
                <a:spcPts val="0"/>
              </a:spcBef>
              <a:spcAft>
                <a:spcPts val="1200"/>
              </a:spcAft>
            </a:pPr>
            <a:r>
              <a:rPr sz="1250" b="1">
                <a:solidFill>
                  <a:srgbClr val="E69F00"/>
                </a:solidFill>
                <a:latin typeface="Segoe UI"/>
              </a:rPr>
              <a:t>●  </a:t>
            </a:r>
            <a:r>
              <a:rPr sz="1650" b="0">
                <a:solidFill>
                  <a:srgbClr val="16202E"/>
                </a:solidFill>
                <a:latin typeface="Segoe UI"/>
              </a:rPr>
              <a:t>A built portfolio of solar, wind and hydro zones: barely linked, on purpose. The best possible case for the co-movement layer.</a:t>
            </a:r>
          </a:p>
          <a:p>
            <a:pPr>
              <a:lnSpc>
                <a:spcPct val="112000"/>
              </a:lnSpc>
              <a:spcBef>
                <a:spcPts val="0"/>
              </a:spcBef>
              <a:spcAft>
                <a:spcPts val="1200"/>
              </a:spcAft>
            </a:pPr>
            <a:r>
              <a:rPr sz="1250" b="1">
                <a:solidFill>
                  <a:srgbClr val="E69F00"/>
                </a:solidFill>
                <a:latin typeface="Segoe UI"/>
              </a:rPr>
              <a:t>●  </a:t>
            </a:r>
            <a:r>
              <a:rPr sz="1650" b="0">
                <a:solidFill>
                  <a:srgbClr val="5B6675"/>
                </a:solidFill>
                <a:latin typeface="Segoe UI"/>
              </a:rPr>
              <a:t>Iberia and France: checked early, set aside as too weak a test. The robust machinery does not engage there, so a zero from it would prove nothing.</a:t>
            </a:r>
          </a:p>
        </p:txBody>
      </p:sp>
      <p:pic>
        <p:nvPicPr>
          <p:cNvPr id="12" name="Picture 11" descr="ci_corr_heatmap_us_west.png"/>
          <p:cNvPicPr>
            <a:picLocks noChangeAspect="1"/>
          </p:cNvPicPr>
          <p:nvPr/>
        </p:nvPicPr>
        <p:blipFill>
          <a:blip r:embed="rId2"/>
          <a:stretch>
            <a:fillRect/>
          </a:stretch>
        </p:blipFill>
        <p:spPr>
          <a:xfrm>
            <a:off x="6355080" y="1481328"/>
            <a:ext cx="5303520" cy="2943039"/>
          </a:xfrm>
          <a:prstGeom prst="rect">
            <a:avLst/>
          </a:prstGeom>
        </p:spPr>
      </p:pic>
      <p:sp>
        <p:nvSpPr>
          <p:cNvPr id="13" name="TextBox 12"/>
          <p:cNvSpPr txBox="1"/>
          <p:nvPr/>
        </p:nvSpPr>
        <p:spPr>
          <a:xfrm>
            <a:off x="6355080" y="5897880"/>
            <a:ext cx="5303520" cy="365760"/>
          </a:xfrm>
          <a:prstGeom prst="rect">
            <a:avLst/>
          </a:prstGeom>
          <a:noFill/>
        </p:spPr>
        <p:txBody>
          <a:bodyPr wrap="square" anchor="t" lIns="0" rIns="0" tIns="0" bIns="0">
            <a:spAutoFit/>
          </a:bodyPr>
          <a:lstStyle/>
          <a:p>
            <a:pPr algn="ctr">
              <a:lnSpc>
                <a:spcPct val="106000"/>
              </a:lnSpc>
              <a:spcBef>
                <a:spcPts val="0"/>
              </a:spcBef>
              <a:spcAft>
                <a:spcPts val="600"/>
              </a:spcAft>
            </a:pPr>
            <a:r>
              <a:rPr sz="1150" b="0">
                <a:solidFill>
                  <a:srgbClr val="5B6675"/>
                </a:solidFill>
                <a:latin typeface="Segoe UI"/>
              </a:rPr>
              <a:t>The links are real, up to 0.78 out of 1 on the US West, close to a perfect match. Value is the question.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DECISION 1 · MOVE THE WORK?</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Let the work chase the clean region. It pays.</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7</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7</a:t>
            </a:r>
          </a:p>
        </p:txBody>
      </p:sp>
      <p:pic>
        <p:nvPicPr>
          <p:cNvPr id="11" name="Picture 10" descr="transfer_value_curve.png"/>
          <p:cNvPicPr>
            <a:picLocks noChangeAspect="1"/>
          </p:cNvPicPr>
          <p:nvPr/>
        </p:nvPicPr>
        <p:blipFill>
          <a:blip r:embed="rId2"/>
          <a:stretch>
            <a:fillRect/>
          </a:stretch>
        </p:blipFill>
        <p:spPr>
          <a:xfrm>
            <a:off x="566928" y="1481328"/>
            <a:ext cx="6675120" cy="4251999"/>
          </a:xfrm>
          <a:prstGeom prst="rect">
            <a:avLst/>
          </a:prstGeom>
        </p:spPr>
      </p:pic>
      <p:sp>
        <p:nvSpPr>
          <p:cNvPr id="12" name="TextBox 11"/>
          <p:cNvSpPr txBox="1"/>
          <p:nvPr/>
        </p:nvSpPr>
        <p:spPr>
          <a:xfrm>
            <a:off x="7589520" y="1554480"/>
            <a:ext cx="3931920" cy="685800"/>
          </a:xfrm>
          <a:prstGeom prst="rect">
            <a:avLst/>
          </a:prstGeom>
          <a:noFill/>
        </p:spPr>
        <p:txBody>
          <a:bodyPr wrap="square" anchor="t" lIns="0" rIns="0" tIns="0" bIns="0">
            <a:spAutoFit/>
          </a:bodyPr>
          <a:lstStyle/>
          <a:p>
            <a:pPr algn="l">
              <a:lnSpc>
                <a:spcPct val="106000"/>
              </a:lnSpc>
              <a:spcBef>
                <a:spcPts val="0"/>
              </a:spcBef>
              <a:spcAft>
                <a:spcPts val="600"/>
              </a:spcAft>
            </a:pPr>
            <a:r>
              <a:rPr sz="3600" b="1">
                <a:solidFill>
                  <a:srgbClr val="4A7C59"/>
                </a:solidFill>
                <a:latin typeface="Georgia"/>
              </a:rPr>
              <a:t>4.0 to 9.9%</a:t>
            </a:r>
          </a:p>
        </p:txBody>
      </p:sp>
      <p:sp>
        <p:nvSpPr>
          <p:cNvPr id="13" name="TextBox 12"/>
          <p:cNvSpPr txBox="1"/>
          <p:nvPr/>
        </p:nvSpPr>
        <p:spPr>
          <a:xfrm>
            <a:off x="7589520" y="2212848"/>
            <a:ext cx="3931920" cy="685800"/>
          </a:xfrm>
          <a:prstGeom prst="rect">
            <a:avLst/>
          </a:prstGeom>
          <a:noFill/>
        </p:spPr>
        <p:txBody>
          <a:bodyPr wrap="square" anchor="t" lIns="0" rIns="0" tIns="0" bIns="0">
            <a:spAutoFit/>
          </a:bodyPr>
          <a:lstStyle/>
          <a:p>
            <a:pPr algn="l">
              <a:lnSpc>
                <a:spcPct val="105000"/>
              </a:lnSpc>
              <a:spcBef>
                <a:spcPts val="0"/>
              </a:spcBef>
              <a:spcAft>
                <a:spcPts val="600"/>
              </a:spcAft>
            </a:pPr>
            <a:r>
              <a:rPr sz="1300" b="0">
                <a:solidFill>
                  <a:srgbClr val="5B6675"/>
                </a:solidFill>
                <a:latin typeface="Segoe UI"/>
              </a:rPr>
              <a:t>cut in worst-day emissions, against the same scheduler with transfer switched off</a:t>
            </a:r>
          </a:p>
        </p:txBody>
      </p:sp>
      <p:sp>
        <p:nvSpPr>
          <p:cNvPr id="14" name="TextBox 13"/>
          <p:cNvSpPr txBox="1"/>
          <p:nvPr/>
        </p:nvSpPr>
        <p:spPr>
          <a:xfrm>
            <a:off x="7589520" y="3063240"/>
            <a:ext cx="4023360" cy="3017520"/>
          </a:xfrm>
          <a:prstGeom prst="rect">
            <a:avLst/>
          </a:prstGeom>
          <a:noFill/>
        </p:spPr>
        <p:txBody>
          <a:bodyPr wrap="square" lIns="0" rIns="0" tIns="0" bIns="0">
            <a:spAutoFit/>
          </a:bodyPr>
          <a:lstStyle/>
          <a:p>
            <a:pPr>
              <a:lnSpc>
                <a:spcPct val="112000"/>
              </a:lnSpc>
              <a:spcBef>
                <a:spcPts val="0"/>
              </a:spcBef>
              <a:spcAft>
                <a:spcPts val="1200"/>
              </a:spcAft>
            </a:pPr>
            <a:r>
              <a:rPr sz="1200" b="1">
                <a:solidFill>
                  <a:srgbClr val="E69F00"/>
                </a:solidFill>
                <a:latin typeface="Segoe UI"/>
              </a:rPr>
              <a:t>●  </a:t>
            </a:r>
            <a:r>
              <a:rPr sz="1600" b="0">
                <a:solidFill>
                  <a:srgbClr val="16202E"/>
                </a:solidFill>
                <a:latin typeface="Segoe UI"/>
              </a:rPr>
              <a:t>Per grid: Western 4.0%, Eastern 9.9%, Diversified 9.0%. On the Eastern fleet, roughly $1.7M a year, before the cost of moving work.</a:t>
            </a:r>
          </a:p>
          <a:p>
            <a:pPr>
              <a:lnSpc>
                <a:spcPct val="112000"/>
              </a:lnSpc>
              <a:spcBef>
                <a:spcPts val="0"/>
              </a:spcBef>
              <a:spcAft>
                <a:spcPts val="1200"/>
              </a:spcAft>
            </a:pPr>
            <a:r>
              <a:rPr sz="1200" b="1">
                <a:solidFill>
                  <a:srgbClr val="E69F00"/>
                </a:solidFill>
                <a:latin typeface="Segoe UI"/>
              </a:rPr>
              <a:t>●  </a:t>
            </a:r>
            <a:r>
              <a:rPr sz="1600" b="0">
                <a:solidFill>
                  <a:srgbClr val="16202E"/>
                </a:solidFill>
                <a:latin typeface="Segoe UI"/>
              </a:rPr>
              <a:t>Savings flatten out near a 20% transfer budget. A modest channel captures nearly all the value.</a:t>
            </a:r>
          </a:p>
          <a:p>
            <a:pPr>
              <a:lnSpc>
                <a:spcPct val="112000"/>
              </a:lnSpc>
              <a:spcBef>
                <a:spcPts val="0"/>
              </a:spcBef>
              <a:spcAft>
                <a:spcPts val="1200"/>
              </a:spcAft>
            </a:pPr>
            <a:r>
              <a:rPr sz="1200" b="1">
                <a:solidFill>
                  <a:srgbClr val="E69F00"/>
                </a:solidFill>
                <a:latin typeface="Segoe UI"/>
              </a:rPr>
              <a:t>●  </a:t>
            </a:r>
            <a:r>
              <a:rPr sz="1600" b="1">
                <a:solidFill>
                  <a:srgbClr val="0E2A52"/>
                </a:solidFill>
                <a:latin typeface="Segoe UI"/>
              </a:rPr>
              <a:t>And it needs no statistics at all. This is the lever.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THE VERDICT SO FAR</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One jump, then flat</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8</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8</a:t>
            </a:r>
          </a:p>
        </p:txBody>
      </p:sp>
      <p:pic>
        <p:nvPicPr>
          <p:cNvPr id="11" name="Picture 10" descr="complexity_frontier.png"/>
          <p:cNvPicPr>
            <a:picLocks noChangeAspect="1"/>
          </p:cNvPicPr>
          <p:nvPr/>
        </p:nvPicPr>
        <p:blipFill>
          <a:blip r:embed="rId2"/>
          <a:stretch>
            <a:fillRect/>
          </a:stretch>
        </p:blipFill>
        <p:spPr>
          <a:xfrm>
            <a:off x="566928" y="1481328"/>
            <a:ext cx="6565695" cy="4206240"/>
          </a:xfrm>
          <a:prstGeom prst="rect">
            <a:avLst/>
          </a:prstGeom>
        </p:spPr>
      </p:pic>
      <p:sp>
        <p:nvSpPr>
          <p:cNvPr id="12" name="TextBox 11"/>
          <p:cNvSpPr txBox="1"/>
          <p:nvPr/>
        </p:nvSpPr>
        <p:spPr>
          <a:xfrm>
            <a:off x="7589520" y="1600200"/>
            <a:ext cx="4023360" cy="3840480"/>
          </a:xfrm>
          <a:prstGeom prst="rect">
            <a:avLst/>
          </a:prstGeom>
          <a:noFill/>
        </p:spPr>
        <p:txBody>
          <a:bodyPr wrap="square" lIns="0" rIns="0" tIns="0" bIns="0">
            <a:spAutoFit/>
          </a:bodyPr>
          <a:lstStyle/>
          <a:p>
            <a:pPr>
              <a:lnSpc>
                <a:spcPct val="112000"/>
              </a:lnSpc>
              <a:spcAft>
                <a:spcPts val="1500"/>
              </a:spcAft>
            </a:pPr>
            <a:r>
              <a:rPr sz="1950" b="1">
                <a:solidFill>
                  <a:srgbClr val="0E2A52"/>
                </a:solidFill>
                <a:latin typeface="Segoe UI"/>
              </a:rPr>
              <a:t>The whole thesis in one image</a:t>
            </a:r>
          </a:p>
          <a:p>
            <a:pPr>
              <a:lnSpc>
                <a:spcPct val="112000"/>
              </a:lnSpc>
              <a:spcBef>
                <a:spcPts val="0"/>
              </a:spcBef>
              <a:spcAft>
                <a:spcPts val="1300"/>
              </a:spcAft>
            </a:pPr>
            <a:r>
              <a:rPr sz="1250" b="1">
                <a:solidFill>
                  <a:srgbClr val="E69F00"/>
                </a:solidFill>
                <a:latin typeface="Segoe UI"/>
              </a:rPr>
              <a:t>●  </a:t>
            </a:r>
            <a:r>
              <a:rPr sz="1650" b="0">
                <a:solidFill>
                  <a:srgbClr val="16202E"/>
                </a:solidFill>
                <a:latin typeface="Segoe UI"/>
              </a:rPr>
              <a:t>Every model we built, on one line: value against complexity. Same rules, same test year.</a:t>
            </a:r>
          </a:p>
          <a:p>
            <a:pPr>
              <a:lnSpc>
                <a:spcPct val="112000"/>
              </a:lnSpc>
              <a:spcBef>
                <a:spcPts val="0"/>
              </a:spcBef>
              <a:spcAft>
                <a:spcPts val="1300"/>
              </a:spcAft>
            </a:pPr>
            <a:r>
              <a:rPr sz="1250" b="1">
                <a:solidFill>
                  <a:srgbClr val="E69F00"/>
                </a:solidFill>
                <a:latin typeface="Segoe UI"/>
              </a:rPr>
              <a:t>●  </a:t>
            </a:r>
            <a:r>
              <a:rPr sz="1650" b="1">
                <a:solidFill>
                  <a:srgbClr val="4A7C59"/>
                </a:solidFill>
                <a:latin typeface="Segoe UI"/>
              </a:rPr>
              <a:t>Transfer is the single jump. Everything after it adds almost no height.</a:t>
            </a:r>
          </a:p>
          <a:p>
            <a:pPr>
              <a:lnSpc>
                <a:spcPct val="112000"/>
              </a:lnSpc>
              <a:spcBef>
                <a:spcPts val="0"/>
              </a:spcBef>
              <a:spcAft>
                <a:spcPts val="1300"/>
              </a:spcAft>
            </a:pPr>
            <a:r>
              <a:rPr sz="1250" b="1">
                <a:solidFill>
                  <a:srgbClr val="E69F00"/>
                </a:solidFill>
                <a:latin typeface="Segoe UI"/>
              </a:rPr>
              <a:t>●  </a:t>
            </a:r>
            <a:r>
              <a:rPr sz="1650" b="1">
                <a:solidFill>
                  <a:srgbClr val="0E2A52"/>
                </a:solidFill>
                <a:latin typeface="Segoe UI"/>
              </a:rPr>
              <a:t>The rest of this talk explains why the line goes flat, and when it would not.</a:t>
            </a:r>
          </a:p>
        </p:txBody>
      </p:sp>
      <p:sp>
        <p:nvSpPr>
          <p:cNvPr id="13" name="TextBox 12"/>
          <p:cNvSpPr txBox="1"/>
          <p:nvPr/>
        </p:nvSpPr>
        <p:spPr>
          <a:xfrm>
            <a:off x="566928" y="5806440"/>
            <a:ext cx="6675120" cy="365760"/>
          </a:xfrm>
          <a:prstGeom prst="rect">
            <a:avLst/>
          </a:prstGeom>
          <a:noFill/>
        </p:spPr>
        <p:txBody>
          <a:bodyPr wrap="square" anchor="t" lIns="0" rIns="0" tIns="0" bIns="0">
            <a:spAutoFit/>
          </a:bodyPr>
          <a:lstStyle/>
          <a:p>
            <a:pPr algn="ctr">
              <a:lnSpc>
                <a:spcPct val="106000"/>
              </a:lnSpc>
              <a:spcBef>
                <a:spcPts val="0"/>
              </a:spcBef>
              <a:spcAft>
                <a:spcPts val="600"/>
              </a:spcAft>
            </a:pPr>
            <a:r>
              <a:rPr sz="1150" b="0">
                <a:solidFill>
                  <a:srgbClr val="5B6675"/>
                </a:solidFill>
                <a:latin typeface="Segoe UI"/>
              </a:rPr>
              <a:t>y-axis: savings vs a carbon-blind scheduler; the 4.0 to 9.9% headline is CVaR vs Φ = 0 (archived: complexity_frontier_2026-07-05.csv).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DECISION 2 · MODEL THE LINKS?</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Knowing how regions move together adds nothing</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9</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9</a:t>
            </a:r>
          </a:p>
        </p:txBody>
      </p:sp>
      <p:sp>
        <p:nvSpPr>
          <p:cNvPr id="11" name="TextBox 10"/>
          <p:cNvSpPr txBox="1"/>
          <p:nvPr/>
        </p:nvSpPr>
        <p:spPr>
          <a:xfrm>
            <a:off x="566928" y="1261872"/>
            <a:ext cx="11057839" cy="1280160"/>
          </a:xfrm>
          <a:prstGeom prst="rect">
            <a:avLst/>
          </a:prstGeom>
          <a:noFill/>
        </p:spPr>
        <p:txBody>
          <a:bodyPr wrap="square" anchor="t" lIns="0" rIns="0" tIns="0" bIns="0">
            <a:spAutoFit/>
          </a:bodyPr>
          <a:lstStyle/>
          <a:p>
            <a:pPr algn="l">
              <a:lnSpc>
                <a:spcPct val="116000"/>
              </a:lnSpc>
              <a:spcBef>
                <a:spcPts val="0"/>
              </a:spcBef>
              <a:spcAft>
                <a:spcPts val="800"/>
              </a:spcAft>
            </a:pPr>
            <a:r>
              <a:rPr sz="1600" b="1">
                <a:solidFill>
                  <a:srgbClr val="0E2A52"/>
                </a:solidFill>
                <a:latin typeface="Segoe UI"/>
              </a:rPr>
              <a:t>The test, fixed in advance:  </a:t>
            </a:r>
            <a:r>
              <a:rPr sz="1600" b="0">
                <a:solidFill>
                  <a:srgbClr val="16202E"/>
                </a:solidFill>
                <a:latin typeface="Segoe UI"/>
              </a:rPr>
              <a:t>fit the schedule with the real links between regions, then with the links destroyed. Across 144 pre-committed cells the gap never leaves a plus or minus 0.4% band, and its sign flips.</a:t>
            </a:r>
          </a:p>
          <a:p>
            <a:pPr algn="l">
              <a:lnSpc>
                <a:spcPct val="116000"/>
              </a:lnSpc>
              <a:spcBef>
                <a:spcPts val="0"/>
              </a:spcBef>
              <a:spcAft>
                <a:spcPts val="800"/>
              </a:spcAft>
            </a:pPr>
            <a:r>
              <a:rPr sz="1600" b="1">
                <a:solidFill>
                  <a:srgbClr val="0E2A52"/>
                </a:solidFill>
                <a:latin typeface="Segoe UI"/>
              </a:rPr>
              <a:t>An active zero:  </a:t>
            </a:r>
            <a:r>
              <a:rPr sz="1600" b="0">
                <a:solidFill>
                  <a:srgbClr val="16202E"/>
                </a:solidFill>
                <a:latin typeface="Segoe UI"/>
              </a:rPr>
              <a:t>the machinery was on and engaged, so this is a real zero, not a switched-off one. Skip this layer.</a:t>
            </a:r>
          </a:p>
        </p:txBody>
      </p:sp>
      <p:pic>
        <p:nvPicPr>
          <p:cNvPr id="12" name="Picture 11" descr="cv_curve.png"/>
          <p:cNvPicPr>
            <a:picLocks noChangeAspect="1"/>
          </p:cNvPicPr>
          <p:nvPr/>
        </p:nvPicPr>
        <p:blipFill>
          <a:blip r:embed="rId2"/>
          <a:stretch>
            <a:fillRect/>
          </a:stretch>
        </p:blipFill>
        <p:spPr>
          <a:xfrm>
            <a:off x="1313845" y="2651760"/>
            <a:ext cx="9564004" cy="35661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THE TWIST: A REAL SIGNAL THAT STILL DOES NOT PAY</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A wave and a ripple: the signal was there all along</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10</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10</a:t>
            </a:r>
          </a:p>
        </p:txBody>
      </p:sp>
      <p:sp>
        <p:nvSpPr>
          <p:cNvPr id="11" name="TextBox 10"/>
          <p:cNvSpPr txBox="1"/>
          <p:nvPr/>
        </p:nvSpPr>
        <p:spPr>
          <a:xfrm>
            <a:off x="566928" y="1481328"/>
            <a:ext cx="5394960" cy="4297680"/>
          </a:xfrm>
          <a:prstGeom prst="rect">
            <a:avLst/>
          </a:prstGeom>
          <a:noFill/>
        </p:spPr>
        <p:txBody>
          <a:bodyPr wrap="square" lIns="0" rIns="0" tIns="0" bIns="0">
            <a:spAutoFit/>
          </a:bodyPr>
          <a:lstStyle/>
          <a:p>
            <a:pPr>
              <a:lnSpc>
                <a:spcPct val="112000"/>
              </a:lnSpc>
              <a:spcAft>
                <a:spcPts val="1500"/>
              </a:spcAft>
            </a:pPr>
            <a:r>
              <a:rPr sz="2000" b="1">
                <a:solidFill>
                  <a:srgbClr val="0E2A52"/>
                </a:solidFill>
                <a:latin typeface="Segoe UI"/>
              </a:rPr>
              <a:t>The signal is real, but the wave hides it</a:t>
            </a:r>
          </a:p>
          <a:p>
            <a:pPr>
              <a:lnSpc>
                <a:spcPct val="112000"/>
              </a:lnSpc>
              <a:spcBef>
                <a:spcPts val="0"/>
              </a:spcBef>
              <a:spcAft>
                <a:spcPts val="1300"/>
              </a:spcAft>
            </a:pPr>
            <a:r>
              <a:rPr sz="1300" b="1">
                <a:solidFill>
                  <a:srgbClr val="E69F00"/>
                </a:solidFill>
                <a:latin typeface="Segoe UI"/>
              </a:rPr>
              <a:t>●  </a:t>
            </a:r>
            <a:r>
              <a:rPr sz="1700" b="0">
                <a:solidFill>
                  <a:srgbClr val="16202E"/>
                </a:solidFill>
                <a:latin typeface="Segoe UI"/>
              </a:rPr>
              <a:t>Carbon follows a big daily wave, driven by sun and demand. It is large, shared, and easy to predict.</a:t>
            </a:r>
          </a:p>
          <a:p>
            <a:pPr>
              <a:lnSpc>
                <a:spcPct val="112000"/>
              </a:lnSpc>
              <a:spcBef>
                <a:spcPts val="0"/>
              </a:spcBef>
              <a:spcAft>
                <a:spcPts val="1300"/>
              </a:spcAft>
            </a:pPr>
            <a:r>
              <a:rPr sz="1300" b="1">
                <a:solidFill>
                  <a:srgbClr val="E69F00"/>
                </a:solidFill>
                <a:latin typeface="Segoe UI"/>
              </a:rPr>
              <a:t>●  </a:t>
            </a:r>
            <a:r>
              <a:rPr sz="1700" b="0">
                <a:solidFill>
                  <a:srgbClr val="16202E"/>
                </a:solidFill>
                <a:latin typeface="Segoe UI"/>
              </a:rPr>
              <a:t>The links between regions live in a small ripple on top, 2 to 4 times smaller than the wave. The schedule barely reacts to it.</a:t>
            </a:r>
          </a:p>
          <a:p>
            <a:pPr>
              <a:lnSpc>
                <a:spcPct val="112000"/>
              </a:lnSpc>
              <a:spcBef>
                <a:spcPts val="0"/>
              </a:spcBef>
              <a:spcAft>
                <a:spcPts val="1300"/>
              </a:spcAft>
            </a:pPr>
            <a:r>
              <a:rPr sz="1300" b="1">
                <a:solidFill>
                  <a:srgbClr val="E69F00"/>
                </a:solidFill>
                <a:latin typeface="Segoe UI"/>
              </a:rPr>
              <a:t>●  </a:t>
            </a:r>
            <a:r>
              <a:rPr sz="1700" b="1">
                <a:solidFill>
                  <a:srgbClr val="B3402F"/>
                </a:solidFill>
                <a:latin typeface="Segoe UI"/>
              </a:rPr>
              <a:t>The proof the test works: flatten the wave artificially, and the same layer suddenly pays +1.46%. Far above the 0.4% bar.</a:t>
            </a:r>
          </a:p>
          <a:p>
            <a:pPr>
              <a:lnSpc>
                <a:spcPct val="112000"/>
              </a:lnSpc>
              <a:spcBef>
                <a:spcPts val="0"/>
              </a:spcBef>
              <a:spcAft>
                <a:spcPts val="1300"/>
              </a:spcAft>
            </a:pPr>
            <a:r>
              <a:rPr sz="1300" b="1">
                <a:solidFill>
                  <a:srgbClr val="E69F00"/>
                </a:solidFill>
                <a:latin typeface="Segoe UI"/>
              </a:rPr>
              <a:t>●  </a:t>
            </a:r>
            <a:r>
              <a:rPr sz="1700" b="0">
                <a:solidFill>
                  <a:srgbClr val="16202E"/>
                </a:solidFill>
                <a:latin typeface="Segoe UI"/>
              </a:rPr>
              <a:t>So the signal is real, just too small and shaky to bank. It loses to the wave.</a:t>
            </a:r>
          </a:p>
        </p:txBody>
      </p:sp>
      <p:sp>
        <p:nvSpPr>
          <p:cNvPr id="12" name="Rectangle 11"/>
          <p:cNvSpPr/>
          <p:nvPr/>
        </p:nvSpPr>
        <p:spPr>
          <a:xfrm>
            <a:off x="6355080" y="1572768"/>
            <a:ext cx="5257800" cy="41148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783080"/>
            <a:ext cx="4754880" cy="3749039"/>
          </a:xfrm>
          <a:prstGeom prst="rect">
            <a:avLst/>
          </a:prstGeom>
          <a:noFill/>
        </p:spPr>
        <p:txBody>
          <a:bodyPr wrap="square" anchor="t" lIns="0" rIns="0" tIns="0" bIns="0">
            <a:spAutoFit/>
          </a:bodyPr>
          <a:lstStyle/>
          <a:p>
            <a:pPr algn="l">
              <a:lnSpc>
                <a:spcPct val="114000"/>
              </a:lnSpc>
              <a:spcBef>
                <a:spcPts val="0"/>
              </a:spcBef>
              <a:spcAft>
                <a:spcPts val="1100"/>
              </a:spcAft>
            </a:pPr>
            <a:r>
              <a:rPr sz="1900" b="1">
                <a:solidFill>
                  <a:srgbClr val="0E2A52"/>
                </a:solidFill>
                <a:latin typeface="Georgia"/>
              </a:rPr>
              <a:t>The wave-and-ripple rule</a:t>
            </a:r>
          </a:p>
          <a:p>
            <a:pPr algn="l">
              <a:lnSpc>
                <a:spcPct val="114000"/>
              </a:lnSpc>
              <a:spcBef>
                <a:spcPts val="0"/>
              </a:spcBef>
              <a:spcAft>
                <a:spcPts val="1100"/>
              </a:spcAft>
            </a:pPr>
            <a:r>
              <a:rPr sz="1550" b="0">
                <a:solidFill>
                  <a:srgbClr val="16202E"/>
                </a:solidFill>
                <a:latin typeface="Segoe UI"/>
              </a:rPr>
              <a:t>A dependence layer can only move the schedule when the ripple rivals the wave.</a:t>
            </a:r>
          </a:p>
          <a:p>
            <a:pPr algn="l">
              <a:lnSpc>
                <a:spcPct val="114000"/>
              </a:lnSpc>
              <a:spcBef>
                <a:spcPts val="0"/>
              </a:spcBef>
              <a:spcAft>
                <a:spcPts val="1100"/>
              </a:spcAft>
            </a:pPr>
            <a:r>
              <a:rPr sz="1550" b="0">
                <a:solidFill>
                  <a:srgbClr val="16202E"/>
                </a:solidFill>
                <a:latin typeface="Segoe UI"/>
              </a:rPr>
              <a:t>On every grid we measured, the wave is 2 to 4 times bigger. So the layer cannot pay there.</a:t>
            </a:r>
          </a:p>
          <a:p>
            <a:pPr algn="l">
              <a:lnSpc>
                <a:spcPct val="114000"/>
              </a:lnSpc>
              <a:spcBef>
                <a:spcPts val="0"/>
              </a:spcBef>
              <a:spcAft>
                <a:spcPts val="1100"/>
              </a:spcAft>
            </a:pPr>
            <a:r>
              <a:rPr sz="1550" b="1">
                <a:solidFill>
                  <a:srgbClr val="0E2A52"/>
                </a:solidFill>
                <a:latin typeface="Segoe UI"/>
              </a:rPr>
              <a:t>This is the part that travels: a simple check anyone can run on their own grid, before spending anything.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DECISION 3 · BUY INSURANCE?</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Forecasts miss, so the plan should expect worse</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11</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11</a:t>
            </a:r>
          </a:p>
        </p:txBody>
      </p:sp>
      <p:sp>
        <p:nvSpPr>
          <p:cNvPr id="11" name="TextBox 10"/>
          <p:cNvSpPr txBox="1"/>
          <p:nvPr/>
        </p:nvSpPr>
        <p:spPr>
          <a:xfrm>
            <a:off x="566928" y="1481328"/>
            <a:ext cx="5394960" cy="4206240"/>
          </a:xfrm>
          <a:prstGeom prst="rect">
            <a:avLst/>
          </a:prstGeom>
          <a:noFill/>
        </p:spPr>
        <p:txBody>
          <a:bodyPr wrap="square" lIns="0" rIns="0" tIns="0" bIns="0">
            <a:spAutoFit/>
          </a:bodyPr>
          <a:lstStyle/>
          <a:p>
            <a:pPr>
              <a:lnSpc>
                <a:spcPct val="112000"/>
              </a:lnSpc>
              <a:spcAft>
                <a:spcPts val="1500"/>
              </a:spcAft>
            </a:pPr>
            <a:r>
              <a:rPr sz="2000" b="1">
                <a:solidFill>
                  <a:srgbClr val="0E2A52"/>
                </a:solidFill>
                <a:latin typeface="Segoe UI"/>
              </a:rPr>
              <a:t>Hedging the forecast</a:t>
            </a:r>
          </a:p>
          <a:p>
            <a:pPr>
              <a:lnSpc>
                <a:spcPct val="112000"/>
              </a:lnSpc>
              <a:spcBef>
                <a:spcPts val="0"/>
              </a:spcBef>
              <a:spcAft>
                <a:spcPts val="1300"/>
              </a:spcAft>
            </a:pPr>
            <a:r>
              <a:rPr sz="1300" b="1">
                <a:solidFill>
                  <a:srgbClr val="E69F00"/>
                </a:solidFill>
                <a:latin typeface="Segoe UI"/>
              </a:rPr>
              <a:t>●  </a:t>
            </a:r>
            <a:r>
              <a:rPr sz="1700" b="0">
                <a:solidFill>
                  <a:srgbClr val="16202E"/>
                </a:solidFill>
                <a:latin typeface="Segoe UI"/>
              </a:rPr>
              <a:t>Planning a day ahead means planning under forecast error.</a:t>
            </a:r>
          </a:p>
          <a:p>
            <a:pPr>
              <a:lnSpc>
                <a:spcPct val="112000"/>
              </a:lnSpc>
              <a:spcBef>
                <a:spcPts val="0"/>
              </a:spcBef>
              <a:spcAft>
                <a:spcPts val="1300"/>
              </a:spcAft>
            </a:pPr>
            <a:r>
              <a:rPr sz="1300" b="1">
                <a:solidFill>
                  <a:srgbClr val="E69F00"/>
                </a:solidFill>
                <a:latin typeface="Segoe UI"/>
              </a:rPr>
              <a:t>●  </a:t>
            </a:r>
            <a:r>
              <a:rPr sz="1700" b="0">
                <a:solidFill>
                  <a:srgbClr val="16202E"/>
                </a:solidFill>
                <a:latin typeface="Segoe UI"/>
              </a:rPr>
              <a:t>The robust plan does not trust one forecast. It draws a ball of plausible tomorrows around it and plans against the worst one inside.</a:t>
            </a:r>
          </a:p>
          <a:p>
            <a:pPr>
              <a:lnSpc>
                <a:spcPct val="112000"/>
              </a:lnSpc>
              <a:spcBef>
                <a:spcPts val="0"/>
              </a:spcBef>
              <a:spcAft>
                <a:spcPts val="1300"/>
              </a:spcAft>
            </a:pPr>
            <a:r>
              <a:rPr sz="1300" b="1">
                <a:solidFill>
                  <a:srgbClr val="E69F00"/>
                </a:solidFill>
                <a:latin typeface="Segoe UI"/>
              </a:rPr>
              <a:t>●  </a:t>
            </a:r>
            <a:r>
              <a:rPr sz="1700" b="0">
                <a:solidFill>
                  <a:srgbClr val="16202E"/>
                </a:solidFill>
                <a:latin typeface="Segoe UI"/>
              </a:rPr>
              <a:t>Like packing for weather a bit worse than predicted.</a:t>
            </a:r>
          </a:p>
          <a:p>
            <a:pPr>
              <a:lnSpc>
                <a:spcPct val="112000"/>
              </a:lnSpc>
              <a:spcBef>
                <a:spcPts val="0"/>
              </a:spcBef>
              <a:spcAft>
                <a:spcPts val="1300"/>
              </a:spcAft>
            </a:pPr>
            <a:r>
              <a:rPr sz="1300" b="1">
                <a:solidFill>
                  <a:srgbClr val="E69F00"/>
                </a:solidFill>
                <a:latin typeface="Segoe UI"/>
              </a:rPr>
              <a:t>●  </a:t>
            </a:r>
            <a:r>
              <a:rPr sz="1700" b="1">
                <a:solidFill>
                  <a:srgbClr val="0E2A52"/>
                </a:solidFill>
                <a:latin typeface="Segoe UI"/>
              </a:rPr>
              <a:t>More caution buys protection on bad days, and costs a small premium every day. Insurance, in one dial.</a:t>
            </a:r>
          </a:p>
        </p:txBody>
      </p:sp>
      <p:sp>
        <p:nvSpPr>
          <p:cNvPr id="12" name="Rectangle 11"/>
          <p:cNvSpPr/>
          <p:nvPr/>
        </p:nvSpPr>
        <p:spPr>
          <a:xfrm>
            <a:off x="6355080" y="2057400"/>
            <a:ext cx="5257800" cy="13716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_eq_dro.png"/>
          <p:cNvPicPr>
            <a:picLocks noChangeAspect="1"/>
          </p:cNvPicPr>
          <p:nvPr/>
        </p:nvPicPr>
        <p:blipFill>
          <a:blip r:embed="rId2"/>
          <a:stretch>
            <a:fillRect/>
          </a:stretch>
        </p:blipFill>
        <p:spPr>
          <a:xfrm>
            <a:off x="6519672" y="2377440"/>
            <a:ext cx="4937760" cy="622866"/>
          </a:xfrm>
          <a:prstGeom prst="rect">
            <a:avLst/>
          </a:prstGeom>
        </p:spPr>
      </p:pic>
      <p:sp>
        <p:nvSpPr>
          <p:cNvPr id="14" name="TextBox 13"/>
          <p:cNvSpPr txBox="1"/>
          <p:nvPr/>
        </p:nvSpPr>
        <p:spPr>
          <a:xfrm>
            <a:off x="6355080" y="3703320"/>
            <a:ext cx="5257800" cy="1920240"/>
          </a:xfrm>
          <a:prstGeom prst="rect">
            <a:avLst/>
          </a:prstGeom>
          <a:noFill/>
        </p:spPr>
        <p:txBody>
          <a:bodyPr wrap="square" anchor="t" lIns="0" rIns="0" tIns="0" bIns="0">
            <a:spAutoFit/>
          </a:bodyPr>
          <a:lstStyle/>
          <a:p>
            <a:pPr algn="l">
              <a:lnSpc>
                <a:spcPct val="120000"/>
              </a:lnSpc>
              <a:spcBef>
                <a:spcPts val="0"/>
              </a:spcBef>
              <a:spcAft>
                <a:spcPts val="600"/>
              </a:spcAft>
            </a:pPr>
            <a:r>
              <a:rPr sz="1550" b="0">
                <a:solidFill>
                  <a:srgbClr val="5B6675"/>
                </a:solidFill>
                <a:latin typeface="Segoe UI"/>
              </a:rPr>
              <a:t>The first term carries the saving. The second term prices the caution. So the real question: how bad must the bad day be before the insurance pays for itself?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DECISION 3 · BUY INSURANCE?</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Insurance pays past a tripling. Observed grids fall far short.</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12</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12</a:t>
            </a:r>
          </a:p>
        </p:txBody>
      </p:sp>
      <p:pic>
        <p:nvPicPr>
          <p:cNvPr id="11" name="Picture 10" descr="crossover.png"/>
          <p:cNvPicPr>
            <a:picLocks noChangeAspect="1"/>
          </p:cNvPicPr>
          <p:nvPr/>
        </p:nvPicPr>
        <p:blipFill>
          <a:blip r:embed="rId2"/>
          <a:stretch>
            <a:fillRect/>
          </a:stretch>
        </p:blipFill>
        <p:spPr>
          <a:xfrm>
            <a:off x="566928" y="1481328"/>
            <a:ext cx="6675120" cy="4206916"/>
          </a:xfrm>
          <a:prstGeom prst="rect">
            <a:avLst/>
          </a:prstGeom>
        </p:spPr>
      </p:pic>
      <p:sp>
        <p:nvSpPr>
          <p:cNvPr id="12" name="TextBox 11"/>
          <p:cNvSpPr txBox="1"/>
          <p:nvPr/>
        </p:nvSpPr>
        <p:spPr>
          <a:xfrm>
            <a:off x="7589520" y="1554480"/>
            <a:ext cx="4023360" cy="4480560"/>
          </a:xfrm>
          <a:prstGeom prst="rect">
            <a:avLst/>
          </a:prstGeom>
          <a:noFill/>
        </p:spPr>
        <p:txBody>
          <a:bodyPr wrap="square" lIns="0" rIns="0" tIns="0" bIns="0">
            <a:spAutoFit/>
          </a:bodyPr>
          <a:lstStyle/>
          <a:p>
            <a:pPr>
              <a:lnSpc>
                <a:spcPct val="112000"/>
              </a:lnSpc>
              <a:spcBef>
                <a:spcPts val="0"/>
              </a:spcBef>
              <a:spcAft>
                <a:spcPts val="1100"/>
              </a:spcAft>
            </a:pPr>
            <a:r>
              <a:rPr sz="1150" b="1">
                <a:solidFill>
                  <a:srgbClr val="E69F00"/>
                </a:solidFill>
                <a:latin typeface="Segoe UI"/>
              </a:rPr>
              <a:t>●  </a:t>
            </a:r>
            <a:r>
              <a:rPr sz="1550" b="0">
                <a:solidFill>
                  <a:srgbClr val="16202E"/>
                </a:solidFill>
                <a:latin typeface="Segoe UI"/>
              </a:rPr>
              <a:t>We injected emergencies into the test year and turned the severity up step by step. The robust plan starts to win past M = 3: carbon spiking to triple.</a:t>
            </a:r>
          </a:p>
          <a:p>
            <a:pPr>
              <a:lnSpc>
                <a:spcPct val="112000"/>
              </a:lnSpc>
              <a:spcBef>
                <a:spcPts val="0"/>
              </a:spcBef>
              <a:spcAft>
                <a:spcPts val="1100"/>
              </a:spcAft>
            </a:pPr>
            <a:r>
              <a:rPr sz="1150" b="1">
                <a:solidFill>
                  <a:srgbClr val="E69F00"/>
                </a:solidFill>
                <a:latin typeface="Segoe UI"/>
              </a:rPr>
              <a:t>●  </a:t>
            </a:r>
            <a:r>
              <a:rPr sz="1550" b="1">
                <a:solidFill>
                  <a:srgbClr val="B3402F"/>
                </a:solidFill>
                <a:latin typeface="Segoe UI"/>
              </a:rPr>
              <a:t>Reality check, 17 zones, 5 years: the median worst spike is about 1.43 times. Even Winter Storm Uri reached only 1.28 times.</a:t>
            </a:r>
          </a:p>
          <a:p>
            <a:pPr>
              <a:lnSpc>
                <a:spcPct val="112000"/>
              </a:lnSpc>
              <a:spcBef>
                <a:spcPts val="0"/>
              </a:spcBef>
              <a:spcAft>
                <a:spcPts val="1100"/>
              </a:spcAft>
            </a:pPr>
            <a:r>
              <a:rPr sz="1150" b="1">
                <a:solidFill>
                  <a:srgbClr val="E69F00"/>
                </a:solidFill>
                <a:latin typeface="Segoe UI"/>
              </a:rPr>
              <a:t>●  </a:t>
            </a:r>
            <a:r>
              <a:rPr sz="1550" b="0">
                <a:solidFill>
                  <a:srgbClr val="16202E"/>
                </a:solidFill>
                <a:latin typeface="Segoe UI"/>
              </a:rPr>
              <a:t>One caveat, stated up front: this holds for single-region emergencies. For storms that hit every region at once, there is nowhere clean to move the work anyway.</a:t>
            </a:r>
          </a:p>
          <a:p>
            <a:pPr>
              <a:lnSpc>
                <a:spcPct val="112000"/>
              </a:lnSpc>
              <a:spcBef>
                <a:spcPts val="0"/>
              </a:spcBef>
              <a:spcAft>
                <a:spcPts val="1100"/>
              </a:spcAft>
            </a:pPr>
            <a:r>
              <a:rPr sz="1150" b="1">
                <a:solidFill>
                  <a:srgbClr val="E69F00"/>
                </a:solidFill>
                <a:latin typeface="Segoe UI"/>
              </a:rPr>
              <a:t>●  </a:t>
            </a:r>
            <a:r>
              <a:rPr sz="1550" b="1">
                <a:solidFill>
                  <a:srgbClr val="0E2A52"/>
                </a:solidFill>
                <a:latin typeface="Segoe UI"/>
              </a:rPr>
              <a:t>So robustness is an option you price, not a free win.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THE PLAYBOOK</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A decision rule the operator can use tomorrow</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13</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13</a:t>
            </a:r>
          </a:p>
        </p:txBody>
      </p:sp>
      <p:sp>
        <p:nvSpPr>
          <p:cNvPr id="11" name="Rectangle 10"/>
          <p:cNvSpPr/>
          <p:nvPr/>
        </p:nvSpPr>
        <p:spPr>
          <a:xfrm>
            <a:off x="566928" y="1481328"/>
            <a:ext cx="5391759" cy="210312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481328"/>
            <a:ext cx="118872" cy="2103120"/>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627632"/>
            <a:ext cx="488883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0E2A52"/>
                </a:solidFill>
                <a:latin typeface="Georgia"/>
              </a:rPr>
              <a:t>Layer 1 · Always</a:t>
            </a:r>
          </a:p>
        </p:txBody>
      </p:sp>
      <p:sp>
        <p:nvSpPr>
          <p:cNvPr id="14" name="TextBox 13"/>
          <p:cNvSpPr txBox="1"/>
          <p:nvPr/>
        </p:nvSpPr>
        <p:spPr>
          <a:xfrm>
            <a:off x="859536" y="2084832"/>
            <a:ext cx="4888839" cy="137159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Schedule per region, day ahead. Riding the daily carbon wave is the free baseline everyone should run.</a:t>
            </a:r>
          </a:p>
        </p:txBody>
      </p:sp>
      <p:sp>
        <p:nvSpPr>
          <p:cNvPr id="15" name="Rectangle 14"/>
          <p:cNvSpPr/>
          <p:nvPr/>
        </p:nvSpPr>
        <p:spPr>
          <a:xfrm>
            <a:off x="6233007" y="1481328"/>
            <a:ext cx="5391759" cy="210312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81328"/>
            <a:ext cx="118872" cy="210312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5615" y="1627632"/>
            <a:ext cx="488883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0E2A52"/>
                </a:solidFill>
                <a:latin typeface="Georgia"/>
              </a:rPr>
              <a:t>Layer 2 · The lever</a:t>
            </a:r>
          </a:p>
        </p:txBody>
      </p:sp>
      <p:sp>
        <p:nvSpPr>
          <p:cNvPr id="18" name="TextBox 17"/>
          <p:cNvSpPr txBox="1"/>
          <p:nvPr/>
        </p:nvSpPr>
        <p:spPr>
          <a:xfrm>
            <a:off x="6525615" y="2084832"/>
            <a:ext cx="4888839" cy="137159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Add transfer between regions: 4.0 to 9.9% off worst-day emissions. A modest channel near a 20% budget captures nearly all of it.</a:t>
            </a:r>
          </a:p>
        </p:txBody>
      </p:sp>
      <p:sp>
        <p:nvSpPr>
          <p:cNvPr id="19" name="Rectangle 18"/>
          <p:cNvSpPr/>
          <p:nvPr/>
        </p:nvSpPr>
        <p:spPr>
          <a:xfrm>
            <a:off x="566928" y="3840480"/>
            <a:ext cx="5391759" cy="210312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840480"/>
            <a:ext cx="118872" cy="2103120"/>
          </a:xfrm>
          <a:prstGeom prst="rect">
            <a:avLst/>
          </a:prstGeom>
          <a:solidFill>
            <a:srgbClr val="B3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3986784"/>
            <a:ext cx="488883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0E2A52"/>
                </a:solidFill>
                <a:latin typeface="Georgia"/>
              </a:rPr>
              <a:t>Layer 3 · Skip</a:t>
            </a:r>
          </a:p>
        </p:txBody>
      </p:sp>
      <p:sp>
        <p:nvSpPr>
          <p:cNvPr id="22" name="TextBox 21"/>
          <p:cNvSpPr txBox="1"/>
          <p:nvPr/>
        </p:nvSpPr>
        <p:spPr>
          <a:xfrm>
            <a:off x="859536" y="4443984"/>
            <a:ext cx="4888839" cy="137159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The co-movement models. Covariance and copulas add under 0.4%, below the noise, while the daily wave dominates.</a:t>
            </a:r>
          </a:p>
        </p:txBody>
      </p:sp>
      <p:sp>
        <p:nvSpPr>
          <p:cNvPr id="23" name="Rectangle 22"/>
          <p:cNvSpPr/>
          <p:nvPr/>
        </p:nvSpPr>
        <p:spPr>
          <a:xfrm>
            <a:off x="6233007" y="3840480"/>
            <a:ext cx="5391759" cy="2103120"/>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3007" y="3840480"/>
            <a:ext cx="118872" cy="210312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5615" y="3986784"/>
            <a:ext cx="488883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FFFFFF"/>
                </a:solidFill>
                <a:latin typeface="Georgia"/>
              </a:rPr>
              <a:t>Layer 4 · Conditional</a:t>
            </a:r>
          </a:p>
        </p:txBody>
      </p:sp>
      <p:sp>
        <p:nvSpPr>
          <p:cNvPr id="26" name="TextBox 25"/>
          <p:cNvSpPr txBox="1"/>
          <p:nvPr/>
        </p:nvSpPr>
        <p:spPr>
          <a:xfrm>
            <a:off x="6525615" y="4443984"/>
            <a:ext cx="4888839" cy="137159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CDD6E4"/>
                </a:solidFill>
                <a:latin typeface="Segoe UI"/>
              </a:rPr>
              <a:t>Buy robustness only if you expect emergencies past a tripling. Real grids have not come close.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WHY YOU CAN TRUST A NO</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Built so that a zero is a result, not an excuse</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14</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14</a:t>
            </a:r>
          </a:p>
        </p:txBody>
      </p:sp>
      <p:sp>
        <p:nvSpPr>
          <p:cNvPr id="11" name="TextBox 10"/>
          <p:cNvSpPr txBox="1"/>
          <p:nvPr/>
        </p:nvSpPr>
        <p:spPr>
          <a:xfrm>
            <a:off x="566928" y="1280160"/>
            <a:ext cx="11057839" cy="1417320"/>
          </a:xfrm>
          <a:prstGeom prst="rect">
            <a:avLst/>
          </a:prstGeom>
          <a:noFill/>
        </p:spPr>
        <p:txBody>
          <a:bodyPr wrap="square" anchor="t" lIns="0" rIns="0" tIns="0" bIns="0">
            <a:spAutoFit/>
          </a:bodyPr>
          <a:lstStyle/>
          <a:p>
            <a:pPr algn="l">
              <a:lnSpc>
                <a:spcPct val="124000"/>
              </a:lnSpc>
              <a:spcBef>
                <a:spcPts val="0"/>
              </a:spcBef>
              <a:spcAft>
                <a:spcPts val="600"/>
              </a:spcAft>
            </a:pPr>
            <a:r>
              <a:rPr sz="1550" b="1">
                <a:solidFill>
                  <a:srgbClr val="0E2A52"/>
                </a:solidFill>
                <a:latin typeface="Segoe UI"/>
              </a:rPr>
              <a:t>Locked first. </a:t>
            </a:r>
            <a:r>
              <a:rPr sz="1550" b="0">
                <a:solidFill>
                  <a:srgbClr val="16202E"/>
                </a:solidFill>
                <a:latin typeface="Segoe UI"/>
              </a:rPr>
              <a:t>The pass-or-fail rule went into version control before we read 2025. An equivalence test, built to prove smallness rather than just miss it, rules out any effect above 0.4%, and holds down to a 0.31% bar. A correction for testing many cells, a resampling check that keeps nearby days together, and re-runs on 2022 to 2024 all give the same zero.  </a:t>
            </a:r>
            <a:r>
              <a:rPr sz="1550" b="1">
                <a:solidFill>
                  <a:srgbClr val="B3402F"/>
                </a:solidFill>
                <a:latin typeface="Segoe UI"/>
              </a:rPr>
              <a:t>The +1.46% positive control proves the test can fire.</a:t>
            </a:r>
          </a:p>
        </p:txBody>
      </p:sp>
      <p:pic>
        <p:nvPicPr>
          <p:cNvPr id="12" name="Picture 11" descr="robustness.png"/>
          <p:cNvPicPr>
            <a:picLocks noChangeAspect="1"/>
          </p:cNvPicPr>
          <p:nvPr/>
        </p:nvPicPr>
        <p:blipFill>
          <a:blip r:embed="rId2"/>
          <a:stretch>
            <a:fillRect/>
          </a:stretch>
        </p:blipFill>
        <p:spPr>
          <a:xfrm>
            <a:off x="2029128" y="2926080"/>
            <a:ext cx="8133437" cy="3200400"/>
          </a:xfrm>
          <a:prstGeom prst="rect">
            <a:avLst/>
          </a:prstGeom>
        </p:spPr>
      </p:pic>
      <p:sp>
        <p:nvSpPr>
          <p:cNvPr id="13" name="TextBox 12"/>
          <p:cNvSpPr txBox="1"/>
          <p:nvPr/>
        </p:nvSpPr>
        <p:spPr>
          <a:xfrm>
            <a:off x="566928" y="6199632"/>
            <a:ext cx="11057839" cy="365760"/>
          </a:xfrm>
          <a:prstGeom prst="rect">
            <a:avLst/>
          </a:prstGeom>
          <a:noFill/>
        </p:spPr>
        <p:txBody>
          <a:bodyPr wrap="square" anchor="t" lIns="0" rIns="0" tIns="0" bIns="0">
            <a:spAutoFit/>
          </a:bodyPr>
          <a:lstStyle/>
          <a:p>
            <a:pPr algn="ctr">
              <a:lnSpc>
                <a:spcPct val="106000"/>
              </a:lnSpc>
              <a:spcBef>
                <a:spcPts val="0"/>
              </a:spcBef>
              <a:spcAft>
                <a:spcPts val="600"/>
              </a:spcAft>
            </a:pPr>
            <a:r>
              <a:rPr sz="1150" b="0">
                <a:solidFill>
                  <a:srgbClr val="5B6675"/>
                </a:solidFill>
                <a:latin typeface="Segoe UI"/>
              </a:rPr>
              <a:t>The gap stays inside the 0.4% band under every check, and the test had the power to catch any real gap down to 0.015 to 0.11%. Every number is archived.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WHY YOU CAN TRUST A NO</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202 tests: the thesis's claims run as code</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15</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15</a:t>
            </a:r>
          </a:p>
        </p:txBody>
      </p:sp>
      <p:sp>
        <p:nvSpPr>
          <p:cNvPr id="11" name="Rectangle 10"/>
          <p:cNvSpPr/>
          <p:nvPr/>
        </p:nvSpPr>
        <p:spPr>
          <a:xfrm>
            <a:off x="566928" y="1298448"/>
            <a:ext cx="868680" cy="6400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344168"/>
            <a:ext cx="868680" cy="548640"/>
          </a:xfrm>
          <a:prstGeom prst="rect">
            <a:avLst/>
          </a:prstGeom>
          <a:noFill/>
        </p:spPr>
        <p:txBody>
          <a:bodyPr wrap="square" anchor="ctr" lIns="0" rIns="0" tIns="0" bIns="0">
            <a:spAutoFit/>
          </a:bodyPr>
          <a:lstStyle/>
          <a:p>
            <a:pPr algn="ctr">
              <a:lnSpc>
                <a:spcPct val="106000"/>
              </a:lnSpc>
              <a:spcBef>
                <a:spcPts val="0"/>
              </a:spcBef>
              <a:spcAft>
                <a:spcPts val="600"/>
              </a:spcAft>
            </a:pPr>
            <a:r>
              <a:rPr sz="2300" b="1">
                <a:solidFill>
                  <a:srgbClr val="0E2A52"/>
                </a:solidFill>
                <a:latin typeface="Georgia"/>
              </a:rPr>
              <a:t>70</a:t>
            </a:r>
          </a:p>
        </p:txBody>
      </p:sp>
      <p:sp>
        <p:nvSpPr>
          <p:cNvPr id="13" name="TextBox 12"/>
          <p:cNvSpPr txBox="1"/>
          <p:nvPr/>
        </p:nvSpPr>
        <p:spPr>
          <a:xfrm>
            <a:off x="1627632" y="1280160"/>
            <a:ext cx="9966960" cy="365760"/>
          </a:xfrm>
          <a:prstGeom prst="rect">
            <a:avLst/>
          </a:prstGeom>
          <a:noFill/>
        </p:spPr>
        <p:txBody>
          <a:bodyPr wrap="square" anchor="t" lIns="0" rIns="0" tIns="0" bIns="0">
            <a:spAutoFit/>
          </a:bodyPr>
          <a:lstStyle/>
          <a:p>
            <a:pPr algn="l">
              <a:lnSpc>
                <a:spcPct val="104000"/>
              </a:lnSpc>
              <a:spcBef>
                <a:spcPts val="0"/>
              </a:spcBef>
              <a:spcAft>
                <a:spcPts val="600"/>
              </a:spcAft>
            </a:pPr>
            <a:r>
              <a:rPr sz="1400" b="1">
                <a:solidFill>
                  <a:srgbClr val="0E2A52"/>
                </a:solidFill>
                <a:latin typeface="Segoe UI"/>
              </a:rPr>
              <a:t>Models against known answers.  </a:t>
            </a:r>
            <a:r>
              <a:rPr sz="1300" b="0">
                <a:solidFill>
                  <a:srgbClr val="16202E"/>
                </a:solidFill>
                <a:latin typeface="Segoe UI"/>
              </a:rPr>
              <a:t>every scheduler is solved on small test problems where we know the exact best answer, and must match it</a:t>
            </a:r>
          </a:p>
        </p:txBody>
      </p:sp>
      <p:sp>
        <p:nvSpPr>
          <p:cNvPr id="14" name="Rectangle 13"/>
          <p:cNvSpPr/>
          <p:nvPr/>
        </p:nvSpPr>
        <p:spPr>
          <a:xfrm>
            <a:off x="566928" y="2066543"/>
            <a:ext cx="868680" cy="6400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112263"/>
            <a:ext cx="868680" cy="548640"/>
          </a:xfrm>
          <a:prstGeom prst="rect">
            <a:avLst/>
          </a:prstGeom>
          <a:noFill/>
        </p:spPr>
        <p:txBody>
          <a:bodyPr wrap="square" anchor="ctr" lIns="0" rIns="0" tIns="0" bIns="0">
            <a:spAutoFit/>
          </a:bodyPr>
          <a:lstStyle/>
          <a:p>
            <a:pPr algn="ctr">
              <a:lnSpc>
                <a:spcPct val="106000"/>
              </a:lnSpc>
              <a:spcBef>
                <a:spcPts val="0"/>
              </a:spcBef>
              <a:spcAft>
                <a:spcPts val="600"/>
              </a:spcAft>
            </a:pPr>
            <a:r>
              <a:rPr sz="2300" b="1">
                <a:solidFill>
                  <a:srgbClr val="0E2A52"/>
                </a:solidFill>
                <a:latin typeface="Georgia"/>
              </a:rPr>
              <a:t>59</a:t>
            </a:r>
          </a:p>
        </p:txBody>
      </p:sp>
      <p:sp>
        <p:nvSpPr>
          <p:cNvPr id="16" name="TextBox 15"/>
          <p:cNvSpPr txBox="1"/>
          <p:nvPr/>
        </p:nvSpPr>
        <p:spPr>
          <a:xfrm>
            <a:off x="1627632" y="2048255"/>
            <a:ext cx="9966960" cy="365760"/>
          </a:xfrm>
          <a:prstGeom prst="rect">
            <a:avLst/>
          </a:prstGeom>
          <a:noFill/>
        </p:spPr>
        <p:txBody>
          <a:bodyPr wrap="square" anchor="t" lIns="0" rIns="0" tIns="0" bIns="0">
            <a:spAutoFit/>
          </a:bodyPr>
          <a:lstStyle/>
          <a:p>
            <a:pPr algn="l">
              <a:lnSpc>
                <a:spcPct val="104000"/>
              </a:lnSpc>
              <a:spcBef>
                <a:spcPts val="0"/>
              </a:spcBef>
              <a:spcAft>
                <a:spcPts val="600"/>
              </a:spcAft>
            </a:pPr>
            <a:r>
              <a:rPr sz="1400" b="1">
                <a:solidFill>
                  <a:srgbClr val="0E2A52"/>
                </a:solidFill>
                <a:latin typeface="Segoe UI"/>
              </a:rPr>
              <a:t>Covariance and dependence tools.  </a:t>
            </a:r>
            <a:r>
              <a:rPr sz="1300" b="0">
                <a:solidFill>
                  <a:srgbClr val="16202E"/>
                </a:solidFill>
                <a:latin typeface="Segoe UI"/>
              </a:rPr>
              <a:t>the estimators, the link-destroying shuffle, the correlation and tail measures</a:t>
            </a:r>
          </a:p>
        </p:txBody>
      </p:sp>
      <p:sp>
        <p:nvSpPr>
          <p:cNvPr id="17" name="Rectangle 16"/>
          <p:cNvSpPr/>
          <p:nvPr/>
        </p:nvSpPr>
        <p:spPr>
          <a:xfrm>
            <a:off x="566928" y="2834639"/>
            <a:ext cx="868680" cy="6400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880359"/>
            <a:ext cx="868680" cy="548640"/>
          </a:xfrm>
          <a:prstGeom prst="rect">
            <a:avLst/>
          </a:prstGeom>
          <a:noFill/>
        </p:spPr>
        <p:txBody>
          <a:bodyPr wrap="square" anchor="ctr" lIns="0" rIns="0" tIns="0" bIns="0">
            <a:spAutoFit/>
          </a:bodyPr>
          <a:lstStyle/>
          <a:p>
            <a:pPr algn="ctr">
              <a:lnSpc>
                <a:spcPct val="106000"/>
              </a:lnSpc>
              <a:spcBef>
                <a:spcPts val="0"/>
              </a:spcBef>
              <a:spcAft>
                <a:spcPts val="600"/>
              </a:spcAft>
            </a:pPr>
            <a:r>
              <a:rPr sz="2300" b="1">
                <a:solidFill>
                  <a:srgbClr val="0E2A52"/>
                </a:solidFill>
                <a:latin typeface="Georgia"/>
              </a:rPr>
              <a:t>25</a:t>
            </a:r>
          </a:p>
        </p:txBody>
      </p:sp>
      <p:sp>
        <p:nvSpPr>
          <p:cNvPr id="19" name="TextBox 18"/>
          <p:cNvSpPr txBox="1"/>
          <p:nvPr/>
        </p:nvSpPr>
        <p:spPr>
          <a:xfrm>
            <a:off x="1627632" y="2816351"/>
            <a:ext cx="9966960" cy="365760"/>
          </a:xfrm>
          <a:prstGeom prst="rect">
            <a:avLst/>
          </a:prstGeom>
          <a:noFill/>
        </p:spPr>
        <p:txBody>
          <a:bodyPr wrap="square" anchor="t" lIns="0" rIns="0" tIns="0" bIns="0">
            <a:spAutoFit/>
          </a:bodyPr>
          <a:lstStyle/>
          <a:p>
            <a:pPr algn="l">
              <a:lnSpc>
                <a:spcPct val="104000"/>
              </a:lnSpc>
              <a:spcBef>
                <a:spcPts val="0"/>
              </a:spcBef>
              <a:spcAft>
                <a:spcPts val="600"/>
              </a:spcAft>
            </a:pPr>
            <a:r>
              <a:rPr sz="1400" b="1">
                <a:solidFill>
                  <a:srgbClr val="0E2A52"/>
                </a:solidFill>
                <a:latin typeface="Segoe UI"/>
              </a:rPr>
              <a:t>The shared rulebook.  </a:t>
            </a:r>
            <a:r>
              <a:rPr sz="1300" b="0">
                <a:solidFill>
                  <a:srgbClr val="16202E"/>
                </a:solidFill>
                <a:latin typeface="Segoe UI"/>
              </a:rPr>
              <a:t>capacity, ramp and budget constraints. The fair-test rule, enforced in code</a:t>
            </a:r>
          </a:p>
        </p:txBody>
      </p:sp>
      <p:sp>
        <p:nvSpPr>
          <p:cNvPr id="20" name="Rectangle 19"/>
          <p:cNvSpPr/>
          <p:nvPr/>
        </p:nvSpPr>
        <p:spPr>
          <a:xfrm>
            <a:off x="566928" y="3602735"/>
            <a:ext cx="868680" cy="6400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648455"/>
            <a:ext cx="868680" cy="548640"/>
          </a:xfrm>
          <a:prstGeom prst="rect">
            <a:avLst/>
          </a:prstGeom>
          <a:noFill/>
        </p:spPr>
        <p:txBody>
          <a:bodyPr wrap="square" anchor="ctr" lIns="0" rIns="0" tIns="0" bIns="0">
            <a:spAutoFit/>
          </a:bodyPr>
          <a:lstStyle/>
          <a:p>
            <a:pPr algn="ctr">
              <a:lnSpc>
                <a:spcPct val="106000"/>
              </a:lnSpc>
              <a:spcBef>
                <a:spcPts val="0"/>
              </a:spcBef>
              <a:spcAft>
                <a:spcPts val="600"/>
              </a:spcAft>
            </a:pPr>
            <a:r>
              <a:rPr sz="2300" b="1">
                <a:solidFill>
                  <a:srgbClr val="5B6675"/>
                </a:solidFill>
                <a:latin typeface="Georgia"/>
              </a:rPr>
              <a:t>16</a:t>
            </a:r>
          </a:p>
        </p:txBody>
      </p:sp>
      <p:sp>
        <p:nvSpPr>
          <p:cNvPr id="22" name="TextBox 21"/>
          <p:cNvSpPr txBox="1"/>
          <p:nvPr/>
        </p:nvSpPr>
        <p:spPr>
          <a:xfrm>
            <a:off x="1627632" y="3584447"/>
            <a:ext cx="9966960" cy="365760"/>
          </a:xfrm>
          <a:prstGeom prst="rect">
            <a:avLst/>
          </a:prstGeom>
          <a:noFill/>
        </p:spPr>
        <p:txBody>
          <a:bodyPr wrap="square" anchor="t" lIns="0" rIns="0" tIns="0" bIns="0">
            <a:spAutoFit/>
          </a:bodyPr>
          <a:lstStyle/>
          <a:p>
            <a:pPr algn="l">
              <a:lnSpc>
                <a:spcPct val="104000"/>
              </a:lnSpc>
              <a:spcBef>
                <a:spcPts val="0"/>
              </a:spcBef>
              <a:spcAft>
                <a:spcPts val="600"/>
              </a:spcAft>
            </a:pPr>
            <a:r>
              <a:rPr sz="1400" b="1">
                <a:solidFill>
                  <a:srgbClr val="0E2A52"/>
                </a:solidFill>
                <a:latin typeface="Segoe UI"/>
              </a:rPr>
              <a:t>Data pipelines.  </a:t>
            </a:r>
            <a:r>
              <a:rPr sz="1300" b="0">
                <a:solidFill>
                  <a:srgbClr val="16202E"/>
                </a:solidFill>
                <a:latin typeface="Segoe UI"/>
              </a:rPr>
              <a:t>loading the carbon data (13 tests need the licensed files, so the automatic test runner runs 189) and the weather data (3)</a:t>
            </a:r>
          </a:p>
        </p:txBody>
      </p:sp>
      <p:sp>
        <p:nvSpPr>
          <p:cNvPr id="23" name="Rectangle 22"/>
          <p:cNvSpPr/>
          <p:nvPr/>
        </p:nvSpPr>
        <p:spPr>
          <a:xfrm>
            <a:off x="566928" y="4370831"/>
            <a:ext cx="868680" cy="6400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4416551"/>
            <a:ext cx="868680" cy="548640"/>
          </a:xfrm>
          <a:prstGeom prst="rect">
            <a:avLst/>
          </a:prstGeom>
          <a:noFill/>
        </p:spPr>
        <p:txBody>
          <a:bodyPr wrap="square" anchor="ctr" lIns="0" rIns="0" tIns="0" bIns="0">
            <a:spAutoFit/>
          </a:bodyPr>
          <a:lstStyle/>
          <a:p>
            <a:pPr algn="ctr">
              <a:lnSpc>
                <a:spcPct val="106000"/>
              </a:lnSpc>
              <a:spcBef>
                <a:spcPts val="0"/>
              </a:spcBef>
              <a:spcAft>
                <a:spcPts val="600"/>
              </a:spcAft>
            </a:pPr>
            <a:r>
              <a:rPr sz="2300" b="1">
                <a:solidFill>
                  <a:srgbClr val="B3402F"/>
                </a:solidFill>
                <a:latin typeface="Georgia"/>
              </a:rPr>
              <a:t>11</a:t>
            </a:r>
          </a:p>
        </p:txBody>
      </p:sp>
      <p:sp>
        <p:nvSpPr>
          <p:cNvPr id="25" name="TextBox 24"/>
          <p:cNvSpPr txBox="1"/>
          <p:nvPr/>
        </p:nvSpPr>
        <p:spPr>
          <a:xfrm>
            <a:off x="1627632" y="4352544"/>
            <a:ext cx="9966960" cy="365760"/>
          </a:xfrm>
          <a:prstGeom prst="rect">
            <a:avLst/>
          </a:prstGeom>
          <a:noFill/>
        </p:spPr>
        <p:txBody>
          <a:bodyPr wrap="square" anchor="t" lIns="0" rIns="0" tIns="0" bIns="0">
            <a:spAutoFit/>
          </a:bodyPr>
          <a:lstStyle/>
          <a:p>
            <a:pPr algn="l">
              <a:lnSpc>
                <a:spcPct val="104000"/>
              </a:lnSpc>
              <a:spcBef>
                <a:spcPts val="0"/>
              </a:spcBef>
              <a:spcAft>
                <a:spcPts val="600"/>
              </a:spcAft>
            </a:pPr>
            <a:r>
              <a:rPr sz="1400" b="1">
                <a:solidFill>
                  <a:srgbClr val="0E2A52"/>
                </a:solidFill>
                <a:latin typeface="Segoe UI"/>
              </a:rPr>
              <a:t>The thesis's math, run as tests.  </a:t>
            </a:r>
            <a:r>
              <a:rPr sz="1300" b="0">
                <a:solidFill>
                  <a:srgbClr val="16202E"/>
                </a:solidFill>
                <a:latin typeface="Segoe UI"/>
              </a:rPr>
              <a:t>key claims from the thesis are checked by code on every push. If a claim breaks, the build goes red</a:t>
            </a:r>
          </a:p>
        </p:txBody>
      </p:sp>
      <p:sp>
        <p:nvSpPr>
          <p:cNvPr id="26" name="Rectangle 25"/>
          <p:cNvSpPr/>
          <p:nvPr/>
        </p:nvSpPr>
        <p:spPr>
          <a:xfrm>
            <a:off x="566928" y="5138927"/>
            <a:ext cx="868680" cy="6400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5184647"/>
            <a:ext cx="868680" cy="548640"/>
          </a:xfrm>
          <a:prstGeom prst="rect">
            <a:avLst/>
          </a:prstGeom>
          <a:noFill/>
        </p:spPr>
        <p:txBody>
          <a:bodyPr wrap="square" anchor="ctr" lIns="0" rIns="0" tIns="0" bIns="0">
            <a:spAutoFit/>
          </a:bodyPr>
          <a:lstStyle/>
          <a:p>
            <a:pPr algn="ctr">
              <a:lnSpc>
                <a:spcPct val="106000"/>
              </a:lnSpc>
              <a:spcBef>
                <a:spcPts val="0"/>
              </a:spcBef>
              <a:spcAft>
                <a:spcPts val="600"/>
              </a:spcAft>
            </a:pPr>
            <a:r>
              <a:rPr sz="2300" b="1">
                <a:solidFill>
                  <a:srgbClr val="0E2A52"/>
                </a:solidFill>
                <a:latin typeface="Georgia"/>
              </a:rPr>
              <a:t>21</a:t>
            </a:r>
          </a:p>
        </p:txBody>
      </p:sp>
      <p:sp>
        <p:nvSpPr>
          <p:cNvPr id="28" name="TextBox 27"/>
          <p:cNvSpPr txBox="1"/>
          <p:nvPr/>
        </p:nvSpPr>
        <p:spPr>
          <a:xfrm>
            <a:off x="1627632" y="5120640"/>
            <a:ext cx="9966960" cy="365760"/>
          </a:xfrm>
          <a:prstGeom prst="rect">
            <a:avLst/>
          </a:prstGeom>
          <a:noFill/>
        </p:spPr>
        <p:txBody>
          <a:bodyPr wrap="square" anchor="t" lIns="0" rIns="0" tIns="0" bIns="0">
            <a:spAutoFit/>
          </a:bodyPr>
          <a:lstStyle/>
          <a:p>
            <a:pPr algn="l">
              <a:lnSpc>
                <a:spcPct val="104000"/>
              </a:lnSpc>
              <a:spcBef>
                <a:spcPts val="0"/>
              </a:spcBef>
              <a:spcAft>
                <a:spcPts val="600"/>
              </a:spcAft>
            </a:pPr>
            <a:r>
              <a:rPr sz="1400" b="1">
                <a:solidFill>
                  <a:srgbClr val="0E2A52"/>
                </a:solidFill>
                <a:latin typeface="Segoe UI"/>
              </a:rPr>
              <a:t>Frozen numbers and guards.  </a:t>
            </a:r>
            <a:r>
              <a:rPr sz="1300" b="0">
                <a:solidFill>
                  <a:srgbClr val="16202E"/>
                </a:solidFill>
                <a:latin typeface="Segoe UI"/>
              </a:rPr>
              <a:t>the headline numbers are re-checked against their archived files, so nothing can drift quietly</a:t>
            </a:r>
          </a:p>
        </p:txBody>
      </p:sp>
      <p:sp>
        <p:nvSpPr>
          <p:cNvPr id="29" name="TextBox 28"/>
          <p:cNvSpPr txBox="1"/>
          <p:nvPr/>
        </p:nvSpPr>
        <p:spPr>
          <a:xfrm>
            <a:off x="566928" y="5907023"/>
            <a:ext cx="10881360" cy="457200"/>
          </a:xfrm>
          <a:prstGeom prst="rect">
            <a:avLst/>
          </a:prstGeom>
          <a:noFill/>
        </p:spPr>
        <p:txBody>
          <a:bodyPr wrap="square" anchor="t" lIns="0" rIns="0" tIns="0" bIns="0">
            <a:spAutoFit/>
          </a:bodyPr>
          <a:lstStyle/>
          <a:p>
            <a:pPr algn="l">
              <a:lnSpc>
                <a:spcPct val="108000"/>
              </a:lnSpc>
              <a:spcBef>
                <a:spcPts val="0"/>
              </a:spcBef>
              <a:spcAft>
                <a:spcPts val="600"/>
              </a:spcAft>
            </a:pPr>
            <a:r>
              <a:rPr sz="1450" b="1">
                <a:solidFill>
                  <a:srgbClr val="0E2A52"/>
                </a:solidFill>
                <a:latin typeface="Georgia"/>
              </a:rPr>
              <a:t>Why so many? Because the weak point of finding nothing is: you did not look hard enough. The tests are how we prove we looked.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THE CONTRIBUTION</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What this thesis adds</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16</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16</a:t>
            </a:r>
          </a:p>
        </p:txBody>
      </p:sp>
      <p:sp>
        <p:nvSpPr>
          <p:cNvPr id="11" name="Rectangle 10"/>
          <p:cNvSpPr/>
          <p:nvPr/>
        </p:nvSpPr>
        <p:spPr>
          <a:xfrm>
            <a:off x="566928" y="1481328"/>
            <a:ext cx="11057839" cy="1691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481328"/>
            <a:ext cx="118872" cy="169164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627632"/>
            <a:ext cx="1055491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0E2A52"/>
                </a:solidFill>
                <a:latin typeface="Georgia"/>
              </a:rPr>
              <a:t>1. A rule for when the dependence layer can pay</a:t>
            </a:r>
          </a:p>
        </p:txBody>
      </p:sp>
      <p:sp>
        <p:nvSpPr>
          <p:cNvPr id="14" name="TextBox 13"/>
          <p:cNvSpPr txBox="1"/>
          <p:nvPr/>
        </p:nvSpPr>
        <p:spPr>
          <a:xfrm>
            <a:off x="859536" y="2084832"/>
            <a:ext cx="10554919" cy="96011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It can only pay when the ripple rivals the wave. We show how to split the score into the big daily wave and the small leftover ripple, give a limit you can check before touching any data, and back it with a measurement that has a working positive control. Carbon grids are not in that regime, and that is a rule about a whole class of problems, not one number.</a:t>
            </a:r>
          </a:p>
        </p:txBody>
      </p:sp>
      <p:sp>
        <p:nvSpPr>
          <p:cNvPr id="15" name="Rectangle 14"/>
          <p:cNvSpPr/>
          <p:nvPr/>
        </p:nvSpPr>
        <p:spPr>
          <a:xfrm>
            <a:off x="566928" y="3364992"/>
            <a:ext cx="11057839" cy="1691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364992"/>
            <a:ext cx="118872" cy="1691640"/>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3511296"/>
            <a:ext cx="1055491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0E2A52"/>
                </a:solidFill>
                <a:latin typeface="Georgia"/>
              </a:rPr>
              <a:t>2. A fair way to price a modelling layer</a:t>
            </a:r>
          </a:p>
        </p:txBody>
      </p:sp>
      <p:sp>
        <p:nvSpPr>
          <p:cNvPr id="18" name="TextBox 17"/>
          <p:cNvSpPr txBox="1"/>
          <p:nvPr/>
        </p:nvSpPr>
        <p:spPr>
          <a:xfrm>
            <a:off x="859536" y="3968496"/>
            <a:ext cx="10554919" cy="960119"/>
          </a:xfrm>
          <a:prstGeom prst="rect">
            <a:avLst/>
          </a:prstGeom>
          <a:noFill/>
        </p:spPr>
        <p:txBody>
          <a:bodyPr wrap="square" anchor="t" lIns="0" rIns="0" tIns="0" bIns="0">
            <a:spAutoFit/>
          </a:bodyPr>
          <a:lstStyle/>
          <a:p>
            <a:pPr algn="l">
              <a:lnSpc>
                <a:spcPct val="114000"/>
              </a:lnSpc>
              <a:spcBef>
                <a:spcPts val="0"/>
              </a:spcBef>
              <a:spcAft>
                <a:spcPts val="600"/>
              </a:spcAft>
            </a:pPr>
            <a:r>
              <a:rPr sz="1450" b="0">
                <a:solidFill>
                  <a:srgbClr val="16202E"/>
                </a:solidFill>
                <a:latin typeface="Segoe UI"/>
              </a:rPr>
              <a:t>Lock the pass-or-fail rule first. Keep everything else identical. Compare against a like-for-like baseline and an economic bar. The field added this layer by default. We put a price on it.</a:t>
            </a:r>
          </a:p>
        </p:txBody>
      </p:sp>
      <p:sp>
        <p:nvSpPr>
          <p:cNvPr id="19" name="TextBox 18"/>
          <p:cNvSpPr txBox="1"/>
          <p:nvPr/>
        </p:nvSpPr>
        <p:spPr>
          <a:xfrm>
            <a:off x="566928" y="5285232"/>
            <a:ext cx="11057839" cy="914400"/>
          </a:xfrm>
          <a:prstGeom prst="rect">
            <a:avLst/>
          </a:prstGeom>
          <a:noFill/>
        </p:spPr>
        <p:txBody>
          <a:bodyPr wrap="square" anchor="t" lIns="0" rIns="0" tIns="0" bIns="0">
            <a:spAutoFit/>
          </a:bodyPr>
          <a:lstStyle/>
          <a:p>
            <a:pPr algn="l">
              <a:lnSpc>
                <a:spcPct val="120000"/>
              </a:lnSpc>
              <a:spcBef>
                <a:spcPts val="0"/>
              </a:spcBef>
              <a:spcAft>
                <a:spcPts val="600"/>
              </a:spcAft>
            </a:pPr>
            <a:r>
              <a:rPr sz="1600" b="0">
                <a:solidFill>
                  <a:srgbClr val="16202E"/>
                </a:solidFill>
                <a:latin typeface="Segoe UI"/>
              </a:rPr>
              <a:t>Plus: the measured 4.0 to 9.9% transfer saving, the priced robustness rule, and a pipeline anyone can re-run. 202 tests, archived numbers, free solvers.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WHERE IT COULD BREAK</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Stated plainly</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17</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17</a:t>
            </a:r>
          </a:p>
        </p:txBody>
      </p:sp>
      <p:sp>
        <p:nvSpPr>
          <p:cNvPr id="11" name="TextBox 10"/>
          <p:cNvSpPr txBox="1"/>
          <p:nvPr/>
        </p:nvSpPr>
        <p:spPr>
          <a:xfrm>
            <a:off x="566928" y="1554480"/>
            <a:ext cx="11057839" cy="4389120"/>
          </a:xfrm>
          <a:prstGeom prst="rect">
            <a:avLst/>
          </a:prstGeom>
          <a:noFill/>
        </p:spPr>
        <p:txBody>
          <a:bodyPr wrap="square" lIns="0" rIns="0" tIns="0" bIns="0">
            <a:spAutoFit/>
          </a:bodyPr>
          <a:lstStyle/>
          <a:p>
            <a:pPr>
              <a:lnSpc>
                <a:spcPct val="112000"/>
              </a:lnSpc>
              <a:spcBef>
                <a:spcPts val="0"/>
              </a:spcBef>
              <a:spcAft>
                <a:spcPts val="1600"/>
              </a:spcAft>
            </a:pPr>
            <a:r>
              <a:rPr sz="1350" b="1">
                <a:solidFill>
                  <a:srgbClr val="E69F00"/>
                </a:solidFill>
                <a:latin typeface="Segoe UI"/>
              </a:rPr>
              <a:t>●  </a:t>
            </a:r>
            <a:r>
              <a:rPr sz="1750" b="0">
                <a:solidFill>
                  <a:srgbClr val="16202E"/>
                </a:solidFill>
                <a:latin typeface="Segoe UI"/>
              </a:rPr>
              <a:t>One workload shape: jobs that can split across hours and sites, with ramp limits. A very different cost shape could change the answer.</a:t>
            </a:r>
          </a:p>
          <a:p>
            <a:pPr>
              <a:lnSpc>
                <a:spcPct val="112000"/>
              </a:lnSpc>
              <a:spcBef>
                <a:spcPts val="0"/>
              </a:spcBef>
              <a:spcAft>
                <a:spcPts val="1600"/>
              </a:spcAft>
            </a:pPr>
            <a:r>
              <a:rPr sz="1350" b="1">
                <a:solidFill>
                  <a:srgbClr val="E69F00"/>
                </a:solidFill>
                <a:latin typeface="Segoe UI"/>
              </a:rPr>
              <a:t>●  </a:t>
            </a:r>
            <a:r>
              <a:rPr sz="1750" b="0">
                <a:solidFill>
                  <a:srgbClr val="16202E"/>
                </a:solidFill>
                <a:latin typeface="Segoe UI"/>
              </a:rPr>
              <a:t>One main test year. Re-runs on 2022 to 2024 agree, but the truly independent evidence is a handful of yearly reads, not 362 days. A longer evaluation is the named next step.</a:t>
            </a:r>
          </a:p>
          <a:p>
            <a:pPr>
              <a:lnSpc>
                <a:spcPct val="112000"/>
              </a:lnSpc>
              <a:spcBef>
                <a:spcPts val="0"/>
              </a:spcBef>
              <a:spcAft>
                <a:spcPts val="1600"/>
              </a:spcAft>
            </a:pPr>
            <a:r>
              <a:rPr sz="1350" b="1">
                <a:solidFill>
                  <a:srgbClr val="E69F00"/>
                </a:solidFill>
                <a:latin typeface="Segoe UI"/>
              </a:rPr>
              <a:t>●  </a:t>
            </a:r>
            <a:r>
              <a:rPr sz="1750" b="0">
                <a:solidFill>
                  <a:srgbClr val="16202E"/>
                </a:solidFill>
                <a:latin typeface="Segoe UI"/>
              </a:rPr>
              <a:t>A pattern, not a law: the rule holds where the daily wave dominates. That is every grid we measured, but we hand you the check, not a theorem.</a:t>
            </a:r>
          </a:p>
          <a:p>
            <a:pPr>
              <a:lnSpc>
                <a:spcPct val="112000"/>
              </a:lnSpc>
              <a:spcBef>
                <a:spcPts val="0"/>
              </a:spcBef>
              <a:spcAft>
                <a:spcPts val="1600"/>
              </a:spcAft>
            </a:pPr>
            <a:r>
              <a:rPr sz="1350" b="1">
                <a:solidFill>
                  <a:srgbClr val="E69F00"/>
                </a:solidFill>
                <a:latin typeface="Segoe UI"/>
              </a:rPr>
              <a:t>●  </a:t>
            </a:r>
            <a:r>
              <a:rPr sz="1750" b="0">
                <a:solidFill>
                  <a:srgbClr val="16202E"/>
                </a:solidFill>
                <a:latin typeface="Segoe UI"/>
              </a:rPr>
              <a:t>The crossover is characterized, not observed: no real grid in our data ever crossed it. It is reported at the pre-committed caution and tail level, not tuned to a number, and we say exactly where that line 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2A52"/>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777240"/>
            <a:ext cx="10424160" cy="914400"/>
          </a:xfrm>
          <a:prstGeom prst="rect">
            <a:avLst/>
          </a:prstGeom>
          <a:noFill/>
        </p:spPr>
        <p:txBody>
          <a:bodyPr wrap="square" anchor="t" lIns="0" rIns="0" tIns="0" bIns="0">
            <a:spAutoFit/>
          </a:bodyPr>
          <a:lstStyle/>
          <a:p>
            <a:pPr algn="l">
              <a:lnSpc>
                <a:spcPct val="106000"/>
              </a:lnSpc>
              <a:spcBef>
                <a:spcPts val="0"/>
              </a:spcBef>
              <a:spcAft>
                <a:spcPts val="600"/>
              </a:spcAft>
            </a:pPr>
            <a:r>
              <a:rPr sz="3200" b="1">
                <a:solidFill>
                  <a:srgbClr val="FFFFFF"/>
                </a:solidFill>
                <a:latin typeface="Georgia"/>
              </a:rPr>
              <a:t>The rule in one line</a:t>
            </a:r>
          </a:p>
        </p:txBody>
      </p:sp>
      <p:sp>
        <p:nvSpPr>
          <p:cNvPr id="4" name="Rectangle 3"/>
          <p:cNvSpPr/>
          <p:nvPr/>
        </p:nvSpPr>
        <p:spPr>
          <a:xfrm>
            <a:off x="868680" y="1572768"/>
            <a:ext cx="2377440" cy="4572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10424160" cy="822960"/>
          </a:xfrm>
          <a:prstGeom prst="rect">
            <a:avLst/>
          </a:prstGeom>
          <a:noFill/>
        </p:spPr>
        <p:txBody>
          <a:bodyPr wrap="square" anchor="t" lIns="0" rIns="0" tIns="0" bIns="0">
            <a:spAutoFit/>
          </a:bodyPr>
          <a:lstStyle/>
          <a:p>
            <a:pPr algn="l">
              <a:lnSpc>
                <a:spcPct val="112000"/>
              </a:lnSpc>
              <a:spcBef>
                <a:spcPts val="0"/>
              </a:spcBef>
              <a:spcAft>
                <a:spcPts val="600"/>
              </a:spcAft>
            </a:pPr>
            <a:r>
              <a:rPr sz="2000" b="1">
                <a:solidFill>
                  <a:srgbClr val="E69F00"/>
                </a:solidFill>
                <a:latin typeface="Georgia"/>
              </a:rPr>
              <a:t>Fancier is not safer. It is a bill, and it pays only when the ripple rivals the wave.</a:t>
            </a:r>
          </a:p>
        </p:txBody>
      </p:sp>
      <p:sp>
        <p:nvSpPr>
          <p:cNvPr id="6" name="TextBox 5"/>
          <p:cNvSpPr txBox="1"/>
          <p:nvPr/>
        </p:nvSpPr>
        <p:spPr>
          <a:xfrm>
            <a:off x="868680" y="2743200"/>
            <a:ext cx="10424160" cy="2468880"/>
          </a:xfrm>
          <a:prstGeom prst="rect">
            <a:avLst/>
          </a:prstGeom>
          <a:noFill/>
        </p:spPr>
        <p:txBody>
          <a:bodyPr wrap="square" lIns="0" rIns="0" tIns="0" bIns="0">
            <a:spAutoFit/>
          </a:bodyPr>
          <a:lstStyle/>
          <a:p>
            <a:pPr>
              <a:lnSpc>
                <a:spcPct val="112000"/>
              </a:lnSpc>
              <a:spcBef>
                <a:spcPts val="0"/>
              </a:spcBef>
              <a:spcAft>
                <a:spcPts val="1300"/>
              </a:spcAft>
            </a:pPr>
            <a:r>
              <a:rPr sz="1400" b="1">
                <a:solidFill>
                  <a:srgbClr val="E69F00"/>
                </a:solidFill>
                <a:latin typeface="Segoe UI"/>
              </a:rPr>
              <a:t>●  </a:t>
            </a:r>
            <a:r>
              <a:rPr sz="1800" b="0">
                <a:solidFill>
                  <a:srgbClr val="CDD6E4"/>
                </a:solidFill>
                <a:latin typeface="Segoe UI"/>
              </a:rPr>
              <a:t>Always schedule with the daily wave.</a:t>
            </a:r>
          </a:p>
          <a:p>
            <a:pPr>
              <a:lnSpc>
                <a:spcPct val="112000"/>
              </a:lnSpc>
              <a:spcBef>
                <a:spcPts val="0"/>
              </a:spcBef>
              <a:spcAft>
                <a:spcPts val="1300"/>
              </a:spcAft>
            </a:pPr>
            <a:r>
              <a:rPr sz="1400" b="1">
                <a:solidFill>
                  <a:srgbClr val="E69F00"/>
                </a:solidFill>
                <a:latin typeface="Segoe UI"/>
              </a:rPr>
              <a:t>●  </a:t>
            </a:r>
            <a:r>
              <a:rPr sz="1800" b="1">
                <a:solidFill>
                  <a:srgbClr val="E69F00"/>
                </a:solidFill>
                <a:latin typeface="Segoe UI"/>
              </a:rPr>
              <a:t>Add the transfer channel. That is the lever: 4.0 to 9.9%.</a:t>
            </a:r>
          </a:p>
          <a:p>
            <a:pPr>
              <a:lnSpc>
                <a:spcPct val="112000"/>
              </a:lnSpc>
              <a:spcBef>
                <a:spcPts val="0"/>
              </a:spcBef>
              <a:spcAft>
                <a:spcPts val="1300"/>
              </a:spcAft>
            </a:pPr>
            <a:r>
              <a:rPr sz="1400" b="1">
                <a:solidFill>
                  <a:srgbClr val="E69F00"/>
                </a:solidFill>
                <a:latin typeface="Segoe UI"/>
              </a:rPr>
              <a:t>●  </a:t>
            </a:r>
            <a:r>
              <a:rPr sz="1800" b="0">
                <a:solidFill>
                  <a:srgbClr val="CDD6E4"/>
                </a:solidFill>
                <a:latin typeface="Segoe UI"/>
              </a:rPr>
              <a:t>Skip the co-movement models: under 0.4%, below the noise.</a:t>
            </a:r>
          </a:p>
          <a:p>
            <a:pPr>
              <a:lnSpc>
                <a:spcPct val="112000"/>
              </a:lnSpc>
              <a:spcBef>
                <a:spcPts val="0"/>
              </a:spcBef>
              <a:spcAft>
                <a:spcPts val="1300"/>
              </a:spcAft>
            </a:pPr>
            <a:r>
              <a:rPr sz="1400" b="1">
                <a:solidFill>
                  <a:srgbClr val="E69F00"/>
                </a:solidFill>
                <a:latin typeface="Segoe UI"/>
              </a:rPr>
              <a:t>●  </a:t>
            </a:r>
            <a:r>
              <a:rPr sz="1800" b="0">
                <a:solidFill>
                  <a:srgbClr val="CDD6E4"/>
                </a:solidFill>
                <a:latin typeface="Segoe UI"/>
              </a:rPr>
              <a:t>Buy robustness only past a tripling. Real grids are not there.</a:t>
            </a:r>
          </a:p>
        </p:txBody>
      </p:sp>
      <p:sp>
        <p:nvSpPr>
          <p:cNvPr id="7" name="TextBox 6"/>
          <p:cNvSpPr txBox="1"/>
          <p:nvPr/>
        </p:nvSpPr>
        <p:spPr>
          <a:xfrm>
            <a:off x="868680" y="5349240"/>
            <a:ext cx="10424160" cy="548640"/>
          </a:xfrm>
          <a:prstGeom prst="rect">
            <a:avLst/>
          </a:prstGeom>
          <a:noFill/>
        </p:spPr>
        <p:txBody>
          <a:bodyPr wrap="square" anchor="t" lIns="0" rIns="0" tIns="0" bIns="0">
            <a:spAutoFit/>
          </a:bodyPr>
          <a:lstStyle/>
          <a:p>
            <a:pPr algn="l">
              <a:lnSpc>
                <a:spcPct val="106000"/>
              </a:lnSpc>
              <a:spcBef>
                <a:spcPts val="0"/>
              </a:spcBef>
              <a:spcAft>
                <a:spcPts val="600"/>
              </a:spcAft>
            </a:pPr>
            <a:r>
              <a:rPr sz="2400" b="1">
                <a:solidFill>
                  <a:srgbClr val="E69F00"/>
                </a:solidFill>
                <a:latin typeface="Georgia"/>
              </a:rPr>
              <a:t>Thank you. Questions welcome.</a:t>
            </a:r>
          </a:p>
        </p:txBody>
      </p:sp>
      <p:sp>
        <p:nvSpPr>
          <p:cNvPr id="8" name="TextBox 7"/>
          <p:cNvSpPr txBox="1"/>
          <p:nvPr/>
        </p:nvSpPr>
        <p:spPr>
          <a:xfrm>
            <a:off x="868680" y="6035040"/>
            <a:ext cx="10424160" cy="457200"/>
          </a:xfrm>
          <a:prstGeom prst="rect">
            <a:avLst/>
          </a:prstGeom>
          <a:noFill/>
        </p:spPr>
        <p:txBody>
          <a:bodyPr wrap="square" anchor="t" lIns="0" rIns="0" tIns="0" bIns="0">
            <a:spAutoFit/>
          </a:bodyPr>
          <a:lstStyle/>
          <a:p>
            <a:pPr algn="l">
              <a:lnSpc>
                <a:spcPct val="106000"/>
              </a:lnSpc>
              <a:spcBef>
                <a:spcPts val="0"/>
              </a:spcBef>
              <a:spcAft>
                <a:spcPts val="600"/>
              </a:spcAft>
            </a:pPr>
            <a:r>
              <a:rPr sz="1300" b="0">
                <a:solidFill>
                  <a:srgbClr val="CDD6E4"/>
                </a:solidFill>
                <a:latin typeface="Segoe UI"/>
              </a:rPr>
              <a:t>Every number on these slides traces to an archived file in the repository (docs/deck_provenance.md).</a:t>
            </a:r>
          </a:p>
        </p:txBody>
      </p:sp>
      <p:sp>
        <p:nvSpPr>
          <p:cNvPr id="9" name="TextBox 8"/>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CDD6E4"/>
                </a:solidFill>
                <a:latin typeface="Segoe UI"/>
              </a:rPr>
              <a:t>M. Ortiz Togashi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BACKUP · RQ2</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The test in detail: destroy the links, keep everything else</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19</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19</a:t>
            </a:r>
          </a:p>
        </p:txBody>
      </p:sp>
      <p:sp>
        <p:nvSpPr>
          <p:cNvPr id="11" name="TextBox 10"/>
          <p:cNvSpPr txBox="1"/>
          <p:nvPr/>
        </p:nvSpPr>
        <p:spPr>
          <a:xfrm>
            <a:off x="566928" y="1280160"/>
            <a:ext cx="11057839" cy="1371600"/>
          </a:xfrm>
          <a:prstGeom prst="rect">
            <a:avLst/>
          </a:prstGeom>
          <a:noFill/>
        </p:spPr>
        <p:txBody>
          <a:bodyPr wrap="square" anchor="t" lIns="0" rIns="0" tIns="0" bIns="0">
            <a:spAutoFit/>
          </a:bodyPr>
          <a:lstStyle/>
          <a:p>
            <a:pPr algn="l">
              <a:lnSpc>
                <a:spcPct val="124000"/>
              </a:lnSpc>
              <a:spcBef>
                <a:spcPts val="0"/>
              </a:spcBef>
              <a:spcAft>
                <a:spcPts val="600"/>
              </a:spcAft>
            </a:pPr>
            <a:r>
              <a:rPr sz="1550" b="1">
                <a:solidFill>
                  <a:srgbClr val="0E2A52"/>
                </a:solidFill>
                <a:latin typeface="Segoe UI"/>
              </a:rPr>
              <a:t>Keep each region, cut the links. </a:t>
            </a:r>
            <a:r>
              <a:rPr sz="1550" b="0">
                <a:solidFill>
                  <a:srgbClr val="16202E"/>
                </a:solidFill>
                <a:latin typeface="Segoe UI"/>
              </a:rPr>
              <a:t>Fit the schedule on the real links between regions. Then refit on a copy where each region keeps its own exact daily pattern, but every cross-region link is destroyed. Score both on the held-out worst days. The rule, fixed in advance: if spatial structure matters, the real-links schedule must win.  </a:t>
            </a:r>
            <a:r>
              <a:rPr sz="1550" b="1">
                <a:solidFill>
                  <a:srgbClr val="0E2A52"/>
                </a:solidFill>
                <a:latin typeface="Segoe UI"/>
              </a:rPr>
              <a:t>It does not.</a:t>
            </a:r>
          </a:p>
        </p:txBody>
      </p:sp>
      <p:pic>
        <p:nvPicPr>
          <p:cNvPr id="12" name="Picture 11" descr="schedule_us_west.png"/>
          <p:cNvPicPr>
            <a:picLocks noChangeAspect="1"/>
          </p:cNvPicPr>
          <p:nvPr/>
        </p:nvPicPr>
        <p:blipFill>
          <a:blip r:embed="rId2"/>
          <a:stretch>
            <a:fillRect/>
          </a:stretch>
        </p:blipFill>
        <p:spPr>
          <a:xfrm>
            <a:off x="792327" y="2944368"/>
            <a:ext cx="10607040" cy="1967483"/>
          </a:xfrm>
          <a:prstGeom prst="rect">
            <a:avLst/>
          </a:prstGeom>
        </p:spPr>
      </p:pic>
      <p:sp>
        <p:nvSpPr>
          <p:cNvPr id="13" name="TextBox 12"/>
          <p:cNvSpPr txBox="1"/>
          <p:nvPr/>
        </p:nvSpPr>
        <p:spPr>
          <a:xfrm>
            <a:off x="566928" y="6199632"/>
            <a:ext cx="11057839" cy="365760"/>
          </a:xfrm>
          <a:prstGeom prst="rect">
            <a:avLst/>
          </a:prstGeom>
          <a:noFill/>
        </p:spPr>
        <p:txBody>
          <a:bodyPr wrap="square" anchor="t" lIns="0" rIns="0" tIns="0" bIns="0">
            <a:spAutoFit/>
          </a:bodyPr>
          <a:lstStyle/>
          <a:p>
            <a:pPr algn="ctr">
              <a:lnSpc>
                <a:spcPct val="106000"/>
              </a:lnSpc>
              <a:spcBef>
                <a:spcPts val="0"/>
              </a:spcBef>
              <a:spcAft>
                <a:spcPts val="600"/>
              </a:spcAft>
            </a:pPr>
            <a:r>
              <a:rPr sz="1150" b="0">
                <a:solidFill>
                  <a:srgbClr val="5B6675"/>
                </a:solidFill>
                <a:latin typeface="Segoe UI"/>
              </a:rPr>
              <a:t>Western US, joint (filled) vs shuffled (outline) schedules. They overlap almost everywhere.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BACKUP · RQ2</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The leftover dependence has the wrong shape</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20</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20</a:t>
            </a:r>
          </a:p>
        </p:txBody>
      </p:sp>
      <p:pic>
        <p:nvPicPr>
          <p:cNvPr id="11" name="Picture 10" descr="tail_dependence_us_west.png"/>
          <p:cNvPicPr>
            <a:picLocks noChangeAspect="1"/>
          </p:cNvPicPr>
          <p:nvPr/>
        </p:nvPicPr>
        <p:blipFill>
          <a:blip r:embed="rId2"/>
          <a:stretch>
            <a:fillRect/>
          </a:stretch>
        </p:blipFill>
        <p:spPr>
          <a:xfrm>
            <a:off x="566928" y="1481328"/>
            <a:ext cx="3391037" cy="4480560"/>
          </a:xfrm>
          <a:prstGeom prst="rect">
            <a:avLst/>
          </a:prstGeom>
        </p:spPr>
      </p:pic>
      <p:sp>
        <p:nvSpPr>
          <p:cNvPr id="12" name="TextBox 11"/>
          <p:cNvSpPr txBox="1"/>
          <p:nvPr/>
        </p:nvSpPr>
        <p:spPr>
          <a:xfrm>
            <a:off x="7269480" y="1554480"/>
            <a:ext cx="4343400" cy="4480560"/>
          </a:xfrm>
          <a:prstGeom prst="rect">
            <a:avLst/>
          </a:prstGeom>
          <a:noFill/>
        </p:spPr>
        <p:txBody>
          <a:bodyPr wrap="square" lIns="0" rIns="0" tIns="0" bIns="0">
            <a:spAutoFit/>
          </a:bodyPr>
          <a:lstStyle/>
          <a:p>
            <a:pPr>
              <a:lnSpc>
                <a:spcPct val="112000"/>
              </a:lnSpc>
              <a:spcAft>
                <a:spcPts val="1400"/>
              </a:spcAft>
            </a:pPr>
            <a:r>
              <a:rPr sz="1850" b="1">
                <a:solidFill>
                  <a:srgbClr val="0E2A52"/>
                </a:solidFill>
                <a:latin typeface="Segoe UI"/>
              </a:rPr>
              <a:t>Clean together, dirty apart</a:t>
            </a:r>
          </a:p>
          <a:p>
            <a:pPr>
              <a:lnSpc>
                <a:spcPct val="112000"/>
              </a:lnSpc>
              <a:spcBef>
                <a:spcPts val="0"/>
              </a:spcBef>
              <a:spcAft>
                <a:spcPts val="1200"/>
              </a:spcAft>
            </a:pPr>
            <a:r>
              <a:rPr sz="1150" b="1">
                <a:solidFill>
                  <a:srgbClr val="E69F00"/>
                </a:solidFill>
                <a:latin typeface="Segoe UI"/>
              </a:rPr>
              <a:t>●  </a:t>
            </a:r>
            <a:r>
              <a:rPr sz="1550" b="0">
                <a:solidFill>
                  <a:srgbClr val="16202E"/>
                </a:solidFill>
                <a:latin typeface="Segoe UI"/>
              </a:rPr>
              <a:t>Regions hit their clean extremes together far more than their dirty ones. CISO/LDWP: 0.48 clean vs 0.25 dirty. BANC/LDWP: 0.40 vs 0.17.</a:t>
            </a:r>
          </a:p>
          <a:p>
            <a:pPr>
              <a:lnSpc>
                <a:spcPct val="112000"/>
              </a:lnSpc>
              <a:spcBef>
                <a:spcPts val="0"/>
              </a:spcBef>
              <a:spcAft>
                <a:spcPts val="1200"/>
              </a:spcAft>
            </a:pPr>
            <a:r>
              <a:rPr sz="1150" b="1">
                <a:solidFill>
                  <a:srgbClr val="E69F00"/>
                </a:solidFill>
                <a:latin typeface="Segoe UI"/>
              </a:rPr>
              <a:t>●  </a:t>
            </a:r>
            <a:r>
              <a:rPr sz="1550" b="0">
                <a:solidFill>
                  <a:srgbClr val="16202E"/>
                </a:solidFill>
                <a:latin typeface="Segoe UI"/>
              </a:rPr>
              <a:t>A simple co-movement model is symmetric: it treats clean-together and dirty-together as the same size. Real grids do not, so it cannot capture this shape.</a:t>
            </a:r>
          </a:p>
          <a:p>
            <a:pPr>
              <a:lnSpc>
                <a:spcPct val="112000"/>
              </a:lnSpc>
              <a:spcBef>
                <a:spcPts val="0"/>
              </a:spcBef>
              <a:spcAft>
                <a:spcPts val="1200"/>
              </a:spcAft>
            </a:pPr>
            <a:r>
              <a:rPr sz="1150" b="1">
                <a:solidFill>
                  <a:srgbClr val="E69F00"/>
                </a:solidFill>
                <a:latin typeface="Segoe UI"/>
              </a:rPr>
              <a:t>●  </a:t>
            </a:r>
            <a:r>
              <a:rPr sz="1550" b="1">
                <a:solidFill>
                  <a:srgbClr val="0E2A52"/>
                </a:solidFill>
                <a:latin typeface="Segoe UI"/>
              </a:rPr>
              <a:t>And the structure sits in the clean tail, which a risk-averse scheduler ignores anyway.</a:t>
            </a:r>
          </a:p>
          <a:p>
            <a:pPr>
              <a:lnSpc>
                <a:spcPct val="112000"/>
              </a:lnSpc>
              <a:spcBef>
                <a:spcPts val="0"/>
              </a:spcBef>
              <a:spcAft>
                <a:spcPts val="1200"/>
              </a:spcAft>
            </a:pPr>
            <a:r>
              <a:rPr sz="1150" b="1">
                <a:solidFill>
                  <a:srgbClr val="E69F00"/>
                </a:solidFill>
                <a:latin typeface="Segoe UI"/>
              </a:rPr>
              <a:t>●  </a:t>
            </a:r>
            <a:r>
              <a:rPr sz="1550" b="0">
                <a:solidFill>
                  <a:srgbClr val="5B6675"/>
                </a:solidFill>
                <a:latin typeface="Segoe UI"/>
              </a:rPr>
              <a:t>Archived: tail_dependence_2026-07-05.csv (residual series).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BACKUP · STATISTICS</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144 cells, 198 rows: the anatomy of the test</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21</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21</a:t>
            </a:r>
          </a:p>
        </p:txBody>
      </p:sp>
      <p:sp>
        <p:nvSpPr>
          <p:cNvPr id="11" name="TextBox 10"/>
          <p:cNvSpPr txBox="1"/>
          <p:nvPr/>
        </p:nvSpPr>
        <p:spPr>
          <a:xfrm>
            <a:off x="566928" y="1554480"/>
            <a:ext cx="2743200" cy="685800"/>
          </a:xfrm>
          <a:prstGeom prst="rect">
            <a:avLst/>
          </a:prstGeom>
          <a:noFill/>
        </p:spPr>
        <p:txBody>
          <a:bodyPr wrap="square" anchor="t" lIns="0" rIns="0" tIns="0" bIns="0">
            <a:spAutoFit/>
          </a:bodyPr>
          <a:lstStyle/>
          <a:p>
            <a:pPr algn="l">
              <a:lnSpc>
                <a:spcPct val="106000"/>
              </a:lnSpc>
              <a:spcBef>
                <a:spcPts val="0"/>
              </a:spcBef>
              <a:spcAft>
                <a:spcPts val="600"/>
              </a:spcAft>
            </a:pPr>
            <a:r>
              <a:rPr sz="4000" b="1">
                <a:solidFill>
                  <a:srgbClr val="0E2A52"/>
                </a:solidFill>
                <a:latin typeface="Georgia"/>
              </a:rPr>
              <a:t>144</a:t>
            </a:r>
          </a:p>
        </p:txBody>
      </p:sp>
      <p:sp>
        <p:nvSpPr>
          <p:cNvPr id="12" name="TextBox 11"/>
          <p:cNvSpPr txBox="1"/>
          <p:nvPr/>
        </p:nvSpPr>
        <p:spPr>
          <a:xfrm>
            <a:off x="566928" y="2212848"/>
            <a:ext cx="2743200" cy="685800"/>
          </a:xfrm>
          <a:prstGeom prst="rect">
            <a:avLst/>
          </a:prstGeom>
          <a:noFill/>
        </p:spPr>
        <p:txBody>
          <a:bodyPr wrap="square" anchor="t" lIns="0" rIns="0" tIns="0" bIns="0">
            <a:spAutoFit/>
          </a:bodyPr>
          <a:lstStyle/>
          <a:p>
            <a:pPr algn="l">
              <a:lnSpc>
                <a:spcPct val="105000"/>
              </a:lnSpc>
              <a:spcBef>
                <a:spcPts val="0"/>
              </a:spcBef>
              <a:spcAft>
                <a:spcPts val="600"/>
              </a:spcAft>
            </a:pPr>
            <a:r>
              <a:rPr sz="1300" b="0">
                <a:solidFill>
                  <a:srgbClr val="5B6675"/>
                </a:solidFill>
                <a:latin typeface="Segoe UI"/>
              </a:rPr>
              <a:t>pre-committed null-family cells</a:t>
            </a:r>
          </a:p>
        </p:txBody>
      </p:sp>
      <p:sp>
        <p:nvSpPr>
          <p:cNvPr id="13" name="TextBox 12"/>
          <p:cNvSpPr txBox="1"/>
          <p:nvPr/>
        </p:nvSpPr>
        <p:spPr>
          <a:xfrm>
            <a:off x="3566160" y="1554480"/>
            <a:ext cx="2743200" cy="685800"/>
          </a:xfrm>
          <a:prstGeom prst="rect">
            <a:avLst/>
          </a:prstGeom>
          <a:noFill/>
        </p:spPr>
        <p:txBody>
          <a:bodyPr wrap="square" anchor="t" lIns="0" rIns="0" tIns="0" bIns="0">
            <a:spAutoFit/>
          </a:bodyPr>
          <a:lstStyle/>
          <a:p>
            <a:pPr algn="l">
              <a:lnSpc>
                <a:spcPct val="106000"/>
              </a:lnSpc>
              <a:spcBef>
                <a:spcPts val="0"/>
              </a:spcBef>
              <a:spcAft>
                <a:spcPts val="600"/>
              </a:spcAft>
            </a:pPr>
            <a:r>
              <a:rPr sz="4000" b="1">
                <a:solidFill>
                  <a:srgbClr val="B3402F"/>
                </a:solidFill>
                <a:latin typeface="Georgia"/>
              </a:rPr>
              <a:t>+ 54</a:t>
            </a:r>
          </a:p>
        </p:txBody>
      </p:sp>
      <p:sp>
        <p:nvSpPr>
          <p:cNvPr id="14" name="TextBox 13"/>
          <p:cNvSpPr txBox="1"/>
          <p:nvPr/>
        </p:nvSpPr>
        <p:spPr>
          <a:xfrm>
            <a:off x="3566160" y="2212848"/>
            <a:ext cx="2743200" cy="685800"/>
          </a:xfrm>
          <a:prstGeom prst="rect">
            <a:avLst/>
          </a:prstGeom>
          <a:noFill/>
        </p:spPr>
        <p:txBody>
          <a:bodyPr wrap="square" anchor="t" lIns="0" rIns="0" tIns="0" bIns="0">
            <a:spAutoFit/>
          </a:bodyPr>
          <a:lstStyle/>
          <a:p>
            <a:pPr algn="l">
              <a:lnSpc>
                <a:spcPct val="105000"/>
              </a:lnSpc>
              <a:spcBef>
                <a:spcPts val="0"/>
              </a:spcBef>
              <a:spcAft>
                <a:spcPts val="600"/>
              </a:spcAft>
            </a:pPr>
            <a:r>
              <a:rPr sz="1300" b="0">
                <a:solidFill>
                  <a:srgbClr val="5B6675"/>
                </a:solidFill>
                <a:latin typeface="Segoe UI"/>
              </a:rPr>
              <a:t>positive-control cells (wave flattened)</a:t>
            </a:r>
          </a:p>
        </p:txBody>
      </p:sp>
      <p:sp>
        <p:nvSpPr>
          <p:cNvPr id="15" name="TextBox 14"/>
          <p:cNvSpPr txBox="1"/>
          <p:nvPr/>
        </p:nvSpPr>
        <p:spPr>
          <a:xfrm>
            <a:off x="6583680" y="1554480"/>
            <a:ext cx="3108960" cy="685800"/>
          </a:xfrm>
          <a:prstGeom prst="rect">
            <a:avLst/>
          </a:prstGeom>
          <a:noFill/>
        </p:spPr>
        <p:txBody>
          <a:bodyPr wrap="square" anchor="t" lIns="0" rIns="0" tIns="0" bIns="0">
            <a:spAutoFit/>
          </a:bodyPr>
          <a:lstStyle/>
          <a:p>
            <a:pPr algn="l">
              <a:lnSpc>
                <a:spcPct val="106000"/>
              </a:lnSpc>
              <a:spcBef>
                <a:spcPts val="0"/>
              </a:spcBef>
              <a:spcAft>
                <a:spcPts val="600"/>
              </a:spcAft>
            </a:pPr>
            <a:r>
              <a:rPr sz="4000" b="1">
                <a:solidFill>
                  <a:srgbClr val="5B6675"/>
                </a:solidFill>
                <a:latin typeface="Georgia"/>
              </a:rPr>
              <a:t>= 198</a:t>
            </a:r>
          </a:p>
        </p:txBody>
      </p:sp>
      <p:sp>
        <p:nvSpPr>
          <p:cNvPr id="16" name="TextBox 15"/>
          <p:cNvSpPr txBox="1"/>
          <p:nvPr/>
        </p:nvSpPr>
        <p:spPr>
          <a:xfrm>
            <a:off x="6583680" y="2212848"/>
            <a:ext cx="3108960" cy="685800"/>
          </a:xfrm>
          <a:prstGeom prst="rect">
            <a:avLst/>
          </a:prstGeom>
          <a:noFill/>
        </p:spPr>
        <p:txBody>
          <a:bodyPr wrap="square" anchor="t" lIns="0" rIns="0" tIns="0" bIns="0">
            <a:spAutoFit/>
          </a:bodyPr>
          <a:lstStyle/>
          <a:p>
            <a:pPr algn="l">
              <a:lnSpc>
                <a:spcPct val="105000"/>
              </a:lnSpc>
              <a:spcBef>
                <a:spcPts val="0"/>
              </a:spcBef>
              <a:spcAft>
                <a:spcPts val="600"/>
              </a:spcAft>
            </a:pPr>
            <a:r>
              <a:rPr sz="1300" b="0">
                <a:solidFill>
                  <a:srgbClr val="5B6675"/>
                </a:solidFill>
                <a:latin typeface="Segoe UI"/>
              </a:rPr>
              <a:t>rows in bh_correction.csv</a:t>
            </a:r>
          </a:p>
        </p:txBody>
      </p:sp>
      <p:sp>
        <p:nvSpPr>
          <p:cNvPr id="17" name="TextBox 16"/>
          <p:cNvSpPr txBox="1"/>
          <p:nvPr/>
        </p:nvSpPr>
        <p:spPr>
          <a:xfrm>
            <a:off x="566928" y="3108960"/>
            <a:ext cx="11057839" cy="3017520"/>
          </a:xfrm>
          <a:prstGeom prst="rect">
            <a:avLst/>
          </a:prstGeom>
          <a:noFill/>
        </p:spPr>
        <p:txBody>
          <a:bodyPr wrap="square" lIns="0" rIns="0" tIns="0" bIns="0">
            <a:spAutoFit/>
          </a:bodyPr>
          <a:lstStyle/>
          <a:p>
            <a:pPr>
              <a:lnSpc>
                <a:spcPct val="112000"/>
              </a:lnSpc>
              <a:spcBef>
                <a:spcPts val="0"/>
              </a:spcBef>
              <a:spcAft>
                <a:spcPts val="1200"/>
              </a:spcAft>
            </a:pPr>
            <a:r>
              <a:rPr sz="1200" b="1">
                <a:solidFill>
                  <a:srgbClr val="E69F00"/>
                </a:solidFill>
                <a:latin typeface="Segoe UI"/>
              </a:rPr>
              <a:t>●  </a:t>
            </a:r>
            <a:r>
              <a:rPr sz="1600" b="0">
                <a:solidFill>
                  <a:srgbClr val="16202E"/>
                </a:solidFill>
                <a:latin typeface="Segoe UI"/>
              </a:rPr>
              <a:t>144 = 4 grid-runs x 9 regime cells x 4 covariance estimators. The multiple-testing correction applies to this family.</a:t>
            </a:r>
          </a:p>
          <a:p>
            <a:pPr>
              <a:lnSpc>
                <a:spcPct val="112000"/>
              </a:lnSpc>
              <a:spcBef>
                <a:spcPts val="0"/>
              </a:spcBef>
              <a:spcAft>
                <a:spcPts val="1200"/>
              </a:spcAft>
            </a:pPr>
            <a:r>
              <a:rPr sz="1200" b="1">
                <a:solidFill>
                  <a:srgbClr val="E69F00"/>
                </a:solidFill>
                <a:latin typeface="Segoe UI"/>
              </a:rPr>
              <a:t>●  </a:t>
            </a:r>
            <a:r>
              <a:rPr sz="1600" b="0">
                <a:solidFill>
                  <a:srgbClr val="16202E"/>
                </a:solidFill>
                <a:latin typeface="Segoe UI"/>
              </a:rPr>
              <a:t>Biggest gap among the 144: 0.355%, inside the 0.4% band. And the test had the power to catch any real gap down to 0.015 to 0.11% (80% power, TOST at alpha 0.05), an order of magnitude below the bar.</a:t>
            </a:r>
          </a:p>
          <a:p>
            <a:pPr>
              <a:lnSpc>
                <a:spcPct val="112000"/>
              </a:lnSpc>
              <a:spcBef>
                <a:spcPts val="0"/>
              </a:spcBef>
              <a:spcAft>
                <a:spcPts val="1200"/>
              </a:spcAft>
            </a:pPr>
            <a:r>
              <a:rPr sz="1200" b="1">
                <a:solidFill>
                  <a:srgbClr val="E69F00"/>
                </a:solidFill>
                <a:latin typeface="Segoe UI"/>
              </a:rPr>
              <a:t>●  </a:t>
            </a:r>
            <a:r>
              <a:rPr sz="1600" b="1">
                <a:solidFill>
                  <a:srgbClr val="B3402F"/>
                </a:solidFill>
                <a:latin typeface="Segoe UI"/>
              </a:rPr>
              <a:t>The 54 extra rows are the instrument check: flatten the wave and the test fires at +1.46%, well above the bar, by design.</a:t>
            </a:r>
          </a:p>
          <a:p>
            <a:pPr>
              <a:lnSpc>
                <a:spcPct val="112000"/>
              </a:lnSpc>
              <a:spcBef>
                <a:spcPts val="0"/>
              </a:spcBef>
              <a:spcAft>
                <a:spcPts val="1200"/>
              </a:spcAft>
            </a:pPr>
            <a:r>
              <a:rPr sz="1200" b="1">
                <a:solidFill>
                  <a:srgbClr val="E69F00"/>
                </a:solidFill>
                <a:latin typeface="Segoe UI"/>
              </a:rPr>
              <a:t>●  </a:t>
            </a:r>
            <a:r>
              <a:rPr sz="1600" b="1">
                <a:solidFill>
                  <a:srgbClr val="0E2A52"/>
                </a:solidFill>
                <a:latin typeface="Segoe UI"/>
              </a:rPr>
              <a:t>The claim is a conjunction: every cell must rule out a material effect, so it is only as strong as its hardest case, the Diversified grid, which still clears the bar comfortably (z = 3.7). Conservative without extra correction.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BACKUP · STATISTICS</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Why 0.4%? An economics bar, and it only cuts one way</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22</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22</a:t>
            </a:r>
          </a:p>
        </p:txBody>
      </p:sp>
      <p:sp>
        <p:nvSpPr>
          <p:cNvPr id="11" name="TextBox 10"/>
          <p:cNvSpPr txBox="1"/>
          <p:nvPr/>
        </p:nvSpPr>
        <p:spPr>
          <a:xfrm>
            <a:off x="566928" y="1554480"/>
            <a:ext cx="11057839" cy="4480560"/>
          </a:xfrm>
          <a:prstGeom prst="rect">
            <a:avLst/>
          </a:prstGeom>
          <a:noFill/>
        </p:spPr>
        <p:txBody>
          <a:bodyPr wrap="square" lIns="0" rIns="0" tIns="0" bIns="0">
            <a:spAutoFit/>
          </a:bodyPr>
          <a:lstStyle/>
          <a:p>
            <a:pPr>
              <a:lnSpc>
                <a:spcPct val="112000"/>
              </a:lnSpc>
              <a:spcAft>
                <a:spcPts val="1700"/>
              </a:spcAft>
            </a:pPr>
            <a:r>
              <a:rPr sz="2000" b="1">
                <a:solidFill>
                  <a:srgbClr val="0E2A52"/>
                </a:solidFill>
                <a:latin typeface="Segoe UI"/>
              </a:rPr>
              <a:t>The bar, defended</a:t>
            </a:r>
          </a:p>
          <a:p>
            <a:pPr>
              <a:lnSpc>
                <a:spcPct val="112000"/>
              </a:lnSpc>
              <a:spcBef>
                <a:spcPts val="0"/>
              </a:spcBef>
              <a:spcAft>
                <a:spcPts val="1500"/>
              </a:spcAft>
            </a:pPr>
            <a:r>
              <a:rPr sz="1300" b="1">
                <a:solidFill>
                  <a:srgbClr val="E69F00"/>
                </a:solidFill>
                <a:latin typeface="Segoe UI"/>
              </a:rPr>
              <a:t>●  </a:t>
            </a:r>
            <a:r>
              <a:rPr sz="1700" b="0">
                <a:solidFill>
                  <a:srgbClr val="16202E"/>
                </a:solidFill>
                <a:latin typeface="Segoe UI"/>
              </a:rPr>
              <a:t>0.4% is the smallest saving that covers building and running a covariance layer. And that layer can itself hurt: up to 0.233% on the Diversified grid.</a:t>
            </a:r>
          </a:p>
          <a:p>
            <a:pPr>
              <a:lnSpc>
                <a:spcPct val="112000"/>
              </a:lnSpc>
              <a:spcBef>
                <a:spcPts val="0"/>
              </a:spcBef>
              <a:spcAft>
                <a:spcPts val="1500"/>
              </a:spcAft>
            </a:pPr>
            <a:r>
              <a:rPr sz="1300" b="1">
                <a:solidFill>
                  <a:srgbClr val="E69F00"/>
                </a:solidFill>
                <a:latin typeface="Segoe UI"/>
              </a:rPr>
              <a:t>●  </a:t>
            </a:r>
            <a:r>
              <a:rPr sz="1700" b="0">
                <a:solidFill>
                  <a:srgbClr val="16202E"/>
                </a:solidFill>
                <a:latin typeface="Segoe UI"/>
              </a:rPr>
              <a:t>It was not tuned to get the result: the conclusion keeps holding for any bar down to 0.31%.</a:t>
            </a:r>
          </a:p>
          <a:p>
            <a:pPr>
              <a:lnSpc>
                <a:spcPct val="112000"/>
              </a:lnSpc>
              <a:spcBef>
                <a:spcPts val="0"/>
              </a:spcBef>
              <a:spcAft>
                <a:spcPts val="1500"/>
              </a:spcAft>
            </a:pPr>
            <a:r>
              <a:rPr sz="1300" b="1">
                <a:solidFill>
                  <a:srgbClr val="E69F00"/>
                </a:solidFill>
                <a:latin typeface="Segoe UI"/>
              </a:rPr>
              <a:t>●  </a:t>
            </a:r>
            <a:r>
              <a:rPr sz="1700" b="1">
                <a:solidFill>
                  <a:srgbClr val="B3402F"/>
                </a:solidFill>
                <a:latin typeface="Segoe UI"/>
              </a:rPr>
              <a:t>Push the bar to 0.1% and only one cell flips: Diversified at minus 0.233%, and it flips to clearly negative. A tighter bar makes skipping the layer stronger, not weaker.</a:t>
            </a:r>
          </a:p>
          <a:p>
            <a:pPr>
              <a:lnSpc>
                <a:spcPct val="112000"/>
              </a:lnSpc>
              <a:spcBef>
                <a:spcPts val="0"/>
              </a:spcBef>
              <a:spcAft>
                <a:spcPts val="1500"/>
              </a:spcAft>
            </a:pPr>
            <a:r>
              <a:rPr sz="1300" b="1">
                <a:solidFill>
                  <a:srgbClr val="E69F00"/>
                </a:solidFill>
                <a:latin typeface="Segoe UI"/>
              </a:rPr>
              <a:t>●  </a:t>
            </a:r>
            <a:r>
              <a:rPr sz="1700" b="0">
                <a:solidFill>
                  <a:srgbClr val="16202E"/>
                </a:solidFill>
                <a:latin typeface="Segoe UI"/>
              </a:rPr>
              <a:t>Scale: on the Eastern facility the covariance channel is worth about $37k a year, and not reliably positive. The transfer lever is worth about $1.7M.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BACKUP · RQ3</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Why BPAT's 5.12x does not break the crossover</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23</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23</a:t>
            </a:r>
          </a:p>
        </p:txBody>
      </p:sp>
      <p:sp>
        <p:nvSpPr>
          <p:cNvPr id="11" name="TextBox 10"/>
          <p:cNvSpPr txBox="1"/>
          <p:nvPr/>
        </p:nvSpPr>
        <p:spPr>
          <a:xfrm>
            <a:off x="566928" y="1554480"/>
            <a:ext cx="11057839" cy="4480560"/>
          </a:xfrm>
          <a:prstGeom prst="rect">
            <a:avLst/>
          </a:prstGeom>
          <a:noFill/>
        </p:spPr>
        <p:txBody>
          <a:bodyPr wrap="square" lIns="0" rIns="0" tIns="0" bIns="0">
            <a:spAutoFit/>
          </a:bodyPr>
          <a:lstStyle/>
          <a:p>
            <a:pPr>
              <a:lnSpc>
                <a:spcPct val="112000"/>
              </a:lnSpc>
              <a:spcAft>
                <a:spcPts val="1700"/>
              </a:spcAft>
            </a:pPr>
            <a:r>
              <a:rPr sz="2000" b="1">
                <a:solidFill>
                  <a:srgbClr val="0E2A52"/>
                </a:solidFill>
                <a:latin typeface="Segoe UI"/>
              </a:rPr>
              <a:t>A big ratio on a tiny base is not risk</a:t>
            </a:r>
          </a:p>
          <a:p>
            <a:pPr>
              <a:lnSpc>
                <a:spcPct val="112000"/>
              </a:lnSpc>
              <a:spcBef>
                <a:spcPts val="0"/>
              </a:spcBef>
              <a:spcAft>
                <a:spcPts val="1500"/>
              </a:spcAft>
            </a:pPr>
            <a:r>
              <a:rPr sz="1300" b="1">
                <a:solidFill>
                  <a:srgbClr val="E69F00"/>
                </a:solidFill>
                <a:latin typeface="Segoe UI"/>
              </a:rPr>
              <a:t>●  </a:t>
            </a:r>
            <a:r>
              <a:rPr sz="1700" b="0">
                <a:solidFill>
                  <a:srgbClr val="16202E"/>
                </a:solidFill>
                <a:latin typeface="Segoe UI"/>
              </a:rPr>
              <a:t>BPAT is a hydro zone with near-zero baseline carbon. A 5.12x jump on a tiny base is a small change in grams. It barely moves the portfolio.</a:t>
            </a:r>
          </a:p>
          <a:p>
            <a:pPr>
              <a:lnSpc>
                <a:spcPct val="112000"/>
              </a:lnSpc>
              <a:spcBef>
                <a:spcPts val="0"/>
              </a:spcBef>
              <a:spcAft>
                <a:spcPts val="1500"/>
              </a:spcAft>
            </a:pPr>
            <a:r>
              <a:rPr sz="1300" b="1">
                <a:solidFill>
                  <a:srgbClr val="E69F00"/>
                </a:solidFill>
                <a:latin typeface="Segoe UI"/>
              </a:rPr>
              <a:t>●  </a:t>
            </a:r>
            <a:r>
              <a:rPr sz="1700" b="0">
                <a:solidFill>
                  <a:srgbClr val="16202E"/>
                </a:solidFill>
                <a:latin typeface="Segoe UI"/>
              </a:rPr>
              <a:t>What the schedule's risk actually feels is the portfolio-level worst day: Western 1.34x, Eastern 1.29x, Diversified 1.89x. All well under the tripling.</a:t>
            </a:r>
          </a:p>
          <a:p>
            <a:pPr>
              <a:lnSpc>
                <a:spcPct val="112000"/>
              </a:lnSpc>
              <a:spcBef>
                <a:spcPts val="0"/>
              </a:spcBef>
              <a:spcAft>
                <a:spcPts val="1500"/>
              </a:spcAft>
            </a:pPr>
            <a:r>
              <a:rPr sz="1300" b="1">
                <a:solidFill>
                  <a:srgbClr val="E69F00"/>
                </a:solidFill>
                <a:latin typeface="Segoe UI"/>
              </a:rPr>
              <a:t>●  </a:t>
            </a:r>
            <a:r>
              <a:rPr sz="1700" b="0">
                <a:solidFill>
                  <a:srgbClr val="16202E"/>
                </a:solidFill>
                <a:latin typeface="Segoe UI"/>
              </a:rPr>
              <a:t>Context: CA-ON 2.57x, US-SW-PNM 1.90x, median of the 17 zones 1.43x, Winter Storm Uri 1.28x. (carbon_ceiling_2026-06-24.csv)</a:t>
            </a:r>
          </a:p>
          <a:p>
            <a:pPr>
              <a:lnSpc>
                <a:spcPct val="112000"/>
              </a:lnSpc>
              <a:spcBef>
                <a:spcPts val="0"/>
              </a:spcBef>
              <a:spcAft>
                <a:spcPts val="1500"/>
              </a:spcAft>
            </a:pPr>
            <a:r>
              <a:rPr sz="1300" b="1">
                <a:solidFill>
                  <a:srgbClr val="E69F00"/>
                </a:solidFill>
                <a:latin typeface="Segoe UI"/>
              </a:rPr>
              <a:t>●  </a:t>
            </a:r>
            <a:r>
              <a:rPr sz="1700" b="1">
                <a:solidFill>
                  <a:srgbClr val="0E2A52"/>
                </a:solidFill>
                <a:latin typeface="Segoe UI"/>
              </a:rPr>
              <a:t>And the decisive check: draw emergencies from each region's own real worst days, and the robust plan still does not pay.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BACKUP · THE FULL MODEL</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The scheduler, written out</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24</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24</a:t>
            </a:r>
          </a:p>
        </p:txBody>
      </p:sp>
      <p:sp>
        <p:nvSpPr>
          <p:cNvPr id="11" name="TextBox 10"/>
          <p:cNvSpPr txBox="1"/>
          <p:nvPr/>
        </p:nvSpPr>
        <p:spPr>
          <a:xfrm>
            <a:off x="566928" y="1298448"/>
            <a:ext cx="5349240" cy="365760"/>
          </a:xfrm>
          <a:prstGeom prst="rect">
            <a:avLst/>
          </a:prstGeom>
          <a:noFill/>
        </p:spPr>
        <p:txBody>
          <a:bodyPr wrap="square" anchor="t" lIns="0" rIns="0" tIns="0" bIns="0">
            <a:spAutoFit/>
          </a:bodyPr>
          <a:lstStyle/>
          <a:p>
            <a:pPr algn="l">
              <a:lnSpc>
                <a:spcPct val="106000"/>
              </a:lnSpc>
              <a:spcBef>
                <a:spcPts val="0"/>
              </a:spcBef>
              <a:spcAft>
                <a:spcPts val="600"/>
              </a:spcAft>
            </a:pPr>
            <a:r>
              <a:rPr sz="1500" b="1">
                <a:solidFill>
                  <a:srgbClr val="0E2A52"/>
                </a:solidFill>
                <a:latin typeface="Segoe UI"/>
              </a:rPr>
              <a:t>The problem is a second-order cone program:</a:t>
            </a:r>
          </a:p>
        </p:txBody>
      </p:sp>
      <p:sp>
        <p:nvSpPr>
          <p:cNvPr id="12" name="Rectangle 11"/>
          <p:cNvSpPr/>
          <p:nvPr/>
        </p:nvSpPr>
        <p:spPr>
          <a:xfrm>
            <a:off x="566928" y="1737360"/>
            <a:ext cx="5349240" cy="10972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_eq_dro.png"/>
          <p:cNvPicPr>
            <a:picLocks noChangeAspect="1"/>
          </p:cNvPicPr>
          <p:nvPr/>
        </p:nvPicPr>
        <p:blipFill>
          <a:blip r:embed="rId2"/>
          <a:stretch>
            <a:fillRect/>
          </a:stretch>
        </p:blipFill>
        <p:spPr>
          <a:xfrm>
            <a:off x="754379" y="1975104"/>
            <a:ext cx="4983480" cy="628633"/>
          </a:xfrm>
          <a:prstGeom prst="rect">
            <a:avLst/>
          </a:prstGeom>
        </p:spPr>
      </p:pic>
      <p:sp>
        <p:nvSpPr>
          <p:cNvPr id="14" name="TextBox 13"/>
          <p:cNvSpPr txBox="1"/>
          <p:nvPr/>
        </p:nvSpPr>
        <p:spPr>
          <a:xfrm>
            <a:off x="566928" y="3017520"/>
            <a:ext cx="5349240" cy="2743200"/>
          </a:xfrm>
          <a:prstGeom prst="rect">
            <a:avLst/>
          </a:prstGeom>
          <a:noFill/>
        </p:spPr>
        <p:txBody>
          <a:bodyPr wrap="square" anchor="t" lIns="0" rIns="0" tIns="0" bIns="0">
            <a:spAutoFit/>
          </a:bodyPr>
          <a:lstStyle/>
          <a:p>
            <a:pPr algn="l">
              <a:lnSpc>
                <a:spcPct val="122000"/>
              </a:lnSpc>
              <a:spcBef>
                <a:spcPts val="0"/>
              </a:spcBef>
              <a:spcAft>
                <a:spcPts val="900"/>
              </a:spcAft>
            </a:pPr>
            <a:r>
              <a:rPr sz="1400" b="1">
                <a:solidFill>
                  <a:srgbClr val="0E2A52"/>
                </a:solidFill>
                <a:latin typeface="Segoe UI"/>
              </a:rPr>
              <a:t>x</a:t>
            </a:r>
            <a:r>
              <a:rPr sz="1400" b="0">
                <a:solidFill>
                  <a:srgbClr val="16202E"/>
                </a:solidFill>
                <a:latin typeface="Segoe UI"/>
              </a:rPr>
              <a:t> is the schedule (power per region, per hour), </a:t>
            </a:r>
            <a:r>
              <a:rPr sz="1400" b="1">
                <a:solidFill>
                  <a:srgbClr val="0E2A52"/>
                </a:solidFill>
                <a:latin typeface="Segoe UI"/>
              </a:rPr>
              <a:t>ρ̄</a:t>
            </a:r>
            <a:r>
              <a:rPr sz="1400" b="0">
                <a:solidFill>
                  <a:srgbClr val="16202E"/>
                </a:solidFill>
                <a:latin typeface="Segoe UI"/>
              </a:rPr>
              <a:t> is forecast carbon, </a:t>
            </a:r>
            <a:r>
              <a:rPr sz="1400" b="1">
                <a:solidFill>
                  <a:srgbClr val="0E2A52"/>
                </a:solidFill>
                <a:latin typeface="Segoe UI"/>
              </a:rPr>
              <a:t>ε</a:t>
            </a:r>
            <a:r>
              <a:rPr sz="1400" b="0">
                <a:solidFill>
                  <a:srgbClr val="16202E"/>
                </a:solidFill>
                <a:latin typeface="Segoe UI"/>
              </a:rPr>
              <a:t> is how cautious, </a:t>
            </a:r>
            <a:r>
              <a:rPr sz="1400" b="1">
                <a:solidFill>
                  <a:srgbClr val="0E2A52"/>
                </a:solidFill>
                <a:latin typeface="Segoe UI"/>
              </a:rPr>
              <a:t>Σ</a:t>
            </a:r>
            <a:r>
              <a:rPr sz="1400" b="0">
                <a:solidFill>
                  <a:srgbClr val="16202E"/>
                </a:solidFill>
                <a:latin typeface="Segoe UI"/>
              </a:rPr>
              <a:t> is how the regions co-vary.</a:t>
            </a:r>
          </a:p>
          <a:p>
            <a:pPr algn="l">
              <a:lnSpc>
                <a:spcPct val="122000"/>
              </a:lnSpc>
              <a:spcBef>
                <a:spcPts val="0"/>
              </a:spcBef>
              <a:spcAft>
                <a:spcPts val="900"/>
              </a:spcAft>
            </a:pPr>
            <a:r>
              <a:rPr sz="1400" b="0">
                <a:solidFill>
                  <a:srgbClr val="5B6675"/>
                </a:solidFill>
                <a:latin typeface="Segoe UI"/>
              </a:rPr>
              <a:t>At ε = 0 it is a plain linear program on the forecast. The cone term is the only place covariance can act, which is exactly what Decision 2 prices.</a:t>
            </a:r>
          </a:p>
        </p:txBody>
      </p:sp>
      <p:sp>
        <p:nvSpPr>
          <p:cNvPr id="15" name="TextBox 14"/>
          <p:cNvSpPr txBox="1"/>
          <p:nvPr/>
        </p:nvSpPr>
        <p:spPr>
          <a:xfrm>
            <a:off x="6263640" y="1298448"/>
            <a:ext cx="5349240" cy="365760"/>
          </a:xfrm>
          <a:prstGeom prst="rect">
            <a:avLst/>
          </a:prstGeom>
          <a:noFill/>
        </p:spPr>
        <p:txBody>
          <a:bodyPr wrap="square" anchor="t" lIns="0" rIns="0" tIns="0" bIns="0">
            <a:spAutoFit/>
          </a:bodyPr>
          <a:lstStyle/>
          <a:p>
            <a:pPr algn="l">
              <a:lnSpc>
                <a:spcPct val="106000"/>
              </a:lnSpc>
              <a:spcBef>
                <a:spcPts val="0"/>
              </a:spcBef>
              <a:spcAft>
                <a:spcPts val="600"/>
              </a:spcAft>
            </a:pPr>
            <a:r>
              <a:rPr sz="1500" b="1">
                <a:solidFill>
                  <a:srgbClr val="0E2A52"/>
                </a:solidFill>
                <a:latin typeface="Segoe UI"/>
              </a:rPr>
              <a:t>Subject to (the feasible set):</a:t>
            </a:r>
          </a:p>
        </p:txBody>
      </p:sp>
      <p:sp>
        <p:nvSpPr>
          <p:cNvPr id="16" name="TextBox 15"/>
          <p:cNvSpPr txBox="1"/>
          <p:nvPr/>
        </p:nvSpPr>
        <p:spPr>
          <a:xfrm>
            <a:off x="6263640" y="1783080"/>
            <a:ext cx="5349240" cy="4206240"/>
          </a:xfrm>
          <a:prstGeom prst="rect">
            <a:avLst/>
          </a:prstGeom>
          <a:noFill/>
        </p:spPr>
        <p:txBody>
          <a:bodyPr wrap="square" lIns="0" rIns="0" tIns="0" bIns="0">
            <a:spAutoFit/>
          </a:bodyPr>
          <a:lstStyle/>
          <a:p>
            <a:pPr>
              <a:lnSpc>
                <a:spcPct val="112000"/>
              </a:lnSpc>
              <a:spcBef>
                <a:spcPts val="0"/>
              </a:spcBef>
              <a:spcAft>
                <a:spcPts val="800"/>
              </a:spcAft>
            </a:pPr>
            <a:r>
              <a:rPr sz="950" b="1">
                <a:solidFill>
                  <a:srgbClr val="E69F00"/>
                </a:solidFill>
                <a:latin typeface="Segoe UI"/>
              </a:rPr>
              <a:t>●  </a:t>
            </a:r>
            <a:r>
              <a:rPr sz="1350" b="0">
                <a:solidFill>
                  <a:srgbClr val="16202E"/>
                </a:solidFill>
                <a:latin typeface="Segoe UI"/>
              </a:rPr>
              <a:t>Ceiling: 0 ≤ x ≤ capacity. A site cannot exceed its installed power.</a:t>
            </a:r>
          </a:p>
          <a:p>
            <a:pPr>
              <a:lnSpc>
                <a:spcPct val="112000"/>
              </a:lnSpc>
              <a:spcBef>
                <a:spcPts val="0"/>
              </a:spcBef>
              <a:spcAft>
                <a:spcPts val="800"/>
              </a:spcAft>
            </a:pPr>
            <a:r>
              <a:rPr sz="950" b="1">
                <a:solidFill>
                  <a:srgbClr val="E69F00"/>
                </a:solidFill>
                <a:latin typeface="Segoe UI"/>
              </a:rPr>
              <a:t>●  </a:t>
            </a:r>
            <a:r>
              <a:rPr sz="1350" b="0">
                <a:solidFill>
                  <a:srgbClr val="16202E"/>
                </a:solidFill>
                <a:latin typeface="Segoe UI"/>
              </a:rPr>
              <a:t>Work and flexible split: each region serves its daily work. A fixed fraction is inflexible (pinned shape); the rest is free to move.</a:t>
            </a:r>
          </a:p>
          <a:p>
            <a:pPr>
              <a:lnSpc>
                <a:spcPct val="112000"/>
              </a:lnSpc>
              <a:spcBef>
                <a:spcPts val="0"/>
              </a:spcBef>
              <a:spcAft>
                <a:spcPts val="800"/>
              </a:spcAft>
            </a:pPr>
            <a:r>
              <a:rPr sz="950" b="1">
                <a:solidFill>
                  <a:srgbClr val="E69F00"/>
                </a:solidFill>
                <a:latin typeface="Segoe UI"/>
              </a:rPr>
              <a:t>●  </a:t>
            </a:r>
            <a:r>
              <a:rPr sz="1350" b="0">
                <a:solidFill>
                  <a:srgbClr val="16202E"/>
                </a:solidFill>
                <a:latin typeface="Segoe UI"/>
              </a:rPr>
              <a:t>Ramp: hour-to-hour change ≤ 15 MW. Power cannot jump, so the greedy cheapest-hour schedule is infeasible.</a:t>
            </a:r>
          </a:p>
          <a:p>
            <a:pPr>
              <a:lnSpc>
                <a:spcPct val="112000"/>
              </a:lnSpc>
              <a:spcBef>
                <a:spcPts val="0"/>
              </a:spcBef>
              <a:spcAft>
                <a:spcPts val="800"/>
              </a:spcAft>
            </a:pPr>
            <a:r>
              <a:rPr sz="950" b="1">
                <a:solidFill>
                  <a:srgbClr val="E69F00"/>
                </a:solidFill>
                <a:latin typeface="Segoe UI"/>
              </a:rPr>
              <a:t>●  </a:t>
            </a:r>
            <a:r>
              <a:rPr sz="1350" b="0">
                <a:solidFill>
                  <a:srgbClr val="16202E"/>
                </a:solidFill>
                <a:latin typeface="Segoe UI"/>
              </a:rPr>
              <a:t>Deadline: at least 20% of flexible work done in the morning window. You cannot defer everything to the cheap hour.</a:t>
            </a:r>
          </a:p>
          <a:p>
            <a:pPr>
              <a:lnSpc>
                <a:spcPct val="112000"/>
              </a:lnSpc>
              <a:spcBef>
                <a:spcPts val="0"/>
              </a:spcBef>
              <a:spcAft>
                <a:spcPts val="800"/>
              </a:spcAft>
            </a:pPr>
            <a:r>
              <a:rPr sz="950" b="1">
                <a:solidFill>
                  <a:srgbClr val="E69F00"/>
                </a:solidFill>
                <a:latin typeface="Segoe UI"/>
              </a:rPr>
              <a:t>●  </a:t>
            </a:r>
            <a:r>
              <a:rPr sz="1350" b="0">
                <a:solidFill>
                  <a:srgbClr val="16202E"/>
                </a:solidFill>
                <a:latin typeface="Segoe UI"/>
              </a:rPr>
              <a:t>Thermal (PUE): hotter hours cost more cooling, so less usable compute. This is why weather enters the model.</a:t>
            </a:r>
          </a:p>
          <a:p>
            <a:pPr>
              <a:lnSpc>
                <a:spcPct val="112000"/>
              </a:lnSpc>
              <a:spcBef>
                <a:spcPts val="0"/>
              </a:spcBef>
              <a:spcAft>
                <a:spcPts val="800"/>
              </a:spcAft>
            </a:pPr>
            <a:r>
              <a:rPr sz="950" b="1">
                <a:solidFill>
                  <a:srgbClr val="E69F00"/>
                </a:solidFill>
                <a:latin typeface="Segoe UI"/>
              </a:rPr>
              <a:t>●  </a:t>
            </a:r>
            <a:r>
              <a:rPr sz="1350" b="1">
                <a:solidFill>
                  <a:srgbClr val="0E2A52"/>
                </a:solidFill>
                <a:latin typeface="Segoe UI"/>
              </a:rPr>
              <a:t>Transfer (Part 3): work can move between regions up to a budget Φ, and flows conserve work. Φ = 0 is the honest baseline.</a:t>
            </a:r>
          </a:p>
        </p:txBody>
      </p:sp>
      <p:sp>
        <p:nvSpPr>
          <p:cNvPr id="17" name="TextBox 16"/>
          <p:cNvSpPr txBox="1"/>
          <p:nvPr/>
        </p:nvSpPr>
        <p:spPr>
          <a:xfrm>
            <a:off x="6263640" y="5943600"/>
            <a:ext cx="5349240" cy="411480"/>
          </a:xfrm>
          <a:prstGeom prst="rect">
            <a:avLst/>
          </a:prstGeom>
          <a:noFill/>
        </p:spPr>
        <p:txBody>
          <a:bodyPr wrap="square" anchor="t" lIns="0" rIns="0" tIns="0" bIns="0">
            <a:spAutoFit/>
          </a:bodyPr>
          <a:lstStyle/>
          <a:p>
            <a:pPr algn="l">
              <a:lnSpc>
                <a:spcPct val="114000"/>
              </a:lnSpc>
              <a:spcBef>
                <a:spcPts val="0"/>
              </a:spcBef>
              <a:spcAft>
                <a:spcPts val="600"/>
              </a:spcAft>
            </a:pPr>
            <a:r>
              <a:rPr sz="1150" b="0">
                <a:solidFill>
                  <a:srgbClr val="5B6675"/>
                </a:solidFill>
                <a:latin typeface="Segoe UI"/>
              </a:rPr>
              <a:t>Calibrated on training data to bind loosely, so the schedule still moves 25 to 30% and covariance gets its best shot.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60704"/>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60704"/>
            <a:ext cx="12191695" cy="502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
            <a:ext cx="10911535" cy="310896"/>
          </a:xfrm>
          <a:prstGeom prst="rect">
            <a:avLst/>
          </a:prstGeom>
          <a:noFill/>
        </p:spPr>
        <p:txBody>
          <a:bodyPr wrap="square" anchor="t" lIns="0" rIns="0" tIns="0" bIns="0">
            <a:spAutoFit/>
          </a:bodyPr>
          <a:lstStyle/>
          <a:p>
            <a:pPr algn="l">
              <a:lnSpc>
                <a:spcPct val="106000"/>
              </a:lnSpc>
              <a:spcBef>
                <a:spcPts val="0"/>
              </a:spcBef>
              <a:spcAft>
                <a:spcPts val="600"/>
              </a:spcAft>
            </a:pPr>
            <a:r>
              <a:rPr sz="1250" b="1">
                <a:solidFill>
                  <a:srgbClr val="E69F00"/>
                </a:solidFill>
                <a:latin typeface="Segoe UI"/>
              </a:rPr>
              <a:t>BACKUP · FUTURE WORK</a:t>
            </a:r>
          </a:p>
        </p:txBody>
      </p:sp>
      <p:sp>
        <p:nvSpPr>
          <p:cNvPr id="5" name="TextBox 4"/>
          <p:cNvSpPr txBox="1"/>
          <p:nvPr/>
        </p:nvSpPr>
        <p:spPr>
          <a:xfrm>
            <a:off x="566928" y="384048"/>
            <a:ext cx="10911535" cy="603504"/>
          </a:xfrm>
          <a:prstGeom prst="rect">
            <a:avLst/>
          </a:prstGeom>
          <a:noFill/>
        </p:spPr>
        <p:txBody>
          <a:bodyPr wrap="square" anchor="t" lIns="0" rIns="0" tIns="0" bIns="0">
            <a:spAutoFit/>
          </a:bodyPr>
          <a:lstStyle/>
          <a:p>
            <a:pPr algn="l">
              <a:lnSpc>
                <a:spcPct val="106000"/>
              </a:lnSpc>
              <a:spcBef>
                <a:spcPts val="0"/>
              </a:spcBef>
              <a:spcAft>
                <a:spcPts val="600"/>
              </a:spcAft>
            </a:pPr>
            <a:r>
              <a:rPr sz="2600" b="1">
                <a:solidFill>
                  <a:srgbClr val="FFFFFF"/>
                </a:solidFill>
                <a:latin typeface="Georgia"/>
              </a:rPr>
              <a:t>The null is a sharpened mandate, not a dead end</a:t>
            </a:r>
          </a:p>
        </p:txBody>
      </p:sp>
      <p:sp>
        <p:nvSpPr>
          <p:cNvPr id="6" name="Oval 5"/>
          <p:cNvSpPr/>
          <p:nvPr/>
        </p:nvSpPr>
        <p:spPr>
          <a:xfrm>
            <a:off x="11332159" y="301752"/>
            <a:ext cx="457200" cy="457200"/>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2159" y="301752"/>
            <a:ext cx="457200" cy="457200"/>
          </a:xfrm>
          <a:prstGeom prst="rect">
            <a:avLst/>
          </a:prstGeom>
          <a:noFill/>
        </p:spPr>
        <p:txBody>
          <a:bodyPr wrap="square" anchor="ctr" lIns="0" rIns="0" tIns="0" bIns="0">
            <a:spAutoFit/>
          </a:bodyPr>
          <a:lstStyle/>
          <a:p>
            <a:pPr algn="ctr">
              <a:lnSpc>
                <a:spcPct val="106000"/>
              </a:lnSpc>
              <a:spcBef>
                <a:spcPts val="0"/>
              </a:spcBef>
              <a:spcAft>
                <a:spcPts val="600"/>
              </a:spcAft>
            </a:pPr>
            <a:r>
              <a:rPr sz="2000" b="1">
                <a:solidFill>
                  <a:srgbClr val="0E2A52"/>
                </a:solidFill>
                <a:latin typeface="Georgia"/>
              </a:rPr>
              <a:t>25</a:t>
            </a:r>
          </a:p>
        </p:txBody>
      </p:sp>
      <p:sp>
        <p:nvSpPr>
          <p:cNvPr id="8" name="Rectangle 7"/>
          <p:cNvSpPr/>
          <p:nvPr/>
        </p:nvSpPr>
        <p:spPr>
          <a:xfrm>
            <a:off x="566928" y="6473952"/>
            <a:ext cx="11057839" cy="10972"/>
          </a:xfrm>
          <a:prstGeom prst="rect">
            <a:avLst/>
          </a:prstGeom>
          <a:solidFill>
            <a:srgbClr val="D9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492240"/>
            <a:ext cx="7315200" cy="310896"/>
          </a:xfrm>
          <a:prstGeom prst="rect">
            <a:avLst/>
          </a:prstGeom>
          <a:noFill/>
        </p:spPr>
        <p:txBody>
          <a:bodyPr wrap="square" anchor="ctr" lIns="0" rIns="0" tIns="0" bIns="0">
            <a:spAutoFit/>
          </a:bodyPr>
          <a:lstStyle/>
          <a:p>
            <a:pPr algn="l">
              <a:lnSpc>
                <a:spcPct val="106000"/>
              </a:lnSpc>
              <a:spcBef>
                <a:spcPts val="0"/>
              </a:spcBef>
              <a:spcAft>
                <a:spcPts val="600"/>
              </a:spcAft>
            </a:pPr>
            <a:r>
              <a:rPr sz="1000" b="0">
                <a:solidFill>
                  <a:srgbClr val="5B6675"/>
                </a:solidFill>
                <a:latin typeface="Segoe UI"/>
              </a:rPr>
              <a:t>The Price of Sophistication · carbon-aware data-center scheduling</a:t>
            </a:r>
          </a:p>
        </p:txBody>
      </p:sp>
      <p:sp>
        <p:nvSpPr>
          <p:cNvPr id="10" name="TextBox 9"/>
          <p:cNvSpPr txBox="1"/>
          <p:nvPr/>
        </p:nvSpPr>
        <p:spPr>
          <a:xfrm>
            <a:off x="9795967" y="6492240"/>
            <a:ext cx="1828800" cy="310896"/>
          </a:xfrm>
          <a:prstGeom prst="rect">
            <a:avLst/>
          </a:prstGeom>
          <a:noFill/>
        </p:spPr>
        <p:txBody>
          <a:bodyPr wrap="square" anchor="ctr" lIns="0" rIns="0" tIns="0" bIns="0">
            <a:spAutoFit/>
          </a:bodyPr>
          <a:lstStyle/>
          <a:p>
            <a:pPr algn="r">
              <a:lnSpc>
                <a:spcPct val="106000"/>
              </a:lnSpc>
              <a:spcBef>
                <a:spcPts val="0"/>
              </a:spcBef>
              <a:spcAft>
                <a:spcPts val="600"/>
              </a:spcAft>
            </a:pPr>
            <a:r>
              <a:rPr sz="1000" b="0">
                <a:solidFill>
                  <a:srgbClr val="5B6675"/>
                </a:solidFill>
                <a:latin typeface="Segoe UI"/>
              </a:rPr>
              <a:t>M. Ortiz Togashi · 25</a:t>
            </a:r>
          </a:p>
        </p:txBody>
      </p:sp>
      <p:sp>
        <p:nvSpPr>
          <p:cNvPr id="11" name="Rectangle 10"/>
          <p:cNvSpPr/>
          <p:nvPr/>
        </p:nvSpPr>
        <p:spPr>
          <a:xfrm>
            <a:off x="566928" y="1463040"/>
            <a:ext cx="5391759" cy="199339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463040"/>
            <a:ext cx="118872" cy="19933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1609344"/>
            <a:ext cx="488883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0E2A52"/>
                </a:solidFill>
                <a:latin typeface="Georgia"/>
              </a:rPr>
              <a:t>1. Settle the crossover</a:t>
            </a:r>
          </a:p>
        </p:txBody>
      </p:sp>
      <p:sp>
        <p:nvSpPr>
          <p:cNvPr id="14" name="TextBox 13"/>
          <p:cNvSpPr txBox="1"/>
          <p:nvPr/>
        </p:nvSpPr>
        <p:spPr>
          <a:xfrm>
            <a:off x="859536" y="2066544"/>
            <a:ext cx="4888839" cy="1261872"/>
          </a:xfrm>
          <a:prstGeom prst="rect">
            <a:avLst/>
          </a:prstGeom>
          <a:noFill/>
        </p:spPr>
        <p:txBody>
          <a:bodyPr wrap="square" anchor="t" lIns="0" rIns="0" tIns="0" bIns="0">
            <a:spAutoFit/>
          </a:bodyPr>
          <a:lstStyle/>
          <a:p>
            <a:pPr algn="l">
              <a:lnSpc>
                <a:spcPct val="114000"/>
              </a:lnSpc>
              <a:spcBef>
                <a:spcPts val="0"/>
              </a:spcBef>
              <a:spcAft>
                <a:spcPts val="600"/>
              </a:spcAft>
            </a:pPr>
            <a:r>
              <a:rPr sz="1350" b="0">
                <a:solidFill>
                  <a:srgbClr val="16202E"/>
                </a:solidFill>
                <a:latin typeface="Segoe UI"/>
              </a:rPr>
              <a:t>Build a calibrated outage model from grid-operator data, not the carbon tail, with a pre-committed evaluation and affine recourse. Does real emergency risk ever reach the 3x the robust plan needs?</a:t>
            </a:r>
          </a:p>
        </p:txBody>
      </p:sp>
      <p:sp>
        <p:nvSpPr>
          <p:cNvPr id="15" name="Rectangle 14"/>
          <p:cNvSpPr/>
          <p:nvPr/>
        </p:nvSpPr>
        <p:spPr>
          <a:xfrm>
            <a:off x="6233007" y="1463040"/>
            <a:ext cx="5391759" cy="199339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63040"/>
            <a:ext cx="118872" cy="1993392"/>
          </a:xfrm>
          <a:prstGeom prst="rect">
            <a:avLst/>
          </a:prstGeom>
          <a:solidFill>
            <a:srgbClr val="1F3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5615" y="1609344"/>
            <a:ext cx="488883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0E2A52"/>
                </a:solidFill>
                <a:latin typeface="Georgia"/>
              </a:rPr>
              <a:t>2. Make the null model-free</a:t>
            </a:r>
          </a:p>
        </p:txBody>
      </p:sp>
      <p:sp>
        <p:nvSpPr>
          <p:cNvPr id="18" name="TextBox 17"/>
          <p:cNvSpPr txBox="1"/>
          <p:nvPr/>
        </p:nvSpPr>
        <p:spPr>
          <a:xfrm>
            <a:off x="6525615" y="2066544"/>
            <a:ext cx="4888839" cy="1261872"/>
          </a:xfrm>
          <a:prstGeom prst="rect">
            <a:avLst/>
          </a:prstGeom>
          <a:noFill/>
        </p:spPr>
        <p:txBody>
          <a:bodyPr wrap="square" anchor="t" lIns="0" rIns="0" tIns="0" bIns="0">
            <a:spAutoFit/>
          </a:bodyPr>
          <a:lstStyle/>
          <a:p>
            <a:pPr algn="l">
              <a:lnSpc>
                <a:spcPct val="114000"/>
              </a:lnSpc>
              <a:spcBef>
                <a:spcPts val="0"/>
              </a:spcBef>
              <a:spcAft>
                <a:spcPts val="600"/>
              </a:spcAft>
            </a:pPr>
            <a:r>
              <a:rPr sz="1350" b="0">
                <a:solidFill>
                  <a:srgbClr val="16202E"/>
                </a:solidFill>
                <a:latin typeface="Segoe UI"/>
              </a:rPr>
              <a:t>A copula-ambiguity Wasserstein DRO (Fan-Ji-Lejeune) on a fitted vine, robustifying the dependence structure itself. Mean-dominance predicts it still will not pay, but this closes the last objection.</a:t>
            </a:r>
          </a:p>
        </p:txBody>
      </p:sp>
      <p:sp>
        <p:nvSpPr>
          <p:cNvPr id="19" name="Rectangle 18"/>
          <p:cNvSpPr/>
          <p:nvPr/>
        </p:nvSpPr>
        <p:spPr>
          <a:xfrm>
            <a:off x="566928" y="3639312"/>
            <a:ext cx="5391759" cy="199339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639312"/>
            <a:ext cx="118872" cy="1993392"/>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3785615"/>
            <a:ext cx="488883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0E2A52"/>
                </a:solidFill>
                <a:latin typeface="Georgia"/>
              </a:rPr>
              <a:t>3. Transfer, online and multistage</a:t>
            </a:r>
          </a:p>
        </p:txBody>
      </p:sp>
      <p:sp>
        <p:nvSpPr>
          <p:cNvPr id="22" name="TextBox 21"/>
          <p:cNvSpPr txBox="1"/>
          <p:nvPr/>
        </p:nvSpPr>
        <p:spPr>
          <a:xfrm>
            <a:off x="859536" y="4242816"/>
            <a:ext cx="4888839" cy="1261872"/>
          </a:xfrm>
          <a:prstGeom prst="rect">
            <a:avLst/>
          </a:prstGeom>
          <a:noFill/>
        </p:spPr>
        <p:txBody>
          <a:bodyPr wrap="square" anchor="t" lIns="0" rIns="0" tIns="0" bIns="0">
            <a:spAutoFit/>
          </a:bodyPr>
          <a:lstStyle/>
          <a:p>
            <a:pPr algn="l">
              <a:lnSpc>
                <a:spcPct val="114000"/>
              </a:lnSpc>
              <a:spcBef>
                <a:spcPts val="0"/>
              </a:spcBef>
              <a:spcAft>
                <a:spcPts val="600"/>
              </a:spcAft>
            </a:pPr>
            <a:r>
              <a:rPr sz="1350" b="0">
                <a:solidFill>
                  <a:srgbClr val="16202E"/>
                </a:solidFill>
                <a:latin typeface="Segoe UI"/>
              </a:rPr>
              <a:t>Forecasts arrive in sequence, with demand and transmission themselves uncertain, and the ambiguity ball centred on a learned forecast. This is where the online loss on the Diversified grid could flip.</a:t>
            </a:r>
          </a:p>
        </p:txBody>
      </p:sp>
      <p:sp>
        <p:nvSpPr>
          <p:cNvPr id="23" name="Rectangle 22"/>
          <p:cNvSpPr/>
          <p:nvPr/>
        </p:nvSpPr>
        <p:spPr>
          <a:xfrm>
            <a:off x="6233007" y="3639312"/>
            <a:ext cx="5391759" cy="1993392"/>
          </a:xfrm>
          <a:prstGeom prst="rect">
            <a:avLst/>
          </a:prstGeom>
          <a:solidFill>
            <a:srgbClr val="0E2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3007" y="3639312"/>
            <a:ext cx="118872" cy="1993392"/>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5615" y="3785615"/>
            <a:ext cx="4888839" cy="457200"/>
          </a:xfrm>
          <a:prstGeom prst="rect">
            <a:avLst/>
          </a:prstGeom>
          <a:noFill/>
        </p:spPr>
        <p:txBody>
          <a:bodyPr wrap="square" anchor="t" lIns="0" rIns="0" tIns="0" bIns="0">
            <a:spAutoFit/>
          </a:bodyPr>
          <a:lstStyle/>
          <a:p>
            <a:pPr algn="l">
              <a:lnSpc>
                <a:spcPct val="106000"/>
              </a:lnSpc>
              <a:spcBef>
                <a:spcPts val="0"/>
              </a:spcBef>
              <a:spcAft>
                <a:spcPts val="600"/>
              </a:spcAft>
            </a:pPr>
            <a:r>
              <a:rPr sz="1800" b="1">
                <a:solidFill>
                  <a:srgbClr val="FFFFFF"/>
                </a:solidFill>
                <a:latin typeface="Georgia"/>
              </a:rPr>
              <a:t>4. A general screening rule</a:t>
            </a:r>
          </a:p>
        </p:txBody>
      </p:sp>
      <p:sp>
        <p:nvSpPr>
          <p:cNvPr id="26" name="TextBox 25"/>
          <p:cNvSpPr txBox="1"/>
          <p:nvPr/>
        </p:nvSpPr>
        <p:spPr>
          <a:xfrm>
            <a:off x="6525615" y="4242816"/>
            <a:ext cx="4888839" cy="1261872"/>
          </a:xfrm>
          <a:prstGeom prst="rect">
            <a:avLst/>
          </a:prstGeom>
          <a:noFill/>
        </p:spPr>
        <p:txBody>
          <a:bodyPr wrap="square" anchor="t" lIns="0" rIns="0" tIns="0" bIns="0">
            <a:spAutoFit/>
          </a:bodyPr>
          <a:lstStyle/>
          <a:p>
            <a:pPr algn="l">
              <a:lnSpc>
                <a:spcPct val="114000"/>
              </a:lnSpc>
              <a:spcBef>
                <a:spcPts val="0"/>
              </a:spcBef>
              <a:spcAft>
                <a:spcPts val="600"/>
              </a:spcAft>
            </a:pPr>
            <a:r>
              <a:rPr sz="1350" b="0">
                <a:solidFill>
                  <a:srgbClr val="CDD6E4"/>
                </a:solidFill>
                <a:latin typeface="Segoe UI"/>
              </a:rPr>
              <a:t>Turn mean-dominance into a condition for when cross-region dependence can ever help a robust allocation. Carbon-aware scheduling is one instance of a wider class.</a:t>
            </a:r>
          </a:p>
        </p:txBody>
      </p:sp>
      <p:sp>
        <p:nvSpPr>
          <p:cNvPr id="27" name="TextBox 26"/>
          <p:cNvSpPr txBox="1"/>
          <p:nvPr/>
        </p:nvSpPr>
        <p:spPr>
          <a:xfrm>
            <a:off x="566928" y="5870448"/>
            <a:ext cx="11057839" cy="548640"/>
          </a:xfrm>
          <a:prstGeom prst="rect">
            <a:avLst/>
          </a:prstGeom>
          <a:noFill/>
        </p:spPr>
        <p:txBody>
          <a:bodyPr wrap="square" anchor="t" lIns="0" rIns="0" tIns="0" bIns="0">
            <a:spAutoFit/>
          </a:bodyPr>
          <a:lstStyle/>
          <a:p>
            <a:pPr algn="l">
              <a:lnSpc>
                <a:spcPct val="116000"/>
              </a:lnSpc>
              <a:spcBef>
                <a:spcPts val="0"/>
              </a:spcBef>
              <a:spcAft>
                <a:spcPts val="600"/>
              </a:spcAft>
            </a:pPr>
            <a:r>
              <a:rPr sz="1250" b="0">
                <a:solidFill>
                  <a:srgbClr val="5B6675"/>
                </a:solidFill>
                <a:latin typeface="Segoe UI"/>
              </a:rPr>
              <a:t>Plus broader external validity: a longer multi-year rolling evaluation, grids with different generation mixes (hydro-thermal with seasonal storage), and hard-deadline objectives. Every direction is named in the thesis Future Work section.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