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2A5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e_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658368"/>
            <a:ext cx="1828800" cy="157013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68680" y="2212848"/>
            <a:ext cx="1069848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800"/>
              </a:spcAft>
            </a:pPr>
            <a:r>
              <a:rPr sz="3300" b="1">
                <a:solidFill>
                  <a:srgbClr val="FFFFFF"/>
                </a:solidFill>
                <a:latin typeface="Georgia"/>
              </a:rPr>
              <a:t>The Price of Sophistication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Georgia"/>
              </a:rPr>
              <a:t>A Pre-Committed Falsification Test for When Spatial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Georgia"/>
              </a:rPr>
              <a:t>and Robust Modelling Pay in Carbon-Aware Scheduling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4498848"/>
            <a:ext cx="2926080" cy="45720"/>
          </a:xfrm>
          <a:prstGeom prst="rect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681728"/>
            <a:ext cx="104241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0">
                <a:solidFill>
                  <a:srgbClr val="CDD6E4"/>
                </a:solidFill>
                <a:latin typeface="Segoe UI"/>
              </a:rPr>
              <a:t>A working day-ahead migration scheduler, and a decision rule for when each modelling layer earns its complexity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5623560"/>
            <a:ext cx="100584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Segoe UI"/>
              </a:rPr>
              <a:t>Marco Ortiz Togashi</a:t>
            </a:r>
            <a:r>
              <a:rPr sz="1500" b="0">
                <a:solidFill>
                  <a:srgbClr val="CDD6E4"/>
                </a:solidFill>
                <a:latin typeface="Segoe UI"/>
              </a:rPr>
              <a:t>    ·    IE University  ·  MSc Business Analytics &amp; Data Science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CDD6E4"/>
                </a:solidFill>
                <a:latin typeface="Segoe UI"/>
              </a:rPr>
              <a:t>Supervisor: Prof. Bissan Ghaddar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50976"/>
          </a:xfrm>
          <a:prstGeom prst="rect">
            <a:avLst/>
          </a:prstGeom>
          <a:solidFill>
            <a:srgbClr val="0E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50976"/>
            <a:ext cx="12191695" cy="54864"/>
          </a:xfrm>
          <a:prstGeom prst="rect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57200" y="246888"/>
            <a:ext cx="457200" cy="457200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46888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>
                <a:solidFill>
                  <a:srgbClr val="0E2A52"/>
                </a:solidFill>
                <a:latin typeface="Georgia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0"/>
            <a:ext cx="9997135" cy="9509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FFFFFF"/>
                </a:solidFill>
                <a:latin typeface="Georgia"/>
              </a:rPr>
              <a:t>Flexible compute meets a varying grid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473952"/>
            <a:ext cx="11277295" cy="10972"/>
          </a:xfrm>
          <a:prstGeom prst="rect">
            <a:avLst/>
          </a:prstGeom>
          <a:solidFill>
            <a:srgbClr val="D9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73152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5B6675"/>
                </a:solidFill>
                <a:latin typeface="Segoe UI"/>
              </a:rPr>
              <a:t>The Price of Sophistication: carbon-aware data-center scheduling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05695" y="6492240"/>
            <a:ext cx="18288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5B6675"/>
                </a:solidFill>
                <a:latin typeface="Segoe UI"/>
              </a:rPr>
              <a:t>M. Ortiz Togashi  · 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371600"/>
            <a:ext cx="548640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1800"/>
              </a:spcAft>
            </a:pPr>
            <a:r>
              <a:rPr sz="2200" b="1">
                <a:solidFill>
                  <a:srgbClr val="0E2A52"/>
                </a:solidFill>
                <a:latin typeface="Segoe UI"/>
              </a:rPr>
              <a:t>The opportunity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600"/>
              </a:spcAft>
            </a:pPr>
            <a:r>
              <a:rPr sz="1500" b="1">
                <a:solidFill>
                  <a:srgbClr val="E69F00"/>
                </a:solidFill>
                <a:latin typeface="Segoe UI"/>
              </a:rPr>
              <a:t>●  </a:t>
            </a:r>
            <a:r>
              <a:rPr sz="1900" b="0">
                <a:solidFill>
                  <a:srgbClr val="16202E"/>
                </a:solidFill>
                <a:latin typeface="Segoe UI"/>
              </a:rPr>
              <a:t>Compute is unusually flexible: batch and AI-training jobs can shift in time and across sites.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600"/>
              </a:spcAft>
            </a:pPr>
            <a:r>
              <a:rPr sz="1500" b="1">
                <a:solidFill>
                  <a:srgbClr val="E69F00"/>
                </a:solidFill>
                <a:latin typeface="Segoe UI"/>
              </a:rPr>
              <a:t>●  </a:t>
            </a:r>
            <a:r>
              <a:rPr sz="1900" b="0">
                <a:solidFill>
                  <a:srgbClr val="16202E"/>
                </a:solidFill>
                <a:latin typeface="Segoe UI"/>
              </a:rPr>
              <a:t>Carbon intensity of electricity varies sharply by hour and by region, driven by wind, solar, hydro, and demand.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600"/>
              </a:spcAft>
            </a:pPr>
            <a:r>
              <a:rPr sz="1500" b="1">
                <a:solidFill>
                  <a:srgbClr val="E69F00"/>
                </a:solidFill>
                <a:latin typeface="Segoe UI"/>
              </a:rPr>
              <a:t>●  </a:t>
            </a:r>
            <a:r>
              <a:rPr sz="1900" b="0">
                <a:solidFill>
                  <a:srgbClr val="16202E"/>
                </a:solidFill>
                <a:latin typeface="Segoe UI"/>
              </a:rPr>
              <a:t>So an operator can ship work to cleaner hours and cleaner regions, cutting emissions at almost no cost.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600"/>
              </a:spcAft>
            </a:pPr>
            <a:r>
              <a:rPr sz="1500" b="1">
                <a:solidFill>
                  <a:srgbClr val="E69F00"/>
                </a:solidFill>
                <a:latin typeface="Segoe UI"/>
              </a:rPr>
              <a:t>●  </a:t>
            </a:r>
            <a:r>
              <a:rPr sz="1900" b="1">
                <a:solidFill>
                  <a:srgbClr val="0E2A52"/>
                </a:solidFill>
                <a:latin typeface="Segoe UI"/>
              </a:rPr>
              <a:t>The open question is not whether to schedule, but which modelling layers actually pay for their complexity.</a:t>
            </a:r>
          </a:p>
        </p:txBody>
      </p:sp>
      <p:pic>
        <p:nvPicPr>
          <p:cNvPr id="11" name="Picture 10" descr="correlation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554480"/>
            <a:ext cx="5212080" cy="30847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400800" y="5806440"/>
            <a:ext cx="5212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5B6675"/>
                </a:solidFill>
                <a:latin typeface="Segoe UI"/>
              </a:rPr>
              <a:t>Carbon intensity is spatially structured, and it moves.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50976"/>
          </a:xfrm>
          <a:prstGeom prst="rect">
            <a:avLst/>
          </a:prstGeom>
          <a:solidFill>
            <a:srgbClr val="0E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50976"/>
            <a:ext cx="12191695" cy="54864"/>
          </a:xfrm>
          <a:prstGeom prst="rect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57200" y="246888"/>
            <a:ext cx="457200" cy="457200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46888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>
                <a:solidFill>
                  <a:srgbClr val="0E2A52"/>
                </a:solidFill>
                <a:latin typeface="Georgia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0"/>
            <a:ext cx="9997135" cy="9509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FFFFFF"/>
                </a:solidFill>
                <a:latin typeface="Georgia"/>
              </a:rPr>
              <a:t>Which layers earn their complexity?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473952"/>
            <a:ext cx="11277295" cy="10972"/>
          </a:xfrm>
          <a:prstGeom prst="rect">
            <a:avLst/>
          </a:prstGeom>
          <a:solidFill>
            <a:srgbClr val="D9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73152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5B6675"/>
                </a:solidFill>
                <a:latin typeface="Segoe UI"/>
              </a:rPr>
              <a:t>The Price of Sophistication: carbon-aware data-center scheduling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05695" y="6492240"/>
            <a:ext cx="18288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5B6675"/>
                </a:solidFill>
                <a:latin typeface="Segoe UI"/>
              </a:rPr>
              <a:t>M. Ortiz Togashi  ·  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417320"/>
            <a:ext cx="1088136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1800"/>
              </a:spcAft>
            </a:pPr>
            <a:r>
              <a:rPr sz="2300" b="1">
                <a:solidFill>
                  <a:srgbClr val="0E2A52"/>
                </a:solidFill>
                <a:latin typeface="Segoe UI"/>
              </a:rPr>
              <a:t>Sophistication is not free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600"/>
              </a:spcAft>
            </a:pPr>
            <a:r>
              <a:rPr sz="1600" b="1">
                <a:solidFill>
                  <a:srgbClr val="E69F00"/>
                </a:solidFill>
                <a:latin typeface="Segoe UI"/>
              </a:rPr>
              <a:t>●  </a:t>
            </a:r>
            <a:r>
              <a:rPr sz="2000" b="0">
                <a:solidFill>
                  <a:srgbClr val="16202E"/>
                </a:solidFill>
                <a:latin typeface="Segoe UI"/>
              </a:rPr>
              <a:t>Each layer (inter-region transfer, spatial covariance, distributional robustness, richer copulas) adds estimation and compute cost.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600"/>
              </a:spcAft>
            </a:pPr>
            <a:r>
              <a:rPr sz="1600" b="1">
                <a:solidFill>
                  <a:srgbClr val="E69F00"/>
                </a:solidFill>
                <a:latin typeface="Segoe UI"/>
              </a:rPr>
              <a:t>●  </a:t>
            </a:r>
            <a:r>
              <a:rPr sz="2000" b="0">
                <a:solidFill>
                  <a:srgbClr val="16202E"/>
                </a:solidFill>
                <a:latin typeface="Segoe UI"/>
              </a:rPr>
              <a:t>The literature has assumed this sophistication pays, rather than measuring it.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600"/>
              </a:spcAft>
            </a:pPr>
            <a:r>
              <a:rPr sz="1600" b="1">
                <a:solidFill>
                  <a:srgbClr val="E69F00"/>
                </a:solidFill>
                <a:latin typeface="Segoe UI"/>
              </a:rPr>
              <a:t>●  </a:t>
            </a:r>
            <a:r>
              <a:rPr sz="2000" b="1">
                <a:solidFill>
                  <a:srgbClr val="0E2A52"/>
                </a:solidFill>
                <a:latin typeface="Segoe UI"/>
              </a:rPr>
              <a:t>We build a working day-ahead scheduler and price each layer directly, out of sample.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4983480"/>
            <a:ext cx="10881360" cy="1143000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5047488"/>
            <a:ext cx="1033272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0E2A52"/>
                </a:solidFill>
                <a:latin typeface="Georgia"/>
              </a:rPr>
              <a:t>RQ1: how much does the transfer lever save?   RQ2: does passive covariance or a copula add anything?   RQ3: when does robustness pay?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50976"/>
          </a:xfrm>
          <a:prstGeom prst="rect">
            <a:avLst/>
          </a:prstGeom>
          <a:solidFill>
            <a:srgbClr val="0E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50976"/>
            <a:ext cx="12191695" cy="54864"/>
          </a:xfrm>
          <a:prstGeom prst="rect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57200" y="246888"/>
            <a:ext cx="457200" cy="457200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46888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>
                <a:solidFill>
                  <a:srgbClr val="0E2A52"/>
                </a:solidFill>
                <a:latin typeface="Georgia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0"/>
            <a:ext cx="9997135" cy="9509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FFFFFF"/>
                </a:solidFill>
                <a:latin typeface="Georgia"/>
              </a:rPr>
              <a:t>The day-ahead scheduler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473952"/>
            <a:ext cx="11277295" cy="10972"/>
          </a:xfrm>
          <a:prstGeom prst="rect">
            <a:avLst/>
          </a:prstGeom>
          <a:solidFill>
            <a:srgbClr val="D9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73152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5B6675"/>
                </a:solidFill>
                <a:latin typeface="Segoe UI"/>
              </a:rPr>
              <a:t>The Price of Sophistication: carbon-aware data-center scheduling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05695" y="6492240"/>
            <a:ext cx="18288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5B6675"/>
                </a:solidFill>
                <a:latin typeface="Segoe UI"/>
              </a:rPr>
              <a:t>M. Ortiz Togashi  ·  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371600"/>
            <a:ext cx="557784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1600"/>
              </a:spcAft>
            </a:pPr>
            <a:r>
              <a:rPr sz="2100" b="1">
                <a:solidFill>
                  <a:srgbClr val="0E2A52"/>
                </a:solidFill>
                <a:latin typeface="Segoe UI"/>
              </a:rPr>
              <a:t>Forecast, optimize, roll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400"/>
              </a:spcAft>
            </a:pPr>
            <a:r>
              <a:rPr sz="1400" b="1">
                <a:solidFill>
                  <a:srgbClr val="E69F00"/>
                </a:solidFill>
                <a:latin typeface="Segoe UI"/>
              </a:rPr>
              <a:t>●  </a:t>
            </a:r>
            <a:r>
              <a:rPr sz="1800" b="0">
                <a:solidFill>
                  <a:srgbClr val="16202E"/>
                </a:solidFill>
                <a:latin typeface="Segoe UI"/>
              </a:rPr>
              <a:t>Forecast tomorrow's per-region carbon intensity from history.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400"/>
              </a:spcAft>
            </a:pPr>
            <a:r>
              <a:rPr sz="1400" b="1">
                <a:solidFill>
                  <a:srgbClr val="E69F00"/>
                </a:solidFill>
                <a:latin typeface="Segoe UI"/>
              </a:rPr>
              <a:t>●  </a:t>
            </a:r>
            <a:r>
              <a:rPr sz="1800" b="0">
                <a:solidFill>
                  <a:srgbClr val="16202E"/>
                </a:solidFill>
                <a:latin typeface="Segoe UI"/>
              </a:rPr>
              <a:t>Optimize a migration schedule: move splittable compute across regions under ramp limits and a transfer budget Phi.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400"/>
              </a:spcAft>
            </a:pPr>
            <a:r>
              <a:rPr sz="1400" b="1">
                <a:solidFill>
                  <a:srgbClr val="E69F00"/>
                </a:solidFill>
                <a:latin typeface="Segoe UI"/>
              </a:rPr>
              <a:t>●  </a:t>
            </a:r>
            <a:r>
              <a:rPr sz="1800" b="0">
                <a:solidFill>
                  <a:srgbClr val="16202E"/>
                </a:solidFill>
                <a:latin typeface="Segoe UI"/>
              </a:rPr>
              <a:t>Roll forward day by day; score out-of-sample CVaR(0.95) of daily emissions.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400"/>
              </a:spcAft>
            </a:pPr>
            <a:r>
              <a:rPr sz="1400" b="1">
                <a:solidFill>
                  <a:srgbClr val="E69F00"/>
                </a:solidFill>
                <a:latin typeface="Segoe UI"/>
              </a:rPr>
              <a:t>●  </a:t>
            </a:r>
            <a:r>
              <a:rPr sz="1800" b="1">
                <a:solidFill>
                  <a:srgbClr val="0E2A52"/>
                </a:solidFill>
                <a:latin typeface="Segoe UI"/>
              </a:rPr>
              <a:t>Honest baseline: carbon-aware scheduling with no inter-region transfer (Phi=0), on the same feasible set.</a:t>
            </a:r>
          </a:p>
        </p:txBody>
      </p:sp>
      <p:pic>
        <p:nvPicPr>
          <p:cNvPr id="11" name="Picture 10" descr="model_valid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463040"/>
            <a:ext cx="5212080" cy="19417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400800" y="5760720"/>
            <a:ext cx="5212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5B6675"/>
                </a:solidFill>
                <a:latin typeface="Segoe UI"/>
              </a:rPr>
              <a:t>The scheduler matches the exact optimum on small instances.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50976"/>
          </a:xfrm>
          <a:prstGeom prst="rect">
            <a:avLst/>
          </a:prstGeom>
          <a:solidFill>
            <a:srgbClr val="0E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50976"/>
            <a:ext cx="12191695" cy="54864"/>
          </a:xfrm>
          <a:prstGeom prst="rect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57200" y="246888"/>
            <a:ext cx="457200" cy="457200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46888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>
                <a:solidFill>
                  <a:srgbClr val="0E2A52"/>
                </a:solidFill>
                <a:latin typeface="Georgia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0"/>
            <a:ext cx="9997135" cy="9509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FFFFFF"/>
                </a:solidFill>
                <a:latin typeface="Georgia"/>
              </a:rPr>
              <a:t>RQ1: the transfer lever pays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473952"/>
            <a:ext cx="11277295" cy="10972"/>
          </a:xfrm>
          <a:prstGeom prst="rect">
            <a:avLst/>
          </a:prstGeom>
          <a:solidFill>
            <a:srgbClr val="D9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73152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5B6675"/>
                </a:solidFill>
                <a:latin typeface="Segoe UI"/>
              </a:rPr>
              <a:t>The Price of Sophistication: carbon-aware data-center scheduling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05695" y="6492240"/>
            <a:ext cx="18288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5B6675"/>
                </a:solidFill>
                <a:latin typeface="Segoe UI"/>
              </a:rPr>
              <a:t>M. Ortiz Togashi  ·  5</a:t>
            </a:r>
          </a:p>
        </p:txBody>
      </p:sp>
      <p:pic>
        <p:nvPicPr>
          <p:cNvPr id="10" name="Picture 9" descr="transfer_value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417320"/>
            <a:ext cx="6949440" cy="4391183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72400" y="1554480"/>
            <a:ext cx="384048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1600"/>
              </a:spcAft>
            </a:pPr>
            <a:r>
              <a:rPr sz="2000" b="1">
                <a:solidFill>
                  <a:srgbClr val="0E2A52"/>
                </a:solidFill>
                <a:latin typeface="Segoe UI"/>
              </a:rPr>
              <a:t>The lever, and it works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400"/>
              </a:spcAft>
            </a:pPr>
            <a:r>
              <a:rPr sz="1300" b="1">
                <a:solidFill>
                  <a:srgbClr val="E69F00"/>
                </a:solidFill>
                <a:latin typeface="Segoe UI"/>
              </a:rPr>
              <a:t>●  </a:t>
            </a:r>
            <a:r>
              <a:rPr sz="1700" b="1">
                <a:solidFill>
                  <a:srgbClr val="4A7C59"/>
                </a:solidFill>
                <a:latin typeface="Segoe UI"/>
              </a:rPr>
              <a:t>Active migration cuts out-of-sample CVaR(0.95) by 4.0 to 9.9% over Phi=0.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400"/>
              </a:spcAft>
            </a:pPr>
            <a:r>
              <a:rPr sz="1300" b="1">
                <a:solidFill>
                  <a:srgbClr val="E69F00"/>
                </a:solidFill>
                <a:latin typeface="Segoe UI"/>
              </a:rPr>
              <a:t>●  </a:t>
            </a:r>
            <a:r>
              <a:rPr sz="1700" b="0">
                <a:solidFill>
                  <a:srgbClr val="16202E"/>
                </a:solidFill>
                <a:latin typeface="Segoe UI"/>
              </a:rPr>
              <a:t>Per grid: Western 4.0%, Eastern 9.9%, Diversified 9.0%.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400"/>
              </a:spcAft>
            </a:pPr>
            <a:r>
              <a:rPr sz="1300" b="1">
                <a:solidFill>
                  <a:srgbClr val="E69F00"/>
                </a:solidFill>
                <a:latin typeface="Segoe UI"/>
              </a:rPr>
              <a:t>●  </a:t>
            </a:r>
            <a:r>
              <a:rPr sz="1700" b="0">
                <a:solidFill>
                  <a:srgbClr val="16202E"/>
                </a:solidFill>
                <a:latin typeface="Segoe UI"/>
              </a:rPr>
              <a:t>The lever is the spatial mean: at each hour one region is cleanest, and migration ships work there.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400"/>
              </a:spcAft>
            </a:pPr>
            <a:r>
              <a:rPr sz="1300" b="1">
                <a:solidFill>
                  <a:srgbClr val="E69F00"/>
                </a:solidFill>
                <a:latin typeface="Segoe UI"/>
              </a:rPr>
              <a:t>●  </a:t>
            </a:r>
            <a:r>
              <a:rPr sz="1700" b="1">
                <a:solidFill>
                  <a:srgbClr val="0E2A52"/>
                </a:solidFill>
                <a:latin typeface="Segoe UI"/>
              </a:rPr>
              <a:t>Deterministic: captured with no dependence model at all.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50976"/>
          </a:xfrm>
          <a:prstGeom prst="rect">
            <a:avLst/>
          </a:prstGeom>
          <a:solidFill>
            <a:srgbClr val="0E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50976"/>
            <a:ext cx="12191695" cy="54864"/>
          </a:xfrm>
          <a:prstGeom prst="rect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57200" y="246888"/>
            <a:ext cx="457200" cy="457200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46888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>
                <a:solidFill>
                  <a:srgbClr val="0E2A52"/>
                </a:solidFill>
                <a:latin typeface="Georgia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0"/>
            <a:ext cx="9997135" cy="9509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FFFFFF"/>
                </a:solidFill>
                <a:latin typeface="Georgia"/>
              </a:rPr>
              <a:t>Where the value lives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473952"/>
            <a:ext cx="11277295" cy="10972"/>
          </a:xfrm>
          <a:prstGeom prst="rect">
            <a:avLst/>
          </a:prstGeom>
          <a:solidFill>
            <a:srgbClr val="D9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73152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5B6675"/>
                </a:solidFill>
                <a:latin typeface="Segoe UI"/>
              </a:rPr>
              <a:t>The Price of Sophistication: carbon-aware data-center scheduling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05695" y="6492240"/>
            <a:ext cx="18288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5B6675"/>
                </a:solidFill>
                <a:latin typeface="Segoe UI"/>
              </a:rPr>
              <a:t>M. Ortiz Togashi  ·  6</a:t>
            </a:r>
          </a:p>
        </p:txBody>
      </p:sp>
      <p:pic>
        <p:nvPicPr>
          <p:cNvPr id="10" name="Picture 9" descr="complexity_fronti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417320"/>
            <a:ext cx="6949440" cy="316387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72400" y="1554480"/>
            <a:ext cx="384048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1700"/>
              </a:spcAft>
            </a:pPr>
            <a:r>
              <a:rPr sz="2100" b="1">
                <a:solidFill>
                  <a:srgbClr val="0E2A52"/>
                </a:solidFill>
                <a:latin typeface="Segoe UI"/>
              </a:rPr>
              <a:t>The frontier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500"/>
              </a:spcAft>
            </a:pPr>
            <a:r>
              <a:rPr sz="1400" b="1">
                <a:solidFill>
                  <a:srgbClr val="E69F00"/>
                </a:solidFill>
                <a:latin typeface="Segoe UI"/>
              </a:rPr>
              <a:t>●  </a:t>
            </a:r>
            <a:r>
              <a:rPr sz="1800" b="0">
                <a:solidFill>
                  <a:srgbClr val="16202E"/>
                </a:solidFill>
                <a:latin typeface="Segoe UI"/>
              </a:rPr>
              <a:t>Every model class on one complexity-value frontier.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500"/>
              </a:spcAft>
            </a:pPr>
            <a:r>
              <a:rPr sz="1400" b="1">
                <a:solidFill>
                  <a:srgbClr val="E69F00"/>
                </a:solidFill>
                <a:latin typeface="Segoe UI"/>
              </a:rPr>
              <a:t>●  </a:t>
            </a:r>
            <a:r>
              <a:rPr sz="1800" b="1">
                <a:solidFill>
                  <a:srgbClr val="4A7C59"/>
                </a:solidFill>
                <a:latin typeface="Segoe UI"/>
              </a:rPr>
              <a:t>Deterministic transfer dominates the frontier.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500"/>
              </a:spcAft>
            </a:pPr>
            <a:r>
              <a:rPr sz="1400" b="1">
                <a:solidFill>
                  <a:srgbClr val="E69F00"/>
                </a:solidFill>
                <a:latin typeface="Segoe UI"/>
              </a:rPr>
              <a:t>●  </a:t>
            </a:r>
            <a:r>
              <a:rPr sz="1800" b="0">
                <a:solidFill>
                  <a:srgbClr val="16202E"/>
                </a:solidFill>
                <a:latin typeface="Segoe UI"/>
              </a:rPr>
              <a:t>Passive covariance and copula layers add no height.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500"/>
              </a:spcAft>
            </a:pPr>
            <a:r>
              <a:rPr sz="1400" b="1">
                <a:solidFill>
                  <a:srgbClr val="E69F00"/>
                </a:solidFill>
                <a:latin typeface="Segoe UI"/>
              </a:rPr>
              <a:t>●  </a:t>
            </a:r>
            <a:r>
              <a:rPr sz="1800" b="0">
                <a:solidFill>
                  <a:srgbClr val="16202E"/>
                </a:solidFill>
                <a:latin typeface="Segoe UI"/>
              </a:rPr>
              <a:t>Robust transfer pays only in the tail, conditional on severity.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50976"/>
          </a:xfrm>
          <a:prstGeom prst="rect">
            <a:avLst/>
          </a:prstGeom>
          <a:solidFill>
            <a:srgbClr val="0E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50976"/>
            <a:ext cx="12191695" cy="54864"/>
          </a:xfrm>
          <a:prstGeom prst="rect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57200" y="246888"/>
            <a:ext cx="457200" cy="457200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46888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>
                <a:solidFill>
                  <a:srgbClr val="0E2A52"/>
                </a:solidFill>
                <a:latin typeface="Georgia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0"/>
            <a:ext cx="9997135" cy="9509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FFFFFF"/>
                </a:solidFill>
                <a:latin typeface="Georgia"/>
              </a:rPr>
              <a:t>RQ2: passive sophistication adds nothing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473952"/>
            <a:ext cx="11277295" cy="10972"/>
          </a:xfrm>
          <a:prstGeom prst="rect">
            <a:avLst/>
          </a:prstGeom>
          <a:solidFill>
            <a:srgbClr val="D9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73152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5B6675"/>
                </a:solidFill>
                <a:latin typeface="Segoe UI"/>
              </a:rPr>
              <a:t>The Price of Sophistication: carbon-aware data-center scheduling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05695" y="6492240"/>
            <a:ext cx="18288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5B6675"/>
                </a:solidFill>
                <a:latin typeface="Segoe UI"/>
              </a:rPr>
              <a:t>M. Ortiz Togashi  ·  7</a:t>
            </a:r>
          </a:p>
        </p:txBody>
      </p:sp>
      <p:pic>
        <p:nvPicPr>
          <p:cNvPr id="10" name="Picture 9" descr="cv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417320"/>
            <a:ext cx="6766560" cy="1963683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680960" y="1554480"/>
            <a:ext cx="393192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1600"/>
              </a:spcAft>
            </a:pPr>
            <a:r>
              <a:rPr sz="2000" b="1">
                <a:solidFill>
                  <a:srgbClr val="0E2A52"/>
                </a:solidFill>
                <a:latin typeface="Segoe UI"/>
              </a:rPr>
              <a:t>A strong, active null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400"/>
              </a:spcAft>
            </a:pPr>
            <a:r>
              <a:rPr sz="1300" b="1">
                <a:solidFill>
                  <a:srgbClr val="E69F00"/>
                </a:solidFill>
                <a:latin typeface="Segoe UI"/>
              </a:rPr>
              <a:t>●  </a:t>
            </a:r>
            <a:r>
              <a:rPr sz="1700" b="0">
                <a:solidFill>
                  <a:srgbClr val="16202E"/>
                </a:solidFill>
                <a:latin typeface="Segoe UI"/>
              </a:rPr>
              <a:t>The spatial covariance gap stays below 0.4% of CVaR, and its sign is not stable.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400"/>
              </a:spcAft>
            </a:pPr>
            <a:r>
              <a:rPr sz="1300" b="1">
                <a:solidFill>
                  <a:srgbClr val="E69F00"/>
                </a:solidFill>
                <a:latin typeface="Segoe UI"/>
              </a:rPr>
              <a:t>●  </a:t>
            </a:r>
            <a:r>
              <a:rPr sz="1700" b="0">
                <a:solidFill>
                  <a:srgbClr val="16202E"/>
                </a:solidFill>
                <a:latin typeface="Segoe UI"/>
              </a:rPr>
              <a:t>The DRO is genuinely engaged (CV selects a non-trivial radius), so this is an active null, not a switched-off one.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400"/>
              </a:spcAft>
            </a:pPr>
            <a:r>
              <a:rPr sz="1300" b="1">
                <a:solidFill>
                  <a:srgbClr val="E69F00"/>
                </a:solidFill>
                <a:latin typeface="Segoe UI"/>
              </a:rPr>
              <a:t>●  </a:t>
            </a:r>
            <a:r>
              <a:rPr sz="1700" b="1">
                <a:solidFill>
                  <a:srgbClr val="0E2A52"/>
                </a:solidFill>
                <a:latin typeface="Segoe UI"/>
              </a:rPr>
              <a:t>Design justification: a simple per-region model is enough.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50976"/>
          </a:xfrm>
          <a:prstGeom prst="rect">
            <a:avLst/>
          </a:prstGeom>
          <a:solidFill>
            <a:srgbClr val="0E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50976"/>
            <a:ext cx="12191695" cy="54864"/>
          </a:xfrm>
          <a:prstGeom prst="rect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57200" y="246888"/>
            <a:ext cx="457200" cy="457200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46888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>
                <a:solidFill>
                  <a:srgbClr val="0E2A52"/>
                </a:solidFill>
                <a:latin typeface="Georgia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0"/>
            <a:ext cx="9997135" cy="9509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FFFFFF"/>
                </a:solidFill>
                <a:latin typeface="Georgia"/>
              </a:rPr>
              <a:t>Why covariance cannot add value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473952"/>
            <a:ext cx="11277295" cy="10972"/>
          </a:xfrm>
          <a:prstGeom prst="rect">
            <a:avLst/>
          </a:prstGeom>
          <a:solidFill>
            <a:srgbClr val="D9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73152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5B6675"/>
                </a:solidFill>
                <a:latin typeface="Segoe UI"/>
              </a:rPr>
              <a:t>The Price of Sophistication: carbon-aware data-center scheduling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05695" y="6492240"/>
            <a:ext cx="18288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5B6675"/>
                </a:solidFill>
                <a:latin typeface="Segoe UI"/>
              </a:rPr>
              <a:t>M. Ortiz Togashi  · 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371600"/>
            <a:ext cx="557784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1500"/>
              </a:spcAft>
            </a:pPr>
            <a:r>
              <a:rPr sz="2100" b="1">
                <a:solidFill>
                  <a:srgbClr val="0E2A52"/>
                </a:solidFill>
                <a:latin typeface="Segoe UI"/>
              </a:rPr>
              <a:t>The mechanism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400" b="1">
                <a:solidFill>
                  <a:srgbClr val="E69F00"/>
                </a:solidFill>
                <a:latin typeface="Segoe UI"/>
              </a:rPr>
              <a:t>●  </a:t>
            </a:r>
            <a:r>
              <a:rPr sz="1800" b="1">
                <a:solidFill>
                  <a:srgbClr val="B3402F"/>
                </a:solidFill>
                <a:latin typeface="Segoe UI"/>
              </a:rPr>
              <a:t>The mean-leveling test: flatten the mean field and the covariance suddenly pays, up to +1.46%.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400" b="1">
                <a:solidFill>
                  <a:srgbClr val="E69F00"/>
                </a:solidFill>
                <a:latin typeface="Segoe UI"/>
              </a:rPr>
              <a:t>●  </a:t>
            </a:r>
            <a:r>
              <a:rPr sz="1800" b="0">
                <a:solidFill>
                  <a:srgbClr val="16202E"/>
                </a:solidFill>
                <a:latin typeface="Segoe UI"/>
              </a:rPr>
              <a:t>So the cross-region signal is real, but masked by the within-day mean carbon field.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400" b="1">
                <a:solidFill>
                  <a:srgbClr val="E69F00"/>
                </a:solidFill>
                <a:latin typeface="Segoe UI"/>
              </a:rPr>
              <a:t>●  </a:t>
            </a:r>
            <a:r>
              <a:rPr sz="1800" b="0">
                <a:solidFill>
                  <a:srgbClr val="16202E"/>
                </a:solidFill>
                <a:latin typeface="Segoe UI"/>
              </a:rPr>
              <a:t>Residual dependence is also non-elliptical and upper-tail independent, invisible to a covariance ball.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400" b="1">
                <a:solidFill>
                  <a:srgbClr val="E69F00"/>
                </a:solidFill>
                <a:latin typeface="Segoe UI"/>
              </a:rPr>
              <a:t>●  </a:t>
            </a:r>
            <a:r>
              <a:rPr sz="1800" b="0">
                <a:solidFill>
                  <a:srgbClr val="16202E"/>
                </a:solidFill>
                <a:latin typeface="Segoe UI"/>
              </a:rPr>
              <a:t>We checked richer dependence models (Gaussian, Clayton, comonotone): they add nothing.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1554480"/>
            <a:ext cx="5212080" cy="4114800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1783080"/>
            <a:ext cx="4754880" cy="37490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200"/>
              </a:spcAft>
            </a:pPr>
            <a:r>
              <a:rPr sz="1900" b="1">
                <a:solidFill>
                  <a:srgbClr val="0E2A52"/>
                </a:solidFill>
                <a:latin typeface="Georgia"/>
              </a:rPr>
              <a:t>Mean-dominance bound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16202E"/>
                </a:solidFill>
                <a:latin typeface="Segoe UI"/>
              </a:rPr>
              <a:t>Carbon intensity is driven overwhelmingly by the time-of-day mean (solar, demand): shared, predictable, and large.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16202E"/>
                </a:solidFill>
                <a:latin typeface="Segoe UI"/>
              </a:rPr>
              <a:t>The cross-region covariance is a second-order wrinkle on a first-order wave, so it cannot move the optimal schedule. CVaR's translation invariance makes the dependence model second-order to the mean.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50976"/>
          </a:xfrm>
          <a:prstGeom prst="rect">
            <a:avLst/>
          </a:prstGeom>
          <a:solidFill>
            <a:srgbClr val="0E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50976"/>
            <a:ext cx="12191695" cy="54864"/>
          </a:xfrm>
          <a:prstGeom prst="rect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57200" y="246888"/>
            <a:ext cx="457200" cy="457200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46888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>
                <a:solidFill>
                  <a:srgbClr val="0E2A52"/>
                </a:solidFill>
                <a:latin typeface="Georgia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0"/>
            <a:ext cx="9997135" cy="9509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FFFFFF"/>
                </a:solidFill>
                <a:latin typeface="Georgia"/>
              </a:rPr>
              <a:t>RQ3: why robustify at all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473952"/>
            <a:ext cx="11277295" cy="10972"/>
          </a:xfrm>
          <a:prstGeom prst="rect">
            <a:avLst/>
          </a:prstGeom>
          <a:solidFill>
            <a:srgbClr val="D9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73152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5B6675"/>
                </a:solidFill>
                <a:latin typeface="Segoe UI"/>
              </a:rPr>
              <a:t>The Price of Sophistication: carbon-aware data-center scheduling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05695" y="6492240"/>
            <a:ext cx="18288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5B6675"/>
                </a:solidFill>
                <a:latin typeface="Segoe UI"/>
              </a:rPr>
              <a:t>M. Ortiz Togashi  · 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371600"/>
            <a:ext cx="557784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1600"/>
              </a:spcAft>
            </a:pPr>
            <a:r>
              <a:rPr sz="2100" b="1">
                <a:solidFill>
                  <a:srgbClr val="0E2A52"/>
                </a:solidFill>
                <a:latin typeface="Segoe UI"/>
              </a:rPr>
              <a:t>Hedging day-ahead forecast error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400"/>
              </a:spcAft>
            </a:pPr>
            <a:r>
              <a:rPr sz="1400" b="1">
                <a:solidFill>
                  <a:srgbClr val="E69F00"/>
                </a:solidFill>
                <a:latin typeface="Segoe UI"/>
              </a:rPr>
              <a:t>●  </a:t>
            </a:r>
            <a:r>
              <a:rPr sz="1800" b="0">
                <a:solidFill>
                  <a:srgbClr val="16202E"/>
                </a:solidFill>
                <a:latin typeface="Segoe UI"/>
              </a:rPr>
              <a:t>Scheduling against tomorrow's carbon means scheduling under forecast error.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400"/>
              </a:spcAft>
            </a:pPr>
            <a:r>
              <a:rPr sz="1400" b="1">
                <a:solidFill>
                  <a:srgbClr val="E69F00"/>
                </a:solidFill>
                <a:latin typeface="Segoe UI"/>
              </a:rPr>
              <a:t>●  </a:t>
            </a:r>
            <a:r>
              <a:rPr sz="1800" b="0">
                <a:solidFill>
                  <a:srgbClr val="16202E"/>
                </a:solidFill>
                <a:latin typeface="Segoe UI"/>
              </a:rPr>
              <a:t>We hedge that error with a data-driven Wasserstein DRO: a daily, rolling ambiguity set around the empirical distribution.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400"/>
              </a:spcAft>
            </a:pPr>
            <a:r>
              <a:rPr sz="1400" b="1">
                <a:solidFill>
                  <a:srgbClr val="E69F00"/>
                </a:solidFill>
                <a:latin typeface="Segoe UI"/>
              </a:rPr>
              <a:t>●  </a:t>
            </a:r>
            <a:r>
              <a:rPr sz="1800" b="0">
                <a:solidFill>
                  <a:srgbClr val="16202E"/>
                </a:solidFill>
                <a:latin typeface="Segoe UI"/>
              </a:rPr>
              <a:t>It reduces to a second-order cone program, solved exactly and fast.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400"/>
              </a:spcAft>
            </a:pPr>
            <a:r>
              <a:rPr sz="1400" b="1">
                <a:solidFill>
                  <a:srgbClr val="E69F00"/>
                </a:solidFill>
                <a:latin typeface="Segoe UI"/>
              </a:rPr>
              <a:t>●  </a:t>
            </a:r>
            <a:r>
              <a:rPr sz="1800" b="1">
                <a:solidFill>
                  <a:srgbClr val="0E2A52"/>
                </a:solidFill>
                <a:latin typeface="Segoe UI"/>
              </a:rPr>
              <a:t>This is a price-of-robustness question: it buys tail reduction at a mean premium.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2103120"/>
            <a:ext cx="5212080" cy="1371600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_eq_d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59" y="2423160"/>
            <a:ext cx="4937760" cy="592713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400800" y="3749039"/>
            <a:ext cx="521208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5B6675"/>
                </a:solidFill>
                <a:latin typeface="Segoe UI"/>
              </a:rPr>
              <a:t>The mean term carries the saving; the cone term epsilon times the norm of L-transpose x prices the hedge. The value of the stochastic solution is near zero under nominal carbon.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50976"/>
          </a:xfrm>
          <a:prstGeom prst="rect">
            <a:avLst/>
          </a:prstGeom>
          <a:solidFill>
            <a:srgbClr val="0E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50976"/>
            <a:ext cx="12191695" cy="54864"/>
          </a:xfrm>
          <a:prstGeom prst="rect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57200" y="246888"/>
            <a:ext cx="457200" cy="457200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46888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>
                <a:solidFill>
                  <a:srgbClr val="0E2A52"/>
                </a:solidFill>
                <a:latin typeface="Georgia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0"/>
            <a:ext cx="9997135" cy="9509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FFFFFF"/>
                </a:solidFill>
                <a:latin typeface="Georgia"/>
              </a:rPr>
              <a:t>The price-of-robustness crossover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473952"/>
            <a:ext cx="11277295" cy="10972"/>
          </a:xfrm>
          <a:prstGeom prst="rect">
            <a:avLst/>
          </a:prstGeom>
          <a:solidFill>
            <a:srgbClr val="D9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73152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5B6675"/>
                </a:solidFill>
                <a:latin typeface="Segoe UI"/>
              </a:rPr>
              <a:t>The Price of Sophistication: carbon-aware data-center scheduling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05695" y="6492240"/>
            <a:ext cx="18288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5B6675"/>
                </a:solidFill>
                <a:latin typeface="Segoe UI"/>
              </a:rPr>
              <a:t>M. Ortiz Togashi  ·  10</a:t>
            </a:r>
          </a:p>
        </p:txBody>
      </p:sp>
      <p:pic>
        <p:nvPicPr>
          <p:cNvPr id="10" name="Picture 9" descr="cross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417320"/>
            <a:ext cx="6949440" cy="4301587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72400" y="1554480"/>
            <a:ext cx="384048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1500"/>
              </a:spcAft>
            </a:pPr>
            <a:r>
              <a:rPr sz="2000" b="1">
                <a:solidFill>
                  <a:srgbClr val="0E2A52"/>
                </a:solidFill>
                <a:latin typeface="Segoe UI"/>
              </a:rPr>
              <a:t>M* near 3, real grids stay below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300" b="1">
                <a:solidFill>
                  <a:srgbClr val="E69F00"/>
                </a:solidFill>
                <a:latin typeface="Segoe UI"/>
              </a:rPr>
              <a:t>●  </a:t>
            </a:r>
            <a:r>
              <a:rPr sz="1700" b="0">
                <a:solidFill>
                  <a:srgbClr val="16202E"/>
                </a:solidFill>
                <a:latin typeface="Segoe UI"/>
              </a:rPr>
              <a:t>Robust beats risk-neutral only past an emergency severity M* near 3.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300" b="1">
                <a:solidFill>
                  <a:srgbClr val="E69F00"/>
                </a:solidFill>
                <a:latin typeface="Segoe UI"/>
              </a:rPr>
              <a:t>●  </a:t>
            </a:r>
            <a:r>
              <a:rPr sz="1700" b="1">
                <a:solidFill>
                  <a:srgbClr val="B3402F"/>
                </a:solidFill>
                <a:latin typeface="Segoe UI"/>
              </a:rPr>
              <a:t>Real grids, tested across 17 zones, lie at joint-grid M = 1.29–1.89.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300" b="1">
                <a:solidFill>
                  <a:srgbClr val="E69F00"/>
                </a:solidFill>
                <a:latin typeface="Segoe UI"/>
              </a:rPr>
              <a:t>●  </a:t>
            </a:r>
            <a:r>
              <a:rPr sz="1700" b="0">
                <a:solidFill>
                  <a:srgbClr val="16202E"/>
                </a:solidFill>
                <a:latin typeface="Segoe UI"/>
              </a:rPr>
              <a:t>So robustness does not activate on observed data; even Winter Storm Uri reached only 1.3x.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300" b="1">
                <a:solidFill>
                  <a:srgbClr val="E69F00"/>
                </a:solidFill>
                <a:latin typeface="Segoe UI"/>
              </a:rPr>
              <a:t>●  </a:t>
            </a:r>
            <a:r>
              <a:rPr sz="1700" b="1">
                <a:solidFill>
                  <a:srgbClr val="0E2A52"/>
                </a:solidFill>
                <a:latin typeface="Segoe UI"/>
              </a:rPr>
              <a:t>On real data, deterministic transfer is unambiguously dominant.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50976"/>
          </a:xfrm>
          <a:prstGeom prst="rect">
            <a:avLst/>
          </a:prstGeom>
          <a:solidFill>
            <a:srgbClr val="0E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50976"/>
            <a:ext cx="12191695" cy="54864"/>
          </a:xfrm>
          <a:prstGeom prst="rect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57200" y="246888"/>
            <a:ext cx="457200" cy="457200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46888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>
                <a:solidFill>
                  <a:srgbClr val="0E2A52"/>
                </a:solidFill>
                <a:latin typeface="Georgia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0"/>
            <a:ext cx="9997135" cy="9509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FFFFFF"/>
                </a:solidFill>
                <a:latin typeface="Georgia"/>
              </a:rPr>
              <a:t>The decision rule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473952"/>
            <a:ext cx="11277295" cy="10972"/>
          </a:xfrm>
          <a:prstGeom prst="rect">
            <a:avLst/>
          </a:prstGeom>
          <a:solidFill>
            <a:srgbClr val="D9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73152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5B6675"/>
                </a:solidFill>
                <a:latin typeface="Segoe UI"/>
              </a:rPr>
              <a:t>The Price of Sophistication: carbon-aware data-center scheduling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05695" y="6492240"/>
            <a:ext cx="18288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5B6675"/>
                </a:solidFill>
                <a:latin typeface="Segoe UI"/>
              </a:rPr>
              <a:t>M. Ortiz Togashi  ·  11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1371600"/>
            <a:ext cx="5349240" cy="2240280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371600"/>
            <a:ext cx="128016" cy="2240280"/>
          </a:xfrm>
          <a:prstGeom prst="rect">
            <a:avLst/>
          </a:prstGeom>
          <a:solidFill>
            <a:srgbClr val="4A7C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1517904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>
                <a:solidFill>
                  <a:srgbClr val="0E2A52"/>
                </a:solidFill>
                <a:latin typeface="Georgia"/>
              </a:rPr>
              <a:t>Layer 1: always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1993392"/>
            <a:ext cx="49377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16202E"/>
                </a:solidFill>
                <a:latin typeface="Segoe UI"/>
              </a:rPr>
              <a:t>Schedule per-region, day-ahead. Temporal shifting captures the diurnal carbon cycle.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72200" y="1371600"/>
            <a:ext cx="5349240" cy="2240280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72200" y="1371600"/>
            <a:ext cx="128016" cy="2240280"/>
          </a:xfrm>
          <a:prstGeom prst="rect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1517904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>
                <a:solidFill>
                  <a:srgbClr val="0E2A52"/>
                </a:solidFill>
                <a:latin typeface="Georgia"/>
              </a:rPr>
              <a:t>Layer 2: the lever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1993392"/>
            <a:ext cx="49377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16202E"/>
                </a:solidFill>
                <a:latin typeface="Segoe UI"/>
              </a:rPr>
              <a:t>Add inter-region transfer if migration bandwidth exists: a 4.0 to 9.9% CVaR reduction over Phi=0. This is where the value is.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3794760"/>
            <a:ext cx="5349240" cy="2240280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3794760"/>
            <a:ext cx="128016" cy="2240280"/>
          </a:xfrm>
          <a:prstGeom prst="rect">
            <a:avLst/>
          </a:prstGeom>
          <a:solidFill>
            <a:srgbClr val="B34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3941063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>
                <a:solidFill>
                  <a:srgbClr val="0E2A52"/>
                </a:solidFill>
                <a:latin typeface="Georgia"/>
              </a:rPr>
              <a:t>Layer 3: skip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416552"/>
            <a:ext cx="49377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16202E"/>
                </a:solidFill>
                <a:latin typeface="Segoe UI"/>
              </a:rPr>
              <a:t>Spatial covariance and copulas. They add below 0.4% of CVaR: not worth the complexity.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72200" y="3794760"/>
            <a:ext cx="5349240" cy="2240280"/>
          </a:xfrm>
          <a:prstGeom prst="rect">
            <a:avLst/>
          </a:prstGeom>
          <a:solidFill>
            <a:srgbClr val="0E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72200" y="3794760"/>
            <a:ext cx="128016" cy="2240280"/>
          </a:xfrm>
          <a:prstGeom prst="rect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3941063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>
                <a:solidFill>
                  <a:srgbClr val="FFFFFF"/>
                </a:solidFill>
                <a:latin typeface="Georgia"/>
              </a:rPr>
              <a:t>Layer 4: conditional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4416552"/>
            <a:ext cx="49377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CDD6E4"/>
                </a:solidFill>
                <a:latin typeface="Segoe UI"/>
              </a:rPr>
              <a:t>Robustify only if you expect emergencies past M* near 3. Real grids do not reach it.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50976"/>
          </a:xfrm>
          <a:prstGeom prst="rect">
            <a:avLst/>
          </a:prstGeom>
          <a:solidFill>
            <a:srgbClr val="0E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50976"/>
            <a:ext cx="12191695" cy="54864"/>
          </a:xfrm>
          <a:prstGeom prst="rect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57200" y="246888"/>
            <a:ext cx="457200" cy="457200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46888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>
                <a:solidFill>
                  <a:srgbClr val="0E2A52"/>
                </a:solidFill>
                <a:latin typeface="Georgia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0"/>
            <a:ext cx="9997135" cy="9509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FFFFFF"/>
                </a:solidFill>
                <a:latin typeface="Georgia"/>
              </a:rPr>
              <a:t>Data: three grids across the spectrum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473952"/>
            <a:ext cx="11277295" cy="10972"/>
          </a:xfrm>
          <a:prstGeom prst="rect">
            <a:avLst/>
          </a:prstGeom>
          <a:solidFill>
            <a:srgbClr val="D9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73152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5B6675"/>
                </a:solidFill>
                <a:latin typeface="Segoe UI"/>
              </a:rPr>
              <a:t>The Price of Sophistication: carbon-aware data-center scheduling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05695" y="6492240"/>
            <a:ext cx="18288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5B6675"/>
                </a:solidFill>
                <a:latin typeface="Segoe UI"/>
              </a:rPr>
              <a:t>M. Ortiz Togashi  ·  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371600"/>
            <a:ext cx="557784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1600"/>
              </a:spcAft>
            </a:pPr>
            <a:r>
              <a:rPr sz="2100" b="1">
                <a:solidFill>
                  <a:srgbClr val="0E2A52"/>
                </a:solidFill>
                <a:latin typeface="Segoe UI"/>
              </a:rPr>
              <a:t>Real Electricity Maps carbon intensity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400"/>
              </a:spcAft>
            </a:pPr>
            <a:r>
              <a:rPr sz="1400" b="1">
                <a:solidFill>
                  <a:srgbClr val="E69F00"/>
                </a:solidFill>
                <a:latin typeface="Segoe UI"/>
              </a:rPr>
              <a:t>●  </a:t>
            </a:r>
            <a:r>
              <a:rPr sz="1800" b="0">
                <a:solidFill>
                  <a:srgbClr val="16202E"/>
                </a:solidFill>
                <a:latin typeface="Segoe UI"/>
              </a:rPr>
              <a:t>US West: a strongly, uniformly correlated grid (common-mode).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400"/>
              </a:spcAft>
            </a:pPr>
            <a:r>
              <a:rPr sz="1400" b="1">
                <a:solidFill>
                  <a:srgbClr val="E69F00"/>
                </a:solidFill>
                <a:latin typeface="Segoe UI"/>
              </a:rPr>
              <a:t>●  </a:t>
            </a:r>
            <a:r>
              <a:rPr sz="1800" b="0">
                <a:solidFill>
                  <a:srgbClr val="16202E"/>
                </a:solidFill>
                <a:latin typeface="Segoe UI"/>
              </a:rPr>
              <a:t>Eastern Interconnection belt: an Ontario-anchored mid-correlation set.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400"/>
              </a:spcAft>
            </a:pPr>
            <a:r>
              <a:rPr sz="1400" b="1">
                <a:solidFill>
                  <a:srgbClr val="E69F00"/>
                </a:solidFill>
                <a:latin typeface="Segoe UI"/>
              </a:rPr>
              <a:t>●  </a:t>
            </a:r>
            <a:r>
              <a:rPr sz="1800" b="0">
                <a:solidFill>
                  <a:srgbClr val="16202E"/>
                </a:solidFill>
                <a:latin typeface="Segoe UI"/>
              </a:rPr>
              <a:t>Engineered solar / wind / hydro portfolio: low, heterogeneous correlation.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400"/>
              </a:spcAft>
            </a:pPr>
            <a:r>
              <a:rPr sz="1400" b="1">
                <a:solidFill>
                  <a:srgbClr val="E69F00"/>
                </a:solidFill>
                <a:latin typeface="Segoe UI"/>
              </a:rPr>
              <a:t>●  </a:t>
            </a:r>
            <a:r>
              <a:rPr sz="1800" b="0">
                <a:solidFill>
                  <a:srgbClr val="16202E"/>
                </a:solidFill>
                <a:latin typeface="Segoe UI"/>
              </a:rPr>
              <a:t>Iberia-France: an independent low-correlation external-validity anchor.</a:t>
            </a:r>
          </a:p>
        </p:txBody>
      </p:sp>
      <p:pic>
        <p:nvPicPr>
          <p:cNvPr id="11" name="Picture 10" descr="ci_corr_heatmap_us_w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463040"/>
            <a:ext cx="5212080" cy="239653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400800" y="5760720"/>
            <a:ext cx="5212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5B6675"/>
                </a:solidFill>
                <a:latin typeface="Segoe UI"/>
              </a:rPr>
              <a:t>Correlation is real, up to 0.78 on the US West.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50976"/>
          </a:xfrm>
          <a:prstGeom prst="rect">
            <a:avLst/>
          </a:prstGeom>
          <a:solidFill>
            <a:srgbClr val="0E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50976"/>
            <a:ext cx="12191695" cy="54864"/>
          </a:xfrm>
          <a:prstGeom prst="rect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57200" y="246888"/>
            <a:ext cx="457200" cy="457200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46888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>
                <a:solidFill>
                  <a:srgbClr val="0E2A52"/>
                </a:solidFill>
                <a:latin typeface="Georgia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0"/>
            <a:ext cx="9997135" cy="9509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FFFFFF"/>
                </a:solidFill>
                <a:latin typeface="Georgia"/>
              </a:rPr>
              <a:t>Validation and reproducibility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473952"/>
            <a:ext cx="11277295" cy="10972"/>
          </a:xfrm>
          <a:prstGeom prst="rect">
            <a:avLst/>
          </a:prstGeom>
          <a:solidFill>
            <a:srgbClr val="D9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73152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5B6675"/>
                </a:solidFill>
                <a:latin typeface="Segoe UI"/>
              </a:rPr>
              <a:t>The Price of Sophistication: carbon-aware data-center scheduling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05695" y="6492240"/>
            <a:ext cx="18288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5B6675"/>
                </a:solidFill>
                <a:latin typeface="Segoe UI"/>
              </a:rPr>
              <a:t>M. Ortiz Togashi  ·  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371600"/>
            <a:ext cx="557784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1600"/>
              </a:spcAft>
            </a:pPr>
            <a:r>
              <a:rPr sz="2100" b="1">
                <a:solidFill>
                  <a:srgbClr val="0E2A52"/>
                </a:solidFill>
                <a:latin typeface="Segoe UI"/>
              </a:rPr>
              <a:t>A pre-committed battery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400"/>
              </a:spcAft>
            </a:pPr>
            <a:r>
              <a:rPr sz="1400" b="1">
                <a:solidFill>
                  <a:srgbClr val="E69F00"/>
                </a:solidFill>
                <a:latin typeface="Segoe UI"/>
              </a:rPr>
              <a:t>●  </a:t>
            </a:r>
            <a:r>
              <a:rPr sz="1800" b="0">
                <a:solidFill>
                  <a:srgbClr val="16202E"/>
                </a:solidFill>
                <a:latin typeface="Segoe UI"/>
              </a:rPr>
              <a:t>The null survives Ledoit-Wolf shrinkage, residualization, and Benjamini-Hochberg correction across cells.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400"/>
              </a:spcAft>
            </a:pPr>
            <a:r>
              <a:rPr sz="1400" b="1">
                <a:solidFill>
                  <a:srgbClr val="E69F00"/>
                </a:solidFill>
                <a:latin typeface="Segoe UI"/>
              </a:rPr>
              <a:t>●  </a:t>
            </a:r>
            <a:r>
              <a:rPr sz="1800" b="0">
                <a:solidFill>
                  <a:srgbClr val="16202E"/>
                </a:solidFill>
                <a:latin typeface="Segoe UI"/>
              </a:rPr>
              <a:t>Walk-forward out-of-sample validation and a per-cell equivalence test.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400"/>
              </a:spcAft>
            </a:pPr>
            <a:r>
              <a:rPr sz="1400" b="1">
                <a:solidFill>
                  <a:srgbClr val="E69F00"/>
                </a:solidFill>
                <a:latin typeface="Segoe UI"/>
              </a:rPr>
              <a:t>●  </a:t>
            </a:r>
            <a:r>
              <a:rPr sz="1800" b="1">
                <a:solidFill>
                  <a:srgbClr val="0E2A52"/>
                </a:solidFill>
                <a:latin typeface="Segoe UI"/>
              </a:rPr>
              <a:t>202 tests (189 in public CI); bootstrap confidence intervals on every gap.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400"/>
              </a:spcAft>
            </a:pPr>
            <a:r>
              <a:rPr sz="1400" b="1">
                <a:solidFill>
                  <a:srgbClr val="E69F00"/>
                </a:solidFill>
                <a:latin typeface="Segoe UI"/>
              </a:rPr>
              <a:t>●  </a:t>
            </a:r>
            <a:r>
              <a:rPr sz="1800" b="0">
                <a:solidFill>
                  <a:srgbClr val="16202E"/>
                </a:solidFill>
                <a:latin typeface="Segoe UI"/>
              </a:rPr>
              <a:t>Pre-committed, version-controlled, with archived summary tables for every reported number.</a:t>
            </a:r>
          </a:p>
        </p:txBody>
      </p:sp>
      <p:pic>
        <p:nvPicPr>
          <p:cNvPr id="11" name="Picture 10" descr="robustn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554480"/>
            <a:ext cx="5212080" cy="205088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50976"/>
          </a:xfrm>
          <a:prstGeom prst="rect">
            <a:avLst/>
          </a:prstGeom>
          <a:solidFill>
            <a:srgbClr val="0E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50976"/>
            <a:ext cx="12191695" cy="54864"/>
          </a:xfrm>
          <a:prstGeom prst="rect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57200" y="246888"/>
            <a:ext cx="457200" cy="457200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46888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>
                <a:solidFill>
                  <a:srgbClr val="0E2A52"/>
                </a:solidFill>
                <a:latin typeface="Georgia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0"/>
            <a:ext cx="9997135" cy="9509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FFFFFF"/>
                </a:solidFill>
                <a:latin typeface="Georgia"/>
              </a:rPr>
              <a:t>Limitations, stated honestly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473952"/>
            <a:ext cx="11277295" cy="10972"/>
          </a:xfrm>
          <a:prstGeom prst="rect">
            <a:avLst/>
          </a:prstGeom>
          <a:solidFill>
            <a:srgbClr val="D9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73152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5B6675"/>
                </a:solidFill>
                <a:latin typeface="Segoe UI"/>
              </a:rPr>
              <a:t>The Price of Sophistication: carbon-aware data-center scheduling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05695" y="6492240"/>
            <a:ext cx="18288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5B6675"/>
                </a:solidFill>
                <a:latin typeface="Segoe UI"/>
              </a:rPr>
              <a:t>M. Ortiz Togashi  ·  14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371600"/>
            <a:ext cx="1088136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1700"/>
              </a:spcAft>
            </a:pPr>
            <a:r>
              <a:rPr sz="2200" b="1">
                <a:solidFill>
                  <a:srgbClr val="0E2A52"/>
                </a:solidFill>
                <a:latin typeface="Segoe UI"/>
              </a:rPr>
              <a:t>Where the claims could be pushed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500"/>
              </a:spcAft>
            </a:pPr>
            <a:r>
              <a:rPr sz="1500" b="1">
                <a:solidFill>
                  <a:srgbClr val="E69F00"/>
                </a:solidFill>
                <a:latin typeface="Segoe UI"/>
              </a:rPr>
              <a:t>●  </a:t>
            </a:r>
            <a:r>
              <a:rPr sz="1900" b="0">
                <a:solidFill>
                  <a:srgbClr val="16202E"/>
                </a:solidFill>
                <a:latin typeface="Segoe UI"/>
              </a:rPr>
              <a:t>One canonical workload (splittable load, ramp limits); a sharply different cost geometry could re-weight the covariance term.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500"/>
              </a:spcAft>
            </a:pPr>
            <a:r>
              <a:rPr sz="1500" b="1">
                <a:solidFill>
                  <a:srgbClr val="E69F00"/>
                </a:solidFill>
                <a:latin typeface="Segoe UI"/>
              </a:rPr>
              <a:t>●  </a:t>
            </a:r>
            <a:r>
              <a:rPr sz="1900" b="0">
                <a:solidFill>
                  <a:srgbClr val="16202E"/>
                </a:solidFill>
                <a:latin typeface="Segoe UI"/>
              </a:rPr>
              <a:t>Primary read is a single held-out year; walk-forward reproduces it, but multi-year evaluation would strengthen external validity.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500"/>
              </a:spcAft>
            </a:pPr>
            <a:r>
              <a:rPr sz="1500" b="1">
                <a:solidFill>
                  <a:srgbClr val="E69F00"/>
                </a:solidFill>
                <a:latin typeface="Segoe UI"/>
              </a:rPr>
              <a:t>●  </a:t>
            </a:r>
            <a:r>
              <a:rPr sz="1900" b="0">
                <a:solidFill>
                  <a:srgbClr val="16202E"/>
                </a:solidFill>
                <a:latin typeface="Segoe UI"/>
              </a:rPr>
              <a:t>Results generalize to grids where the diurnal mean dominates residual covariance: an empirical regularity, not a universal law.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500"/>
              </a:spcAft>
            </a:pPr>
            <a:r>
              <a:rPr sz="1500" b="1">
                <a:solidFill>
                  <a:srgbClr val="E69F00"/>
                </a:solidFill>
                <a:latin typeface="Segoe UI"/>
              </a:rPr>
              <a:t>●  </a:t>
            </a:r>
            <a:r>
              <a:rPr sz="1900" b="0">
                <a:solidFill>
                  <a:srgbClr val="16202E"/>
                </a:solidFill>
                <a:latin typeface="Segoe UI"/>
              </a:rPr>
              <a:t>The crossover is characterized, not observed: a grid with severe emergencies past M* near 3 would activate the robust layer.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50976"/>
          </a:xfrm>
          <a:prstGeom prst="rect">
            <a:avLst/>
          </a:prstGeom>
          <a:solidFill>
            <a:srgbClr val="0E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50976"/>
            <a:ext cx="12191695" cy="54864"/>
          </a:xfrm>
          <a:prstGeom prst="rect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57200" y="246888"/>
            <a:ext cx="457200" cy="457200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46888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>
                <a:solidFill>
                  <a:srgbClr val="0E2A52"/>
                </a:solidFill>
                <a:latin typeface="Georgia"/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0"/>
            <a:ext cx="9997135" cy="9509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FFFFFF"/>
                </a:solidFill>
                <a:latin typeface="Georgia"/>
              </a:rPr>
              <a:t>Conclusions and contributions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473952"/>
            <a:ext cx="11277295" cy="10972"/>
          </a:xfrm>
          <a:prstGeom prst="rect">
            <a:avLst/>
          </a:prstGeom>
          <a:solidFill>
            <a:srgbClr val="D9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73152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5B6675"/>
                </a:solidFill>
                <a:latin typeface="Segoe UI"/>
              </a:rPr>
              <a:t>The Price of Sophistication: carbon-aware data-center scheduling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05695" y="6492240"/>
            <a:ext cx="18288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5B6675"/>
                </a:solidFill>
                <a:latin typeface="Segoe UI"/>
              </a:rPr>
              <a:t>M. Ortiz Togashi  ·  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371600"/>
            <a:ext cx="1088136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1700"/>
              </a:spcAft>
            </a:pPr>
            <a:r>
              <a:rPr sz="2200" b="1">
                <a:solidFill>
                  <a:srgbClr val="0E2A52"/>
                </a:solidFill>
                <a:latin typeface="Segoe UI"/>
              </a:rPr>
              <a:t>What this thesis delivers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500"/>
              </a:spcAft>
            </a:pPr>
            <a:r>
              <a:rPr sz="1500" b="1">
                <a:solidFill>
                  <a:srgbClr val="E69F00"/>
                </a:solidFill>
                <a:latin typeface="Segoe UI"/>
              </a:rPr>
              <a:t>●  </a:t>
            </a:r>
            <a:r>
              <a:rPr sz="1900" b="1">
                <a:solidFill>
                  <a:srgbClr val="4A7C59"/>
                </a:solidFill>
                <a:latin typeface="Segoe UI"/>
              </a:rPr>
              <a:t>A working day-ahead migration scheduler with honest savings: a 4.0 to 9.9% CVaR reduction over the Phi=0 baseline, the dominant lever.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500"/>
              </a:spcAft>
            </a:pPr>
            <a:r>
              <a:rPr sz="1500" b="1">
                <a:solidFill>
                  <a:srgbClr val="E69F00"/>
                </a:solidFill>
                <a:latin typeface="Segoe UI"/>
              </a:rPr>
              <a:t>●  </a:t>
            </a:r>
            <a:r>
              <a:rPr sz="1900" b="0">
                <a:solidFill>
                  <a:srgbClr val="16202E"/>
                </a:solidFill>
                <a:latin typeface="Segoe UI"/>
              </a:rPr>
              <a:t>A screening rule: passive covariance and copulas add nothing, with a mean-dominance bound that says why.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500"/>
              </a:spcAft>
            </a:pPr>
            <a:r>
              <a:rPr sz="1500" b="1">
                <a:solidFill>
                  <a:srgbClr val="E69F00"/>
                </a:solidFill>
                <a:latin typeface="Segoe UI"/>
              </a:rPr>
              <a:t>●  </a:t>
            </a:r>
            <a:r>
              <a:rPr sz="1900" b="0">
                <a:solidFill>
                  <a:srgbClr val="16202E"/>
                </a:solidFill>
                <a:latin typeface="Segoe UI"/>
              </a:rPr>
              <a:t>A price-of-robustness decision rule with a tested, data-grounded bound (joint-grid M = 1.29–1.89, below M* near 3).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500"/>
              </a:spcAft>
            </a:pPr>
            <a:r>
              <a:rPr sz="1500" b="1">
                <a:solidFill>
                  <a:srgbClr val="E69F00"/>
                </a:solidFill>
                <a:latin typeface="Segoe UI"/>
              </a:rPr>
              <a:t>●  </a:t>
            </a:r>
            <a:r>
              <a:rPr sz="1900" b="1">
                <a:solidFill>
                  <a:srgbClr val="0E2A52"/>
                </a:solidFill>
                <a:latin typeface="Segoe UI"/>
              </a:rPr>
              <a:t>A reproducible, pre-committed pipeline under 202 tests.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2A5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822960"/>
            <a:ext cx="104241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Georgia"/>
              </a:rPr>
              <a:t>The takeaway, and thank you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1627632"/>
            <a:ext cx="2377440" cy="45720"/>
          </a:xfrm>
          <a:prstGeom prst="rect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965960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>
                <a:solidFill>
                  <a:srgbClr val="E69F00"/>
                </a:solidFill>
                <a:latin typeface="Segoe UI"/>
              </a:rPr>
              <a:t>The rule in one 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514600"/>
            <a:ext cx="1042416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400"/>
              </a:spcAft>
            </a:pPr>
            <a:r>
              <a:rPr sz="1400" b="1">
                <a:solidFill>
                  <a:srgbClr val="E69F00"/>
                </a:solidFill>
                <a:latin typeface="Segoe UI"/>
              </a:rPr>
              <a:t>●  </a:t>
            </a:r>
            <a:r>
              <a:rPr sz="1800" b="0">
                <a:solidFill>
                  <a:srgbClr val="CDD6E4"/>
                </a:solidFill>
                <a:latin typeface="Segoe UI"/>
              </a:rPr>
              <a:t>Always schedule per-region.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400"/>
              </a:spcAft>
            </a:pPr>
            <a:r>
              <a:rPr sz="1400" b="1">
                <a:solidFill>
                  <a:srgbClr val="E69F00"/>
                </a:solidFill>
                <a:latin typeface="Segoe UI"/>
              </a:rPr>
              <a:t>●  </a:t>
            </a:r>
            <a:r>
              <a:rPr sz="1800" b="0">
                <a:solidFill>
                  <a:srgbClr val="CDD6E4"/>
                </a:solidFill>
                <a:latin typeface="Segoe UI"/>
              </a:rPr>
              <a:t>Add inter-region transfer: this is the lever, 4.0 to 9.9% over Phi=0.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400"/>
              </a:spcAft>
            </a:pPr>
            <a:r>
              <a:rPr sz="1400" b="1">
                <a:solidFill>
                  <a:srgbClr val="E69F00"/>
                </a:solidFill>
                <a:latin typeface="Segoe UI"/>
              </a:rPr>
              <a:t>●  </a:t>
            </a:r>
            <a:r>
              <a:rPr sz="1800" b="0">
                <a:solidFill>
                  <a:srgbClr val="CDD6E4"/>
                </a:solidFill>
                <a:latin typeface="Segoe UI"/>
              </a:rPr>
              <a:t>Skip covariance and copulas: they add nothing.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400"/>
              </a:spcAft>
            </a:pPr>
            <a:r>
              <a:rPr sz="1400" b="1">
                <a:solidFill>
                  <a:srgbClr val="E69F00"/>
                </a:solidFill>
                <a:latin typeface="Segoe UI"/>
              </a:rPr>
              <a:t>●  </a:t>
            </a:r>
            <a:r>
              <a:rPr sz="1800" b="0">
                <a:solidFill>
                  <a:srgbClr val="CDD6E4"/>
                </a:solidFill>
                <a:latin typeface="Segoe UI"/>
              </a:rPr>
              <a:t>Robustify only if you expect emergencies past M* near 3.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5852160"/>
            <a:ext cx="104241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>
                <a:solidFill>
                  <a:srgbClr val="E69F00"/>
                </a:solidFill>
                <a:latin typeface="Georgia"/>
              </a:rPr>
              <a:t>Thank you. Questions welcome.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50976"/>
          </a:xfrm>
          <a:prstGeom prst="rect">
            <a:avLst/>
          </a:prstGeom>
          <a:solidFill>
            <a:srgbClr val="0E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50976"/>
            <a:ext cx="12191695" cy="54864"/>
          </a:xfrm>
          <a:prstGeom prst="rect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57200" y="246888"/>
            <a:ext cx="457200" cy="457200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46888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>
                <a:solidFill>
                  <a:srgbClr val="0E2A52"/>
                </a:solidFill>
                <a:latin typeface="Georgia"/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0"/>
            <a:ext cx="9997135" cy="9509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FFFFFF"/>
                </a:solidFill>
                <a:latin typeface="Georgia"/>
              </a:rPr>
              <a:t>Backup: the falsification test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473952"/>
            <a:ext cx="11277295" cy="10972"/>
          </a:xfrm>
          <a:prstGeom prst="rect">
            <a:avLst/>
          </a:prstGeom>
          <a:solidFill>
            <a:srgbClr val="D9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73152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5B6675"/>
                </a:solidFill>
                <a:latin typeface="Segoe UI"/>
              </a:rPr>
              <a:t>The Price of Sophistication: carbon-aware data-center scheduling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05695" y="6492240"/>
            <a:ext cx="18288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5B6675"/>
                </a:solidFill>
                <a:latin typeface="Segoe UI"/>
              </a:rPr>
              <a:t>M. Ortiz Togashi  ·  17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325880"/>
            <a:ext cx="557784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1600"/>
              </a:spcAft>
            </a:pPr>
            <a:r>
              <a:rPr sz="2100" b="1">
                <a:solidFill>
                  <a:srgbClr val="0E2A52"/>
                </a:solidFill>
                <a:latin typeface="Segoe UI"/>
              </a:rPr>
              <a:t>Shuffled marginals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400"/>
              </a:spcAft>
            </a:pPr>
            <a:r>
              <a:rPr sz="1400" b="1">
                <a:solidFill>
                  <a:srgbClr val="E69F00"/>
                </a:solidFill>
                <a:latin typeface="Segoe UI"/>
              </a:rPr>
              <a:t>●  </a:t>
            </a:r>
            <a:r>
              <a:rPr sz="1800" b="0">
                <a:solidFill>
                  <a:srgbClr val="16202E"/>
                </a:solidFill>
                <a:latin typeface="Segoe UI"/>
              </a:rPr>
              <a:t>Fit the schedule to the full joint covariance.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400"/>
              </a:spcAft>
            </a:pPr>
            <a:r>
              <a:rPr sz="1400" b="1">
                <a:solidFill>
                  <a:srgbClr val="E69F00"/>
                </a:solidFill>
                <a:latin typeface="Segoe UI"/>
              </a:rPr>
              <a:t>●  </a:t>
            </a:r>
            <a:r>
              <a:rPr sz="1800" b="0">
                <a:solidFill>
                  <a:srgbClr val="16202E"/>
                </a:solidFill>
                <a:latin typeface="Segoe UI"/>
              </a:rPr>
              <a:t>Refit to a block-diagonal covariance: identical marginals, cross-region structure destroyed (shuffled).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400"/>
              </a:spcAft>
            </a:pPr>
            <a:r>
              <a:rPr sz="1400" b="1">
                <a:solidFill>
                  <a:srgbClr val="E69F00"/>
                </a:solidFill>
                <a:latin typeface="Segoe UI"/>
              </a:rPr>
              <a:t>●  </a:t>
            </a:r>
            <a:r>
              <a:rPr sz="1800" b="0">
                <a:solidFill>
                  <a:srgbClr val="16202E"/>
                </a:solidFill>
                <a:latin typeface="Segoe UI"/>
              </a:rPr>
              <a:t>Score both on out-of-sample CVaR(0.95) of daily emissions.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400"/>
              </a:spcAft>
            </a:pPr>
            <a:r>
              <a:rPr sz="1400" b="1">
                <a:solidFill>
                  <a:srgbClr val="E69F00"/>
                </a:solidFill>
                <a:latin typeface="Segoe UI"/>
              </a:rPr>
              <a:t>●  </a:t>
            </a:r>
            <a:r>
              <a:rPr sz="1800" b="1">
                <a:solidFill>
                  <a:srgbClr val="0E2A52"/>
                </a:solidFill>
                <a:latin typeface="Segoe UI"/>
              </a:rPr>
              <a:t>Pre-committed: if spatial structure matters, the joint schedule must win. It does not.</a:t>
            </a:r>
          </a:p>
        </p:txBody>
      </p:sp>
      <p:pic>
        <p:nvPicPr>
          <p:cNvPr id="11" name="Picture 10" descr="schedule_us_w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463040"/>
            <a:ext cx="5212080" cy="1222291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400800" y="5760720"/>
            <a:ext cx="5212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5B6675"/>
                </a:solidFill>
                <a:latin typeface="Segoe UI"/>
              </a:rPr>
              <a:t>Joint vs shuffled schedules, side by side.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50976"/>
          </a:xfrm>
          <a:prstGeom prst="rect">
            <a:avLst/>
          </a:prstGeom>
          <a:solidFill>
            <a:srgbClr val="0E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50976"/>
            <a:ext cx="12191695" cy="54864"/>
          </a:xfrm>
          <a:prstGeom prst="rect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57200" y="246888"/>
            <a:ext cx="457200" cy="457200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46888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>
                <a:solidFill>
                  <a:srgbClr val="0E2A52"/>
                </a:solidFill>
                <a:latin typeface="Georgia"/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0"/>
            <a:ext cx="9997135" cy="9509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FFFFFF"/>
                </a:solidFill>
                <a:latin typeface="Georgia"/>
              </a:rPr>
              <a:t>Backup: non-elliptical tail dependence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473952"/>
            <a:ext cx="11277295" cy="10972"/>
          </a:xfrm>
          <a:prstGeom prst="rect">
            <a:avLst/>
          </a:prstGeom>
          <a:solidFill>
            <a:srgbClr val="D9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73152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5B6675"/>
                </a:solidFill>
                <a:latin typeface="Segoe UI"/>
              </a:rPr>
              <a:t>The Price of Sophistication: carbon-aware data-center scheduling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05695" y="6492240"/>
            <a:ext cx="18288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5B6675"/>
                </a:solidFill>
                <a:latin typeface="Segoe UI"/>
              </a:rPr>
              <a:t>M. Ortiz Togashi  ·  18</a:t>
            </a:r>
          </a:p>
        </p:txBody>
      </p:sp>
      <p:pic>
        <p:nvPicPr>
          <p:cNvPr id="10" name="Picture 9" descr="tail_dependence_task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417320"/>
            <a:ext cx="6583680" cy="331000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315200" y="1554480"/>
            <a:ext cx="429768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1600"/>
              </a:spcAft>
            </a:pPr>
            <a:r>
              <a:rPr sz="2000" b="1">
                <a:solidFill>
                  <a:srgbClr val="0E2A52"/>
                </a:solidFill>
                <a:latin typeface="Segoe UI"/>
              </a:rPr>
              <a:t>Structural reason covariance fails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400"/>
              </a:spcAft>
            </a:pPr>
            <a:r>
              <a:rPr sz="1300" b="1">
                <a:solidFill>
                  <a:srgbClr val="E69F00"/>
                </a:solidFill>
                <a:latin typeface="Segoe UI"/>
              </a:rPr>
              <a:t>●  </a:t>
            </a:r>
            <a:r>
              <a:rPr sz="1700" b="0">
                <a:solidFill>
                  <a:srgbClr val="16202E"/>
                </a:solidFill>
                <a:latin typeface="Segoe UI"/>
              </a:rPr>
              <a:t>Residual dependence is non-elliptical: regions go clean together more than dirty together (chi_L &gt; chi_U).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400"/>
              </a:spcAft>
            </a:pPr>
            <a:r>
              <a:rPr sz="1300" b="1">
                <a:solidFill>
                  <a:srgbClr val="E69F00"/>
                </a:solidFill>
                <a:latin typeface="Segoe UI"/>
              </a:rPr>
              <a:t>●  </a:t>
            </a:r>
            <a:r>
              <a:rPr sz="1700" b="0">
                <a:solidFill>
                  <a:srgbClr val="16202E"/>
                </a:solidFill>
                <a:latin typeface="Segoe UI"/>
              </a:rPr>
              <a:t>A covariance ball forces chi_L = chi_U by construction.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400"/>
              </a:spcAft>
            </a:pPr>
            <a:r>
              <a:rPr sz="1300" b="1">
                <a:solidFill>
                  <a:srgbClr val="E69F00"/>
                </a:solidFill>
                <a:latin typeface="Segoe UI"/>
              </a:rPr>
              <a:t>●  </a:t>
            </a:r>
            <a:r>
              <a:rPr sz="1700" b="1">
                <a:solidFill>
                  <a:srgbClr val="0E2A52"/>
                </a:solidFill>
                <a:latin typeface="Segoe UI"/>
              </a:rPr>
              <a:t>So an elliptical ambiguity set is blind to the only structure left, and it sits in the clean tail a risk-averse scheduler ignores.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