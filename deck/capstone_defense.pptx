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658368"/>
            <a:ext cx="1828800" cy="15701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395728"/>
            <a:ext cx="106984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2900" b="1">
                <a:solidFill>
                  <a:srgbClr val="FFFFFF"/>
                </a:solidFill>
                <a:latin typeface="Georgia"/>
              </a:rPr>
              <a:t>Does Spatial Correlation of Carbon Intensity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2900" b="1">
                <a:solidFill>
                  <a:srgbClr val="FFFFFF"/>
                </a:solidFill>
                <a:latin typeface="Georgia"/>
              </a:rPr>
              <a:t>Improve Robust Carbon-Aware Data-Center Scheduling?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370832"/>
            <a:ext cx="2926080" cy="457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55371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DD6E4"/>
                </a:solidFill>
                <a:latin typeface="Segoe UI"/>
              </a:rPr>
              <a:t>A multi-grid falsification study: a causal mechanism, a copula test, and an active-transfer extension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6235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Marco Ortiz Togashi</a:t>
            </a:r>
            <a:r>
              <a:rPr sz="1500" b="0">
                <a:solidFill>
                  <a:srgbClr val="CDD6E4"/>
                </a:solidFill>
                <a:latin typeface="Segoe UI"/>
              </a:rPr>
              <a:t>    ·    IE University  ·  MSc Business Analytics &amp; Data Science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DD6E4"/>
                </a:solidFill>
                <a:latin typeface="Segoe UI"/>
              </a:rPr>
              <a:t>Supervisor: Prof. Bissan Ghaddar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Data centers can move their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Spatial correlation &amp; carbon-aware DRO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2200" b="1">
                <a:solidFill>
                  <a:srgbClr val="0E2A52"/>
                </a:solidFill>
                <a:latin typeface="Segoe UI"/>
              </a:rPr>
              <a:t>The opportunity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Compute is unusually flexible: batch and AI-training jobs can shift in time and across sites.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Carbon intensity of electricity varies sharply by hour and by region.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So a scheduler can defer work to cleaner moments, cutting emissions for free.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Recent work makes this robust: model carbon as uncertain inside a distributionally robust optimization (DRO).</a:t>
            </a:r>
          </a:p>
        </p:txBody>
      </p:sp>
      <p:pic>
        <p:nvPicPr>
          <p:cNvPr id="11" name="Picture 10" descr="corre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212080" cy="308666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8064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B6675"/>
                </a:solidFill>
                <a:latin typeface="Segoe UI"/>
              </a:rPr>
              <a:t>Regional carbon intensity is spatially structured.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The idea on trial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Spatial correlation &amp; carbon-aware DRO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2000"/>
              </a:spcAft>
            </a:pPr>
            <a:r>
              <a:rPr sz="2400" b="1">
                <a:solidFill>
                  <a:srgbClr val="0E2A52"/>
                </a:solidFill>
                <a:latin typeface="Segoe UI"/>
              </a:rPr>
              <a:t>What if regions move together?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700" b="1">
                <a:solidFill>
                  <a:srgbClr val="E69F00"/>
                </a:solidFill>
                <a:latin typeface="Segoe UI"/>
              </a:rPr>
              <a:t>●  </a:t>
            </a:r>
            <a:r>
              <a:rPr sz="2100" b="0">
                <a:solidFill>
                  <a:srgbClr val="16202E"/>
                </a:solidFill>
                <a:latin typeface="Segoe UI"/>
              </a:rPr>
              <a:t>A natural next step: treat carbon intensity as a stochastic vector across coupled regions, not one region at a time.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700" b="1">
                <a:solidFill>
                  <a:srgbClr val="E69F00"/>
                </a:solidFill>
                <a:latin typeface="Segoe UI"/>
              </a:rPr>
              <a:t>●  </a:t>
            </a:r>
            <a:r>
              <a:rPr sz="2100" b="0">
                <a:solidFill>
                  <a:srgbClr val="16202E"/>
                </a:solidFill>
                <a:latin typeface="Segoe UI"/>
              </a:rPr>
              <a:t>Then spatial correlation between regions could inform the robust schedule.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700" b="1">
                <a:solidFill>
                  <a:srgbClr val="E69F00"/>
                </a:solidFill>
                <a:latin typeface="Segoe UI"/>
              </a:rPr>
              <a:t>●  </a:t>
            </a:r>
            <a:r>
              <a:rPr sz="2100" b="0">
                <a:solidFill>
                  <a:srgbClr val="16202E"/>
                </a:solidFill>
                <a:latin typeface="Segoe UI"/>
              </a:rPr>
              <a:t>Intuition: if neighbouring grids move together, a robust scheduler should be able to exploit that joint structure.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074920"/>
            <a:ext cx="10881360" cy="105156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This thesis asks one question: does that spatial structure actually carry any robust scheduling value?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The gap in prior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Spatial correlation &amp; carbon-aware DRO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2000"/>
              </a:spcAft>
            </a:pPr>
            <a:r>
              <a:rPr sz="2400" b="1">
                <a:solidFill>
                  <a:srgbClr val="0E2A52"/>
                </a:solidFill>
                <a:latin typeface="Segoe UI"/>
              </a:rPr>
              <a:t>Regions are modelled one at a time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700" b="1">
                <a:solidFill>
                  <a:srgbClr val="E69F00"/>
                </a:solidFill>
                <a:latin typeface="Segoe UI"/>
              </a:rPr>
              <a:t>●  </a:t>
            </a:r>
            <a:r>
              <a:rPr sz="2100" b="0">
                <a:solidFill>
                  <a:srgbClr val="16202E"/>
                </a:solidFill>
                <a:latin typeface="Segoe UI"/>
              </a:rPr>
              <a:t>Existing carbon-aware DRO models treat each region in isolation: per-region marginal uncertainty only.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700" b="1">
                <a:solidFill>
                  <a:srgbClr val="E69F00"/>
                </a:solidFill>
                <a:latin typeface="Segoe UI"/>
              </a:rPr>
              <a:t>●  </a:t>
            </a:r>
            <a:r>
              <a:rPr sz="2100" b="0">
                <a:solidFill>
                  <a:srgbClr val="16202E"/>
                </a:solidFill>
                <a:latin typeface="Segoe UI"/>
              </a:rPr>
              <a:t>The cross-region dependence is never put on trial for scheduling value.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700" b="1">
                <a:solidFill>
                  <a:srgbClr val="E69F00"/>
                </a:solidFill>
                <a:latin typeface="Segoe UI"/>
              </a:rPr>
              <a:t>●  </a:t>
            </a:r>
            <a:r>
              <a:rPr sz="2100" b="0">
                <a:solidFill>
                  <a:srgbClr val="16202E"/>
                </a:solidFill>
                <a:latin typeface="Segoe UI"/>
              </a:rPr>
              <a:t>It is simply assumed to help, or ignored. Nobody has tested it directly.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029200"/>
            <a:ext cx="10881360" cy="1097280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84064"/>
            <a:ext cx="10332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We build the joint-covariance model, then design a test that can falsify its value.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Research questions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Spatial correlation &amp; carbon-aware DRO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417320"/>
            <a:ext cx="10881360" cy="214884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417320"/>
            <a:ext cx="128016" cy="214884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544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0E2A52"/>
                </a:solidFill>
                <a:latin typeface="Georgia"/>
              </a:rPr>
              <a:t>RQ1   Is the spatial premise valid?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24028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16202E"/>
                </a:solidFill>
                <a:latin typeface="Segoe UI"/>
              </a:rPr>
              <a:t>Is carbon intensity genuinely correlated across the regions we study, so the joint model has something real to exploit?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840480"/>
            <a:ext cx="10881360" cy="214884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840480"/>
            <a:ext cx="128016" cy="21488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0E2A52"/>
                </a:solidFill>
                <a:latin typeface="Georgia"/>
              </a:rPr>
              <a:t>RQ2   Does spatial structure pay?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66344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16202E"/>
                </a:solidFill>
                <a:latin typeface="Segoe UI"/>
              </a:rPr>
              <a:t>Does scheduling to the joint covariance beat scheduling to the marginals alone, measured by out-of-sample tail risk?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Method 1: the robust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Spatial correlation &amp; carbon-aware DRO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DRO as a second-order cone program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Mahalanobis–Wasserstein DRO: hedge against carbon distributions close to the data in a covariance-aware metric.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It reduces to a second-order cone program (SOCP), solved exactly and fast.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ε sets the robustness radius; Σ̂ carries the spatial structure through 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011680"/>
            <a:ext cx="5212080" cy="13716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_eq_d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59" y="2331720"/>
            <a:ext cx="4937760" cy="62286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3703320"/>
            <a:ext cx="52120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675"/>
                </a:solidFill>
                <a:latin typeface="Segoe UI"/>
              </a:rPr>
              <a:t>The covariance Σ̂ enters only through the cone term ε‖Lᵀx‖. Destroy the cross-region part of Σ̂ and we get a clean control.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Method 2: the falsification 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Spatial correlation &amp; carbon-aware DRO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55778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Shuffled marginals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Fit the schedule to the full joint covariance.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Refit it to a block-diagonal covariance: identical marginals, cross-region structure destroyed (shuffled).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Score both on out-of-sample CVaR₀.₉₅ of daily emissions.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0E2A52"/>
                </a:solidFill>
                <a:latin typeface="Segoe UI"/>
              </a:rPr>
              <a:t>Pre-registered. If spatial structure matters, the joint schedule must win.</a:t>
            </a:r>
          </a:p>
        </p:txBody>
      </p:sp>
      <p:pic>
        <p:nvPicPr>
          <p:cNvPr id="11" name="Picture 10" descr="schedule_us_w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212080" cy="142051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7607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B6675"/>
                </a:solidFill>
                <a:latin typeface="Segoe UI"/>
              </a:rPr>
              <a:t>Joint vs shuffled schedules, side by side.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Data: three grids across the spectrum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Spatial correlation &amp; carbon-aware DRO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Real Electricity Maps carbon intensity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US West: a strongly, uniformly correlated grid (common-mode).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Eastern Interconnection belt: an Ontario-anchored mid-correlation set.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Engineered solar / wind / hydro portfolio: low, heterogeneous correlation.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Iberia–France: an independent low-correlation anchor.</a:t>
            </a:r>
          </a:p>
        </p:txBody>
      </p:sp>
      <p:pic>
        <p:nvPicPr>
          <p:cNvPr id="11" name="Picture 10" descr="corre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212080" cy="308666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7150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B6675"/>
                </a:solidFill>
                <a:latin typeface="Segoe UI"/>
              </a:rPr>
              <a:t>Chosen to span weak → strong spatial dependence.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RQ1: the spatial premise is valid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Spatial correlation &amp; carbon-aware DRO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9</a:t>
            </a:r>
          </a:p>
        </p:txBody>
      </p:sp>
      <p:pic>
        <p:nvPicPr>
          <p:cNvPr id="10" name="Picture 9" descr="ci_corr_heatmap_us_w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766560" cy="311129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0" y="1554480"/>
            <a:ext cx="39319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Correlation is real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4A7C59"/>
                </a:solidFill>
                <a:latin typeface="Segoe UI"/>
              </a:rPr>
              <a:t>Cross-region correlation is real and strong, up to 0.78 on the US West.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It is stable across hours and seasons.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So the joint model is not fighting a strawman: there is genuine structure to exploit.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RQ2: a replicated null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Spatial correlation &amp; carbon-aware DRO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10</a:t>
            </a:r>
          </a:p>
        </p:txBody>
      </p:sp>
      <p:pic>
        <p:nvPicPr>
          <p:cNvPr id="10" name="Picture 9" descr="fi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9381476" cy="3383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40080" y="4983480"/>
            <a:ext cx="10881360" cy="1143000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29200"/>
            <a:ext cx="103327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The spatial gap never exceeds a few tenths of one percent. Joint and shuffled schedules coincide out of sample, on every grid.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The null is genuinely robust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Spatial correlation &amp; carbon-aware DRO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A pre-registered battery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Shrinkage and residualization of the covariance.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Benjamini–Hochberg correction across all cells.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Walk-forward out-of-sample validation, tighter-ramp sensitivity.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Multi-seed stability: the single-seed crossovers were scenario noise.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0E2A52"/>
                </a:solidFill>
                <a:latin typeface="Segoe UI"/>
              </a:rPr>
              <a:t>TOST equivalence: statistically equivalent, not merely not-significant.</a:t>
            </a:r>
          </a:p>
        </p:txBody>
      </p:sp>
      <p:pic>
        <p:nvPicPr>
          <p:cNvPr id="11" name="Picture 10" descr="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212080" cy="176070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Mechanism 1: the mean dominates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Spatial correlation &amp; carbon-aware DRO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Mean-ablation (causal)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B3402F"/>
                </a:solidFill>
                <a:latin typeface="Segoe UI"/>
              </a:rPr>
              <a:t>Flatten the mean carbon field and the joint covariance suddenly pays, up to +1.46%.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So the spatial signal is real, but masked: dwarfed by the diurnal mean.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The schedule chases the big mean valley; the covariance is a ripple on top.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554480"/>
            <a:ext cx="5212080" cy="41148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783080"/>
            <a:ext cx="475488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1">
                <a:solidFill>
                  <a:srgbClr val="0E2A52"/>
                </a:solidFill>
                <a:latin typeface="Georgia"/>
              </a:rPr>
              <a:t>Why this happens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Carbon intensity is driven overwhelmingly by the time-of-day mean (solar, demand). That signal is shared, predictable, and huge.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The cross-region covariance is a second-order wrinkle on a first-order wave, so it cannot move the optimal schedule.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Mechanism 2: the wrong object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Spatial correlation &amp; carbon-aware DRO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13</a:t>
            </a:r>
          </a:p>
        </p:txBody>
      </p:sp>
      <p:pic>
        <p:nvPicPr>
          <p:cNvPr id="10" name="Picture 9" descr="tail_dependence_task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583680" cy="37555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1554480"/>
            <a:ext cx="42976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Tail dependence (structural)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Residual dependence is non-elliptical: regions go clean together more than dirty together (χ_L &gt; χ_U).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A covariance ball forces χ_L = χ_U by construction.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0E2A52"/>
                </a:solidFill>
                <a:latin typeface="Segoe UI"/>
              </a:rPr>
              <a:t>So an elliptical ambiguity set is the wrong object, blind to the only structure that is left.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Foreclosing the rebuttal: copulas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Spatial correlation &amp; carbon-aware DRO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14</a:t>
            </a:r>
          </a:p>
        </p:txBody>
      </p:sp>
      <p:pic>
        <p:nvPicPr>
          <p:cNvPr id="10" name="Picture 9" descr="copula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583680" cy="2245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1554480"/>
            <a:ext cx="42976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Richer dependence, same null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“Maybe covariance is just the wrong model.” We test richer ones.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Gaussian, lower-tail Clayton, and the maximal comonotone copula.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4A7C59"/>
                </a:solidFill>
                <a:latin typeface="Segoe UI"/>
              </a:rPr>
              <a:t>All leave the null intact; an a-priori bound caps the achievable gain.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What the null means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Spatial correlation &amp; carbon-aware DRO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417320"/>
            <a:ext cx="10881360" cy="20116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417320"/>
            <a:ext cx="128016" cy="201168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0020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2300" b="1">
                <a:solidFill>
                  <a:srgbClr val="0E2A52"/>
                </a:solidFill>
                <a:latin typeface="Georgia"/>
              </a:rPr>
              <a:t>Per-region marginal schedulers capture essentially all the value.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16202E"/>
                </a:solidFill>
                <a:latin typeface="Segoe UI"/>
              </a:rPr>
              <a:t>Modelling the joint distribution adds complexity and solve time for no robust scheduling benefit.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03320"/>
            <a:ext cx="10881360" cy="2011680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88620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2300" b="1">
                <a:solidFill>
                  <a:srgbClr val="FFFFFF"/>
                </a:solidFill>
                <a:latin typeface="Georgia"/>
              </a:rPr>
              <a:t>Spatial value, if any, lives in an active transfer channel.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CDD6E4"/>
                </a:solidFill>
                <a:latin typeface="Segoe UI"/>
              </a:rPr>
              <a:t>Not in a richer passive dependence model, but in actually moving load between regions. That is Phase 3.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Limitations, stated honestly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Spatial correlation &amp; carbon-aware DRO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2200" b="1">
                <a:solidFill>
                  <a:srgbClr val="0E2A52"/>
                </a:solidFill>
                <a:latin typeface="Segoe UI"/>
              </a:rPr>
              <a:t>Where the result could be pushed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Correlated grids are a best-case stress test: compute shifting is logical (over the network), not electrical, so we hand the joint model its best shot.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Results are specific to the grids and the study period; carbon series evolve.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CVaR₀.₉₅ is one risk measure; the mean-dominance mechanism, though, is measure-agnostic.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The transfer-channel result (Phase 3) is preliminary and deterministic.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Conclusions &amp; contributions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Spatial correlation &amp; carbon-aware DRO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2200" b="1">
                <a:solidFill>
                  <a:srgbClr val="0E2A52"/>
                </a:solidFill>
                <a:latin typeface="Segoe UI"/>
              </a:rPr>
              <a:t>What this thesis delivers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A pre-registered falsification test for the scheduling value of spatial carbon structure.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A replicated null across the full dependence spectrum, with multi-seed and equivalence backing.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The mechanism: the diurnal mean dominates, and the residual dependence is non-elliptical, so covariance is both subordinate and the wrong object.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1">
                <a:solidFill>
                  <a:srgbClr val="0E2A52"/>
                </a:solidFill>
                <a:latin typeface="Segoe UI"/>
              </a:rPr>
              <a:t>A clear, honest negative result that redirects effort to the active transfer channel.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Georgia"/>
              </a:rPr>
              <a:t>Future work, and 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627632"/>
            <a:ext cx="2377440" cy="457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rt3_prelimin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6675120" cy="24987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96596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E69F00"/>
                </a:solidFill>
                <a:latin typeface="Segoe UI"/>
              </a:rPr>
              <a:t>Where the value actually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2514600"/>
            <a:ext cx="38404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00" b="0">
                <a:solidFill>
                  <a:srgbClr val="CDD6E4"/>
                </a:solidFill>
                <a:latin typeface="Segoe UI"/>
              </a:rPr>
              <a:t>Phase 3: the active transfer channel, where moving load shows 4–10% deterministic value.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00" b="0">
                <a:solidFill>
                  <a:srgbClr val="CDD6E4"/>
                </a:solidFill>
                <a:latin typeface="Segoe UI"/>
              </a:rPr>
              <a:t>Stochastic and online versions of that channel.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8521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69F00"/>
                </a:solidFill>
                <a:latin typeface="Georgia"/>
              </a:rPr>
              <a:t>Thank you. Questions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