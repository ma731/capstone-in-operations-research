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A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e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658368"/>
            <a:ext cx="1828800" cy="15701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" y="2212848"/>
            <a:ext cx="106984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800"/>
              </a:spcAft>
            </a:pPr>
            <a:r>
              <a:rPr sz="3300" b="1">
                <a:solidFill>
                  <a:srgbClr val="FFFFFF"/>
                </a:solidFill>
                <a:latin typeface="Georgia"/>
              </a:rPr>
              <a:t>The Price of Sophistication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80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A Pre-Committed Falsification Test for When Spatial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80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and Robust Modelling Pay in Carbon-Aware Scheduling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4498848"/>
            <a:ext cx="2926080" cy="457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4681728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CDD6E4"/>
                </a:solidFill>
                <a:latin typeface="Segoe UI"/>
              </a:rPr>
              <a:t>A working day-ahead migration scheduler, and a decision rule for when each modelling layer earns its complexity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62356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Segoe UI"/>
              </a:rPr>
              <a:t>Marco Ortiz Togashi</a:t>
            </a:r>
            <a:r>
              <a:rPr sz="1500" b="0">
                <a:solidFill>
                  <a:srgbClr val="CDD6E4"/>
                </a:solidFill>
                <a:latin typeface="Segoe UI"/>
              </a:rPr>
              <a:t>    ·    IE University  ·  MSc Business Analytics &amp; Data Science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CDD6E4"/>
                </a:solidFill>
                <a:latin typeface="Segoe UI"/>
              </a:rPr>
              <a:t>Supervisor: Prof. Bissan Ghaddar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Flexible compute meets a varying grid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Sophistication: carbon-aware data-center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37160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2200" b="1">
                <a:solidFill>
                  <a:srgbClr val="0E2A52"/>
                </a:solidFill>
                <a:latin typeface="Segoe UI"/>
              </a:rPr>
              <a:t>The opportunity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600"/>
              </a:spcAft>
            </a:pPr>
            <a:r>
              <a:rPr sz="15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900" b="0">
                <a:solidFill>
                  <a:srgbClr val="16202E"/>
                </a:solidFill>
                <a:latin typeface="Segoe UI"/>
              </a:rPr>
              <a:t>Compute is unusually flexible: batch and AI-training jobs can shift in time and across sites.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600"/>
              </a:spcAft>
            </a:pPr>
            <a:r>
              <a:rPr sz="15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900" b="0">
                <a:solidFill>
                  <a:srgbClr val="16202E"/>
                </a:solidFill>
                <a:latin typeface="Segoe UI"/>
              </a:rPr>
              <a:t>Carbon intensity of electricity varies sharply by hour and by region, driven by wind, solar, hydro, and demand.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600"/>
              </a:spcAft>
            </a:pPr>
            <a:r>
              <a:rPr sz="15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900" b="0">
                <a:solidFill>
                  <a:srgbClr val="16202E"/>
                </a:solidFill>
                <a:latin typeface="Segoe UI"/>
              </a:rPr>
              <a:t>So an operator can ship work to cleaner hours and cleaner regions, cutting emissions at almost no cost.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600"/>
              </a:spcAft>
            </a:pPr>
            <a:r>
              <a:rPr sz="15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900" b="1">
                <a:solidFill>
                  <a:srgbClr val="0E2A52"/>
                </a:solidFill>
                <a:latin typeface="Segoe UI"/>
              </a:rPr>
              <a:t>The open question is not whether to schedule, but which modelling layers actually pay for their complexity.</a:t>
            </a:r>
          </a:p>
        </p:txBody>
      </p:sp>
      <p:pic>
        <p:nvPicPr>
          <p:cNvPr id="11" name="Picture 10" descr="correlation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554480"/>
            <a:ext cx="5212080" cy="32536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0" y="580644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5B6675"/>
                </a:solidFill>
                <a:latin typeface="Segoe UI"/>
              </a:rPr>
              <a:t>Carbon intensity is spatially structured, and it moves.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Which layers earn their complexity?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Sophistication: carbon-aware data-center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417320"/>
            <a:ext cx="1088136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2300" b="1">
                <a:solidFill>
                  <a:srgbClr val="0E2A52"/>
                </a:solidFill>
                <a:latin typeface="Segoe UI"/>
              </a:rPr>
              <a:t>Sophistication is not free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600"/>
              </a:spcAft>
            </a:pPr>
            <a:r>
              <a:rPr sz="1600" b="1">
                <a:solidFill>
                  <a:srgbClr val="E69F00"/>
                </a:solidFill>
                <a:latin typeface="Segoe UI"/>
              </a:rPr>
              <a:t>●  </a:t>
            </a:r>
            <a:r>
              <a:rPr sz="2000" b="0">
                <a:solidFill>
                  <a:srgbClr val="16202E"/>
                </a:solidFill>
                <a:latin typeface="Segoe UI"/>
              </a:rPr>
              <a:t>Each layer (inter-region transfer, spatial covariance, distributional robustness, richer copulas) adds estimation and compute cost.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600"/>
              </a:spcAft>
            </a:pPr>
            <a:r>
              <a:rPr sz="1600" b="1">
                <a:solidFill>
                  <a:srgbClr val="E69F00"/>
                </a:solidFill>
                <a:latin typeface="Segoe UI"/>
              </a:rPr>
              <a:t>●  </a:t>
            </a:r>
            <a:r>
              <a:rPr sz="2000" b="0">
                <a:solidFill>
                  <a:srgbClr val="16202E"/>
                </a:solidFill>
                <a:latin typeface="Segoe UI"/>
              </a:rPr>
              <a:t>The literature has assumed this sophistication pays, rather than measuring it.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600"/>
              </a:spcAft>
            </a:pPr>
            <a:r>
              <a:rPr sz="1600" b="1">
                <a:solidFill>
                  <a:srgbClr val="E69F00"/>
                </a:solidFill>
                <a:latin typeface="Segoe UI"/>
              </a:rPr>
              <a:t>●  </a:t>
            </a:r>
            <a:r>
              <a:rPr sz="2000" b="1">
                <a:solidFill>
                  <a:srgbClr val="0E2A52"/>
                </a:solidFill>
                <a:latin typeface="Segoe UI"/>
              </a:rPr>
              <a:t>We build a working day-ahead scheduler and price each layer directly, out of sample.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983480"/>
            <a:ext cx="10881360" cy="114300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047488"/>
            <a:ext cx="1033272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0E2A52"/>
                </a:solidFill>
                <a:latin typeface="Georgia"/>
              </a:rPr>
              <a:t>RQ1: how much does the transfer lever save?   RQ2: does passive covariance or a copula add anything?   RQ3: when does robustness pay?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The day-ahead scheduler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Sophistication: carbon-aware data-center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371600"/>
            <a:ext cx="557784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2100" b="1">
                <a:solidFill>
                  <a:srgbClr val="0E2A52"/>
                </a:solidFill>
                <a:latin typeface="Segoe UI"/>
              </a:rPr>
              <a:t>Forecast, optimize, roll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Forecast tomorrow's per-region carbon intensity from history.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Optimize a migration schedule: move splittable compute across regions under ramp limits and a transfer budget Phi.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Roll forward day by day; score out-of-sample CVaR(0.95) of daily emissions.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1">
                <a:solidFill>
                  <a:srgbClr val="0E2A52"/>
                </a:solidFill>
                <a:latin typeface="Segoe UI"/>
              </a:rPr>
              <a:t>Honest baseline: carbon-aware scheduling with no inter-region transfer (Phi=0), on the same feasible set.</a:t>
            </a:r>
          </a:p>
        </p:txBody>
      </p:sp>
      <p:pic>
        <p:nvPicPr>
          <p:cNvPr id="11" name="Picture 10" descr="model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63040"/>
            <a:ext cx="5212080" cy="19422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0" y="576072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5B6675"/>
                </a:solidFill>
                <a:latin typeface="Segoe UI"/>
              </a:rPr>
              <a:t>The scheduler matches the exact optimum on small instances.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RQ1: the transfer lever pays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Sophistication: carbon-aware data-center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5</a:t>
            </a:r>
          </a:p>
        </p:txBody>
      </p:sp>
      <p:pic>
        <p:nvPicPr>
          <p:cNvPr id="10" name="Picture 9" descr="transfer_value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6949440" cy="442673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0" y="1554480"/>
            <a:ext cx="384048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2000" b="1">
                <a:solidFill>
                  <a:srgbClr val="0E2A52"/>
                </a:solidFill>
                <a:latin typeface="Segoe UI"/>
              </a:rPr>
              <a:t>The lever, and it works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1">
                <a:solidFill>
                  <a:srgbClr val="4A7C59"/>
                </a:solidFill>
                <a:latin typeface="Segoe UI"/>
              </a:rPr>
              <a:t>Active migration cuts out-of-sample CVaR(0.95) by 4.0 to 9.9% over Phi=0.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0">
                <a:solidFill>
                  <a:srgbClr val="16202E"/>
                </a:solidFill>
                <a:latin typeface="Segoe UI"/>
              </a:rPr>
              <a:t>Per grid: Western 4.0%, Eastern 9.9%, Diversified 9.0%.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0">
                <a:solidFill>
                  <a:srgbClr val="16202E"/>
                </a:solidFill>
                <a:latin typeface="Segoe UI"/>
              </a:rPr>
              <a:t>The lever is the spatial mean: at each hour one region is cleanest, and migration ships work there.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1">
                <a:solidFill>
                  <a:srgbClr val="0E2A52"/>
                </a:solidFill>
                <a:latin typeface="Segoe UI"/>
              </a:rPr>
              <a:t>Deterministic: captured with no dependence model at all.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Where the value lives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Sophistication: carbon-aware data-center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6</a:t>
            </a:r>
          </a:p>
        </p:txBody>
      </p:sp>
      <p:pic>
        <p:nvPicPr>
          <p:cNvPr id="10" name="Picture 9" descr="complexity_front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6949440" cy="445208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0" y="1554480"/>
            <a:ext cx="384048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700"/>
              </a:spcAft>
            </a:pPr>
            <a:r>
              <a:rPr sz="2100" b="1">
                <a:solidFill>
                  <a:srgbClr val="0E2A52"/>
                </a:solidFill>
                <a:latin typeface="Segoe UI"/>
              </a:rPr>
              <a:t>The frontier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Every model class on one complexity-value frontier.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1">
                <a:solidFill>
                  <a:srgbClr val="4A7C59"/>
                </a:solidFill>
                <a:latin typeface="Segoe UI"/>
              </a:rPr>
              <a:t>Deterministic transfer dominates the frontier.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Passive covariance and copula layers add no height.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Robust transfer pays only in the tail, conditional on severity.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RQ2: passive sophistication adds nothing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Sophistication: carbon-aware data-center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7</a:t>
            </a:r>
          </a:p>
        </p:txBody>
      </p:sp>
      <p:pic>
        <p:nvPicPr>
          <p:cNvPr id="10" name="Picture 9" descr="cv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6766560" cy="25230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80960" y="1554480"/>
            <a:ext cx="39319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2000" b="1">
                <a:solidFill>
                  <a:srgbClr val="0E2A52"/>
                </a:solidFill>
                <a:latin typeface="Segoe UI"/>
              </a:rPr>
              <a:t>A strong, active null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0">
                <a:solidFill>
                  <a:srgbClr val="16202E"/>
                </a:solidFill>
                <a:latin typeface="Segoe UI"/>
              </a:rPr>
              <a:t>The spatial covariance gap stays below 0.4% of CVaR, and its sign is not stable.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0">
                <a:solidFill>
                  <a:srgbClr val="16202E"/>
                </a:solidFill>
                <a:latin typeface="Segoe UI"/>
              </a:rPr>
              <a:t>The DRO is genuinely engaged (CV selects a non-trivial radius), so this is an active null, not a switched-off one.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1">
                <a:solidFill>
                  <a:srgbClr val="0E2A52"/>
                </a:solidFill>
                <a:latin typeface="Segoe UI"/>
              </a:rPr>
              <a:t>Design justification: a simple per-region model is enough.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Why covariance cannot add value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Sophistication: carbon-aware data-center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371600"/>
            <a:ext cx="55778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500"/>
              </a:spcAft>
            </a:pPr>
            <a:r>
              <a:rPr sz="2100" b="1">
                <a:solidFill>
                  <a:srgbClr val="0E2A52"/>
                </a:solidFill>
                <a:latin typeface="Segoe UI"/>
              </a:rPr>
              <a:t>The mechanism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1">
                <a:solidFill>
                  <a:srgbClr val="B3402F"/>
                </a:solidFill>
                <a:latin typeface="Segoe UI"/>
              </a:rPr>
              <a:t>The mean-leveling test: flatten the mean field and the covariance suddenly pays, up to +1.46%.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So the cross-region signal is real, but masked by the within-day mean carbon field.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Residual dependence is also non-elliptical and upper-tail independent, invisible to a covariance ball.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We checked richer dependence models (Gaussian, Clayton, comonotone): they add nothing.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554480"/>
            <a:ext cx="5212080" cy="411480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1783080"/>
            <a:ext cx="4754880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200"/>
              </a:spcAft>
            </a:pPr>
            <a:r>
              <a:rPr sz="1900" b="1">
                <a:solidFill>
                  <a:srgbClr val="0E2A52"/>
                </a:solidFill>
                <a:latin typeface="Georgia"/>
              </a:rPr>
              <a:t>Mean-dominance bound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>
                <a:solidFill>
                  <a:srgbClr val="16202E"/>
                </a:solidFill>
                <a:latin typeface="Segoe UI"/>
              </a:rPr>
              <a:t>Carbon intensity is driven overwhelmingly by the time-of-day mean (solar, demand): shared, predictable, and large.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>
                <a:solidFill>
                  <a:srgbClr val="16202E"/>
                </a:solidFill>
                <a:latin typeface="Segoe UI"/>
              </a:rPr>
              <a:t>The cross-region covariance is a second-order wrinkle on a first-order wave, so it cannot move the optimal schedule. CVaR's translation invariance makes the dependence model second-order to the mean.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RQ3: why robustify at all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Sophistication: carbon-aware data-center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371600"/>
            <a:ext cx="55778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2100" b="1">
                <a:solidFill>
                  <a:srgbClr val="0E2A52"/>
                </a:solidFill>
                <a:latin typeface="Segoe UI"/>
              </a:rPr>
              <a:t>Hedging day-ahead forecast error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Scheduling against tomorrow's carbon means scheduling under forecast error.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We hedge that error with a data-driven Wasserstein DRO: a daily, rolling ambiguity set around the empirical distribution.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It reduces to a second-order cone program, solved exactly and fast.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1">
                <a:solidFill>
                  <a:srgbClr val="0E2A52"/>
                </a:solidFill>
                <a:latin typeface="Segoe UI"/>
              </a:rPr>
              <a:t>This is a price-of-robustness question: it buys tail reduction at a mean premium.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2103120"/>
            <a:ext cx="5212080" cy="137160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_eq_d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59" y="2423160"/>
            <a:ext cx="4937760" cy="62286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0" y="3749039"/>
            <a:ext cx="52120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5B6675"/>
                </a:solidFill>
                <a:latin typeface="Segoe UI"/>
              </a:rPr>
              <a:t>The mean term carries the saving; the cone term epsilon times the norm of L-transpose x prices the hedge. The value of the stochastic solution is near zero under nominal carbon.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The price-of-robustness crossover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Sophistication: carbon-aware data-center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10</a:t>
            </a:r>
          </a:p>
        </p:txBody>
      </p:sp>
      <p:pic>
        <p:nvPicPr>
          <p:cNvPr id="10" name="Picture 9" descr="cross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6949440" cy="437980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0" y="1554480"/>
            <a:ext cx="384048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500"/>
              </a:spcAft>
            </a:pPr>
            <a:r>
              <a:rPr sz="2000" b="1">
                <a:solidFill>
                  <a:srgbClr val="0E2A52"/>
                </a:solidFill>
                <a:latin typeface="Segoe UI"/>
              </a:rPr>
              <a:t>M* near 3, real grids stay below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0">
                <a:solidFill>
                  <a:srgbClr val="16202E"/>
                </a:solidFill>
                <a:latin typeface="Segoe UI"/>
              </a:rPr>
              <a:t>Robust beats risk-neutral only past an emergency severity M* near 3.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1">
                <a:solidFill>
                  <a:srgbClr val="B3402F"/>
                </a:solidFill>
                <a:latin typeface="Segoe UI"/>
              </a:rPr>
              <a:t>Real grids, tested across 17 zones, peak at only M near 1.4.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0">
                <a:solidFill>
                  <a:srgbClr val="16202E"/>
                </a:solidFill>
                <a:latin typeface="Segoe UI"/>
              </a:rPr>
              <a:t>So robustness does not activate on observed data; even Winter Storm Uri reached only 1.3x.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1">
                <a:solidFill>
                  <a:srgbClr val="0E2A52"/>
                </a:solidFill>
                <a:latin typeface="Segoe UI"/>
              </a:rPr>
              <a:t>On real data, deterministic transfer is unambiguously dominant.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The decision rule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Sophistication: carbon-aware data-center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371600"/>
            <a:ext cx="5349240" cy="224028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1371600"/>
            <a:ext cx="128016" cy="2240280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517904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0E2A52"/>
                </a:solidFill>
                <a:latin typeface="Georgia"/>
              </a:rPr>
              <a:t>Layer 1: always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993392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202E"/>
                </a:solidFill>
                <a:latin typeface="Segoe UI"/>
              </a:rPr>
              <a:t>Schedule per-region, day-ahead. Temporal shifting captures the diurnal carbon cycle.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1371600"/>
            <a:ext cx="5349240" cy="224028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71600"/>
            <a:ext cx="128016" cy="224028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517904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0E2A52"/>
                </a:solidFill>
                <a:latin typeface="Georgia"/>
              </a:rPr>
              <a:t>Layer 2: the lever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1993392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202E"/>
                </a:solidFill>
                <a:latin typeface="Segoe UI"/>
              </a:rPr>
              <a:t>Add inter-region transfer if migration bandwidth exists: a 4.0 to 9.9% CVaR reduction over Phi=0. This is where the value is.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794760"/>
            <a:ext cx="5349240" cy="224028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794760"/>
            <a:ext cx="128016" cy="2240280"/>
          </a:xfrm>
          <a:prstGeom prst="rect">
            <a:avLst/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3941063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0E2A52"/>
                </a:solidFill>
                <a:latin typeface="Georgia"/>
              </a:rPr>
              <a:t>Layer 3: skip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416552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202E"/>
                </a:solidFill>
                <a:latin typeface="Segoe UI"/>
              </a:rPr>
              <a:t>Spatial covariance and copulas. They add below 0.4% of CVaR: not worth the complexity.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2200" y="3794760"/>
            <a:ext cx="5349240" cy="2240280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3794760"/>
            <a:ext cx="128016" cy="224028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3941063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Georgia"/>
              </a:rPr>
              <a:t>Layer 4: conditional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4416552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DD6E4"/>
                </a:solidFill>
                <a:latin typeface="Segoe UI"/>
              </a:rPr>
              <a:t>Robustify only if you expect emergencies past M* near 3. Real grids do not reach 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Data: three grids across the spectrum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Sophistication: carbon-aware data-center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371600"/>
            <a:ext cx="557784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2100" b="1">
                <a:solidFill>
                  <a:srgbClr val="0E2A52"/>
                </a:solidFill>
                <a:latin typeface="Segoe UI"/>
              </a:rPr>
              <a:t>Real Electricity Maps carbon intensity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US West: a strongly, uniformly correlated grid (common-mode).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Eastern Interconnection belt: an Ontario-anchored mid-correlation set.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Engineered solar / wind / hydro portfolio: low, heterogeneous correlation.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Iberia-France: an independent low-correlation external-validity anchor.</a:t>
            </a:r>
          </a:p>
        </p:txBody>
      </p:sp>
      <p:pic>
        <p:nvPicPr>
          <p:cNvPr id="11" name="Picture 10" descr="ci_corr_heatmap_us_w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63040"/>
            <a:ext cx="5212080" cy="262109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0" y="576072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5B6675"/>
                </a:solidFill>
                <a:latin typeface="Segoe UI"/>
              </a:rPr>
              <a:t>Correlation is real, up to 0.78 on the US West.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Validation and reproducibility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Sophistication: carbon-aware data-center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371600"/>
            <a:ext cx="557784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2100" b="1">
                <a:solidFill>
                  <a:srgbClr val="0E2A52"/>
                </a:solidFill>
                <a:latin typeface="Segoe UI"/>
              </a:rPr>
              <a:t>A pre-committed battery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The null survives Ledoit-Wolf shrinkage, residualization, and Benjamini-Hochberg correction across cells.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Walk-forward out-of-sample validation and a per-cell equivalence test.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1">
                <a:solidFill>
                  <a:srgbClr val="0E2A52"/>
                </a:solidFill>
                <a:latin typeface="Segoe UI"/>
              </a:rPr>
              <a:t>202 unit tests (189 in CI); bootstrap confidence intervals on every gap.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Pre-committed, version-controlled, with archived summary tables for every reported number.</a:t>
            </a:r>
          </a:p>
        </p:txBody>
      </p:sp>
      <p:pic>
        <p:nvPicPr>
          <p:cNvPr id="11" name="Picture 10" descr="robust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554480"/>
            <a:ext cx="5212080" cy="205088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Limitations, stated honestly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Sophistication: carbon-aware data-center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371600"/>
            <a:ext cx="1088136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700"/>
              </a:spcAft>
            </a:pPr>
            <a:r>
              <a:rPr sz="2200" b="1">
                <a:solidFill>
                  <a:srgbClr val="0E2A52"/>
                </a:solidFill>
                <a:latin typeface="Segoe UI"/>
              </a:rPr>
              <a:t>Where the claims could be pushed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0"/>
              </a:spcAft>
            </a:pPr>
            <a:r>
              <a:rPr sz="15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900" b="0">
                <a:solidFill>
                  <a:srgbClr val="16202E"/>
                </a:solidFill>
                <a:latin typeface="Segoe UI"/>
              </a:rPr>
              <a:t>One canonical workload (splittable load, ramp limits); a sharply different cost geometry could re-weight the covariance term.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0"/>
              </a:spcAft>
            </a:pPr>
            <a:r>
              <a:rPr sz="15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900" b="0">
                <a:solidFill>
                  <a:srgbClr val="16202E"/>
                </a:solidFill>
                <a:latin typeface="Segoe UI"/>
              </a:rPr>
              <a:t>Primary read is a single held-out year; walk-forward reproduces it, but multi-year evaluation would strengthen external validity.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0"/>
              </a:spcAft>
            </a:pPr>
            <a:r>
              <a:rPr sz="15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900" b="0">
                <a:solidFill>
                  <a:srgbClr val="16202E"/>
                </a:solidFill>
                <a:latin typeface="Segoe UI"/>
              </a:rPr>
              <a:t>Results generalize to grids where the diurnal mean dominates residual covariance: an empirical regularity, not a universal law.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0"/>
              </a:spcAft>
            </a:pPr>
            <a:r>
              <a:rPr sz="15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900" b="0">
                <a:solidFill>
                  <a:srgbClr val="16202E"/>
                </a:solidFill>
                <a:latin typeface="Segoe UI"/>
              </a:rPr>
              <a:t>The crossover is characterized, not observed: a grid with severe emergencies past M* near 3 would activate the robust layer.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Conclusions and contributions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Sophistication: carbon-aware data-center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371600"/>
            <a:ext cx="1088136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700"/>
              </a:spcAft>
            </a:pPr>
            <a:r>
              <a:rPr sz="2200" b="1">
                <a:solidFill>
                  <a:srgbClr val="0E2A52"/>
                </a:solidFill>
                <a:latin typeface="Segoe UI"/>
              </a:rPr>
              <a:t>What this thesis delivers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0"/>
              </a:spcAft>
            </a:pPr>
            <a:r>
              <a:rPr sz="15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900" b="1">
                <a:solidFill>
                  <a:srgbClr val="4A7C59"/>
                </a:solidFill>
                <a:latin typeface="Segoe UI"/>
              </a:rPr>
              <a:t>A working day-ahead migration scheduler with honest savings: a 4.0 to 9.9% CVaR reduction over the Phi=0 baseline, the dominant lever.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0"/>
              </a:spcAft>
            </a:pPr>
            <a:r>
              <a:rPr sz="15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900" b="0">
                <a:solidFill>
                  <a:srgbClr val="16202E"/>
                </a:solidFill>
                <a:latin typeface="Segoe UI"/>
              </a:rPr>
              <a:t>A screening rule: passive covariance and copulas add nothing, with a mean-dominance bound that says why.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0"/>
              </a:spcAft>
            </a:pPr>
            <a:r>
              <a:rPr sz="15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900" b="0">
                <a:solidFill>
                  <a:srgbClr val="16202E"/>
                </a:solidFill>
                <a:latin typeface="Segoe UI"/>
              </a:rPr>
              <a:t>A price-of-robustness decision rule with a tested, data-grounded bound (M near 1.4 below M* near 3).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0"/>
              </a:spcAft>
            </a:pPr>
            <a:r>
              <a:rPr sz="15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900" b="1">
                <a:solidFill>
                  <a:srgbClr val="0E2A52"/>
                </a:solidFill>
                <a:latin typeface="Segoe UI"/>
              </a:rPr>
              <a:t>A reproducible, pre-committed pipeline under 202 unit tests.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A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82296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Georgia"/>
              </a:rPr>
              <a:t>The takeaway, and thank you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627632"/>
            <a:ext cx="2377440" cy="457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96596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E69F00"/>
                </a:solidFill>
                <a:latin typeface="Segoe UI"/>
              </a:rPr>
              <a:t>The rule in one 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514600"/>
            <a:ext cx="1042416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CDD6E4"/>
                </a:solidFill>
                <a:latin typeface="Segoe UI"/>
              </a:rPr>
              <a:t>Always schedule per-region.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CDD6E4"/>
                </a:solidFill>
                <a:latin typeface="Segoe UI"/>
              </a:rPr>
              <a:t>Add inter-region transfer: this is the lever, 4.0 to 9.9% over Phi=0.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CDD6E4"/>
                </a:solidFill>
                <a:latin typeface="Segoe UI"/>
              </a:rPr>
              <a:t>Skip covariance and copulas: they add nothing.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CDD6E4"/>
                </a:solidFill>
                <a:latin typeface="Segoe UI"/>
              </a:rPr>
              <a:t>Robustify only if you expect emergencies past M* near 3.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85216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E69F00"/>
                </a:solidFill>
                <a:latin typeface="Georgia"/>
              </a:rPr>
              <a:t>Thank you. Questions welcome.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Backup: the falsification test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Sophistication: carbon-aware data-center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325880"/>
            <a:ext cx="557784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2100" b="1">
                <a:solidFill>
                  <a:srgbClr val="0E2A52"/>
                </a:solidFill>
                <a:latin typeface="Segoe UI"/>
              </a:rPr>
              <a:t>Shuffled marginals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Fit the schedule to the full joint covariance.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Refit to a block-diagonal covariance: identical marginals, cross-region structure destroyed (shuffled).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Score both on out-of-sample CVaR(0.95) of daily emissions.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1">
                <a:solidFill>
                  <a:srgbClr val="0E2A52"/>
                </a:solidFill>
                <a:latin typeface="Segoe UI"/>
              </a:rPr>
              <a:t>Pre-committed: if spatial structure matters, the joint schedule must win. It does not.</a:t>
            </a:r>
          </a:p>
        </p:txBody>
      </p:sp>
      <p:pic>
        <p:nvPicPr>
          <p:cNvPr id="11" name="Picture 10" descr="schedule_us_w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63040"/>
            <a:ext cx="5212080" cy="9667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0" y="576072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5B6675"/>
                </a:solidFill>
                <a:latin typeface="Segoe UI"/>
              </a:rPr>
              <a:t>Joint vs shuffled schedules, side by side.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Backup: non-elliptical tail dependence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Sophistication: carbon-aware data-center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18</a:t>
            </a:r>
          </a:p>
        </p:txBody>
      </p:sp>
      <p:pic>
        <p:nvPicPr>
          <p:cNvPr id="10" name="Picture 9" descr="tail_dependence_task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5770047" cy="4480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15200" y="1554480"/>
            <a:ext cx="429768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2000" b="1">
                <a:solidFill>
                  <a:srgbClr val="0E2A52"/>
                </a:solidFill>
                <a:latin typeface="Segoe UI"/>
              </a:rPr>
              <a:t>Structural reason covariance fails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0">
                <a:solidFill>
                  <a:srgbClr val="16202E"/>
                </a:solidFill>
                <a:latin typeface="Segoe UI"/>
              </a:rPr>
              <a:t>Residual dependence is non-elliptical: regions go clean together more than dirty together (chi_L &gt; chi_U).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0">
                <a:solidFill>
                  <a:srgbClr val="16202E"/>
                </a:solidFill>
                <a:latin typeface="Segoe UI"/>
              </a:rPr>
              <a:t>A covariance ball forces chi_L = chi_U by construction.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1">
                <a:solidFill>
                  <a:srgbClr val="0E2A52"/>
                </a:solidFill>
                <a:latin typeface="Segoe UI"/>
              </a:rPr>
              <a:t>So an elliptical ambiguity set is blind to the only structure left, and it sits in the clean tail a risk-averse scheduler ignores.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