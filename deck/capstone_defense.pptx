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1828800" cy="15701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212848"/>
            <a:ext cx="10698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300" b="1">
                <a:solidFill>
                  <a:srgbClr val="FFFFFF"/>
                </a:solidFill>
                <a:latin typeface="Georgia"/>
              </a:rPr>
              <a:t>The Price of Sophistication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Georgia"/>
              </a:rPr>
              <a:t>When Do Spatial and Robust Models Pay in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Georgia"/>
              </a:rPr>
              <a:t>Carbon-Aware Data-Center Scheduling?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498848"/>
            <a:ext cx="292608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681728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DD6E4"/>
                </a:solidFill>
                <a:latin typeface="Segoe UI"/>
              </a:rPr>
              <a:t>A working day-ahead migration scheduler, and a decision rule for when each modelling layer earns its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23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Marco Ortiz Togashi</a:t>
            </a:r>
            <a:r>
              <a:rPr sz="1500" b="0">
                <a:solidFill>
                  <a:srgbClr val="CDD6E4"/>
                </a:solidFill>
                <a:latin typeface="Segoe UI"/>
              </a:rPr>
              <a:t>    ·    IE University  ·  MSc Business Analytics &amp; Data Science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DD6E4"/>
                </a:solidFill>
                <a:latin typeface="Segoe UI"/>
              </a:rPr>
              <a:t>Supervisor: Prof. Bissan Ghaddar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Flexible compute meets a varying grid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The opportunity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Compute is unusually flexible: batch and AI-training jobs can shift in time and across sites.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Carbon intensity of electricity varies sharply by hour and by region, driven by wind, solar, hydro, and demand.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So an operator can ship work to cleaner hours and cleaner regions, cutting emissions at almost no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The open question is not whether to schedule, but which modelling layers actually pay for their complexity.</a:t>
            </a:r>
          </a:p>
        </p:txBody>
      </p:sp>
      <p:pic>
        <p:nvPicPr>
          <p:cNvPr id="11" name="Picture 10" descr="corre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3086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8064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Carbon intensity is spatially structured, and it 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Which layers earn their complexity?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300" b="1">
                <a:solidFill>
                  <a:srgbClr val="0E2A52"/>
                </a:solidFill>
                <a:latin typeface="Segoe UI"/>
              </a:rPr>
              <a:t>Sophistication is not free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Each layer (inter-region transfer, spatial covariance, distributional robustness, richer copulas) adds estimation and compute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The literature has assumed this sophistication pays, rather than measuring it.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1">
                <a:solidFill>
                  <a:srgbClr val="0E2A52"/>
                </a:solidFill>
                <a:latin typeface="Segoe UI"/>
              </a:rPr>
              <a:t>We build a working day-ahead scheduler and price each layer directly, out of sample.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83480"/>
            <a:ext cx="10881360" cy="1143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RQ1: how much does the transfer lever save?   RQ2: does passive covariance or a copula add anything?   RQ3: when does robustness pay?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day-ahead scheduler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Forecast, optimize, roll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Forecast tomorrow's per-region carbon intensity from history.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Optimize a migration schedule: move splittable compute across regions under ramp limits and a transfer budget Phi.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Roll forward day by day; score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Honest baseline: carbon-aware scheduling with no inter-region transfer (Phi=0), on the same feasible set.</a:t>
            </a:r>
          </a:p>
        </p:txBody>
      </p:sp>
      <p:pic>
        <p:nvPicPr>
          <p:cNvPr id="11" name="Picture 10" descr="mode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152812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The scheduler matches the exact optimum on small instances.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RQ1: the transfer lever pays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5</a:t>
            </a:r>
          </a:p>
        </p:txBody>
      </p:sp>
      <p:pic>
        <p:nvPicPr>
          <p:cNvPr id="10" name="Picture 9" descr="transfer_valu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39118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The lever, and it works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4A7C59"/>
                </a:solidFill>
                <a:latin typeface="Segoe UI"/>
              </a:rPr>
              <a:t>Active migration cuts out-of-sample CVaR(0.95) by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Per grid: Western 4.0%, Eastern 9.9%, Diversified 9.0%.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lever is the spatial mean: at each hour one region is cleanest, and migration ships work there.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Deterministic: captured with no dependence model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Where the value lives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6</a:t>
            </a:r>
          </a:p>
        </p:txBody>
      </p:sp>
      <p:pic>
        <p:nvPicPr>
          <p:cNvPr id="10" name="Picture 9" descr="complexity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4503018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frontier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Every model class on one complexity-value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4A7C59"/>
                </a:solidFill>
                <a:latin typeface="Segoe UI"/>
              </a:rPr>
              <a:t>Deterministic transfer dominates the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Passive covariance and copula layers add no height.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Robust transfer pays only in the tail, conditional on severity.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RQ2: passive sophistication adds nothing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7</a:t>
            </a:r>
          </a:p>
        </p:txBody>
      </p:sp>
      <p:pic>
        <p:nvPicPr>
          <p:cNvPr id="10" name="Picture 9" descr="cv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766560" cy="196368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1554480"/>
            <a:ext cx="3931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A strong, active null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spatial covariance gap stays below 0.4% of CVaR, and its sign is not stable.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DRO is genuinely engaged (CV selects a non-trivial radius), so this is an active null, not a switched-off one.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Design justification: a simple per-region model is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Why covariance cannot add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mechanism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B3402F"/>
                </a:solidFill>
                <a:latin typeface="Segoe UI"/>
              </a:rPr>
              <a:t>Mean-ablation: flatten the mean field and the covariance suddenly pays, up to +1.46%.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So the spatial signal is real, but masked by the within-day mean carbon field.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Residual dependence is also non-elliptical and upper-tail independent, invisible to a covariance ball.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checked richer dependence models (Gaussian, Clayton, comonotone): they add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12080" cy="4114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8308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Mean-dominance bound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Carbon intensity is driven overwhelmingly by the time-of-day mean (solar, demand): shared, predictable, and large.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The cross-region covariance is a second-order wrinkle on a first-order wave, so it cannot move the optimal schedule. CVaR's translation invariance makes the dependence model second-order to the mean.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RQ3: why robustify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Hedging day-ahead forecast error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Scheduling against tomorrow's carbon means scheduling under forecast error.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hedge that error with a data-driven Wasserstein DRO: a daily, rolling ambiguity set around the empirical distribution.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It reduces to a second-order cone program, solved exactly and fast.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This is a price-of-robustness question: it buys tail reduction at a mean premium.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212080" cy="1371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eq_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59" y="2423160"/>
            <a:ext cx="4937760" cy="6228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3749039"/>
            <a:ext cx="5212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675"/>
                </a:solidFill>
                <a:latin typeface="Segoe UI"/>
              </a:rPr>
              <a:t>The mean term carries the saving; the cone term epsilon times the norm of L-transpose x prices the hedge. The value of the stochastic solution is near zero under nominal carbon.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price-of-robustness crossover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10</a:t>
            </a:r>
          </a:p>
        </p:txBody>
      </p:sp>
      <p:pic>
        <p:nvPicPr>
          <p:cNvPr id="10" name="Picture 9" descr="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301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M* near 3, real grids stay below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Robust beats risk-neutral only past an emergency severity M* near 3.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B3402F"/>
                </a:solidFill>
                <a:latin typeface="Segoe UI"/>
              </a:rPr>
              <a:t>Real grids, tested across 17 zones, peak at only M near 1.4.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So robustness does not activate on observed data; even Winter Storm Uri reached only 1.3x.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On real data, deterministic transfer is unambiguously dominant.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decision rule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128016" cy="22402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1: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Schedule per-region, day-ahead. Temporal shifting captures the diurnal carbon cycle.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2: the lever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Add inter-region transfer if migration bandwidth exists: a 4.0 to 9.9% CVaR reduction over Phi=0. This is where the value 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9476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128016" cy="224028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3: skip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Spatial covariance and copulas. They add below 0.4% of CVaR: not worth the complexity.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5349240" cy="224028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Georgia"/>
              </a:rPr>
              <a:t>Layer 4: conditional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DD6E4"/>
                </a:solidFill>
                <a:latin typeface="Segoe UI"/>
              </a:rPr>
              <a:t>Robustify only if you expect emergencies past M* near 3. Real grids do not reach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Data: three grids across the spectrum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Real Electricity Maps carbon intensity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US West: a strongly, uniformly correlated grid (common-mode).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Eastern Interconnection belt: an Ontario-anchored mid-correlation set.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Engineered solar / wind / hydro portfolio: low, heterogeneous correlation.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Iberia-France: an independent low-correlation external-validity anchor.</a:t>
            </a:r>
          </a:p>
        </p:txBody>
      </p:sp>
      <p:pic>
        <p:nvPicPr>
          <p:cNvPr id="11" name="Picture 10" descr="ci_corr_heatmap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23965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Correlation is real, up to 0.78 on the US 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Validation and reproducibility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A pre-registered battery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The null survives Ledoit-Wolf shrinkage, residualization, and Benjamini-Hochberg correction across cells.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Walk-forward out-of-sample validation and a per-cell equivalence test.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194 unit tests in CI; bootstrap confidence intervals on every gap.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Pre-registered, version-controlled, with archived summary tables for every reported number.</a:t>
            </a:r>
          </a:p>
        </p:txBody>
      </p:sp>
      <p:pic>
        <p:nvPicPr>
          <p:cNvPr id="11" name="Picture 10" descr="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17607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Limitations, stated honestly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Where the claims could be pushed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One canonical workload (splittable load, ramp limits); a sharply different cost geometry could re-weight the covariance term.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Primary read is a single held-out year; walk-forward reproduces it, but multi-year evaluation would strengthen external validity.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Results generalize to grids where the diurnal mean dominates residual covariance: an empirical regularity, not a universal law.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The crossover is characterized, not observed: a grid with severe emergencies past M* near 3 would activate the robust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Conclusions and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What this thesis delivers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4A7C59"/>
                </a:solidFill>
                <a:latin typeface="Segoe UI"/>
              </a:rPr>
              <a:t>A working day-ahead migration scheduler with honest savings: a 4.0 to 9.9% CVaR reduction over the Phi=0 baseline, the dominant lever.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screening rule: passive covariance and copulas add nothing, with a mean-dominance bound that says why.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price-of-robustness decision rule with a tested, data-grounded bound (M near 1.4 below M* near 3).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A reproducible, pre-registered pipeline under 194 unit tests.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takeaway, and 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27632"/>
            <a:ext cx="237744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69F00"/>
                </a:solidFill>
                <a:latin typeface="Segoe UI"/>
              </a:rPr>
              <a:t>The rule in 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10424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Always schedule per-region.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Add inter-region transfer: this is the lever,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Skip covariance and copulas: they add nothing.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Robustify only if you expect emergencies past M* near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9F00"/>
                </a:solidFill>
                <a:latin typeface="Georgia"/>
              </a:rPr>
              <a:t>Thank you. Questions welcome.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the falsification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Shuffled marginals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Fit the schedule to the full joint covariance.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Refit to a block-diagonal covariance: identical marginals, cross-region structure destroyed (shuffled).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Score both on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Pre-registered: if spatial structure matters, the joint schedule must win. It does not.</a:t>
            </a:r>
          </a:p>
        </p:txBody>
      </p:sp>
      <p:pic>
        <p:nvPicPr>
          <p:cNvPr id="11" name="Picture 10" descr="schedule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12222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Joint vs shuffled schedules, side by side.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non-elliptical tail 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18</a:t>
            </a:r>
          </a:p>
        </p:txBody>
      </p:sp>
      <p:pic>
        <p:nvPicPr>
          <p:cNvPr id="10" name="Picture 9" descr="tail_dependence_task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331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Structural reason covariance fails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Residual dependence is non-elliptical: regions go clean together more than dirty together (chi_L &gt; chi_U).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A covariance ball forces chi_L = chi_U by construction.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So an elliptical ambiguity set is blind to the only structure left, and it sits in the clean tail a risk-averse scheduler ignores.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