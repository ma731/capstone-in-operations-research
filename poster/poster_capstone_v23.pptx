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8995624" cy="3931920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0"/>
            <a:ext cx="28995624" cy="118872"/>
          </a:xfrm>
          <a:prstGeom prst="rect">
            <a:avLst/>
          </a:prstGeom>
          <a:solidFill>
            <a:srgbClr val="0098E0"/>
          </a:solidFill>
          <a:ln/>
        </p:spPr>
      </p:sp>
      <p:pic>
        <p:nvPicPr>
          <p:cNvPr id="4" name="Image 0" descr="figs/ie_logo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143000"/>
            <a:ext cx="402336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292304" y="1024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&amp; TOOLS</a:t>
            </a:r>
            <a:endParaRPr lang="en-US" sz="1600" dirty="0"/>
          </a:p>
        </p:txBody>
      </p:sp>
      <p:pic>
        <p:nvPicPr>
          <p:cNvPr id="6" name="Image 1" descr="figs/em_bolt_wh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246584" y="1481328"/>
            <a:ext cx="868680" cy="12070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252424" y="162763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Electricity Maps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25292304" y="25786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BFD3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Real-time grid carbon, 2021 to 2025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5292304" y="3035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BFD3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Solved with </a:t>
            </a:r>
            <a:pPr algn="l"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CVXPY · CLARABEL · HiGHS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303520" y="1005840"/>
            <a:ext cx="193944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Price of Sophistication: When Do Spatial and</a:t>
            </a:r>
            <a:endParaRPr lang="en-US" sz="4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 Models Pay in Carbon-Aware Scheduling?</a:t>
            </a:r>
            <a:endParaRPr lang="en-US" sz="4700" dirty="0"/>
          </a:p>
        </p:txBody>
      </p:sp>
      <p:sp>
        <p:nvSpPr>
          <p:cNvPr id="11" name="Text 7"/>
          <p:cNvSpPr/>
          <p:nvPr/>
        </p:nvSpPr>
        <p:spPr>
          <a:xfrm>
            <a:off x="5303520" y="3108960"/>
            <a:ext cx="19394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400" b="1" i="1" dirty="0">
                <a:solidFill>
                  <a:srgbClr val="E3EEF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day-ahead migration scheduler and a complexity-value decision rule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303520" y="3794760"/>
            <a:ext cx="19394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Marco Ortiz Togashi</a:t>
            </a:r>
            <a:pPr algn="ctr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   Supervisor: Prof. Bissan Ghaddar      IE University, Master in Business Analytics &amp; Data Science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0080" y="5029200"/>
            <a:ext cx="6494526" cy="141732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5029200"/>
            <a:ext cx="62202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Day-ahead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forecast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7244334" y="5737860"/>
            <a:ext cx="786384" cy="0"/>
          </a:xfrm>
          <a:prstGeom prst="line">
            <a:avLst/>
          </a:prstGeom>
          <a:noFill/>
          <a:ln w="63500">
            <a:solidFill>
              <a:srgbClr val="0098E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140446" y="5029200"/>
            <a:ext cx="6494526" cy="141732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7" name="Text 13"/>
          <p:cNvSpPr/>
          <p:nvPr/>
        </p:nvSpPr>
        <p:spPr>
          <a:xfrm>
            <a:off x="8277606" y="5029200"/>
            <a:ext cx="62202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Migration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scheduler</a:t>
            </a:r>
            <a:endParaRPr lang="en-US" sz="2100" dirty="0"/>
          </a:p>
        </p:txBody>
      </p:sp>
      <p:sp>
        <p:nvSpPr>
          <p:cNvPr id="18" name="Shape 14"/>
          <p:cNvSpPr/>
          <p:nvPr/>
        </p:nvSpPr>
        <p:spPr>
          <a:xfrm>
            <a:off x="14744700" y="5737860"/>
            <a:ext cx="786384" cy="0"/>
          </a:xfrm>
          <a:prstGeom prst="line">
            <a:avLst/>
          </a:prstGeom>
          <a:noFill/>
          <a:ln w="63500">
            <a:solidFill>
              <a:srgbClr val="0098E0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15640812" y="5029200"/>
            <a:ext cx="6494526" cy="141732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0" name="Text 16"/>
          <p:cNvSpPr/>
          <p:nvPr/>
        </p:nvSpPr>
        <p:spPr>
          <a:xfrm>
            <a:off x="15777972" y="5029200"/>
            <a:ext cx="62202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Price each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modeling layer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22245066" y="5737860"/>
            <a:ext cx="786384" cy="0"/>
          </a:xfrm>
          <a:prstGeom prst="line">
            <a:avLst/>
          </a:prstGeom>
          <a:noFill/>
          <a:ln w="63500">
            <a:solidFill>
              <a:srgbClr val="0098E0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23141178" y="5029200"/>
            <a:ext cx="6494526" cy="141732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Text 19"/>
          <p:cNvSpPr/>
          <p:nvPr/>
        </p:nvSpPr>
        <p:spPr>
          <a:xfrm>
            <a:off x="23278338" y="5029200"/>
            <a:ext cx="62202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Decision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rule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640080" y="6903720"/>
            <a:ext cx="28995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Active inter-region migration cuts worst-case emissions 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4.0 to 9.9%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; added 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sophistication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(joint covariance, robustness) does not pay until a severity 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grids never reach</a:t>
            </a:r>
            <a:pPr algn="ctr"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.</a:t>
            </a:r>
            <a:endParaRPr lang="en-US" sz="2700" dirty="0"/>
          </a:p>
        </p:txBody>
      </p:sp>
      <p:sp>
        <p:nvSpPr>
          <p:cNvPr id="25" name="Shape 21"/>
          <p:cNvSpPr/>
          <p:nvPr/>
        </p:nvSpPr>
        <p:spPr>
          <a:xfrm>
            <a:off x="640080" y="7680960"/>
            <a:ext cx="6974586" cy="40233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560445" y="8165592"/>
            <a:ext cx="164592" cy="164592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27" name="Shape 23"/>
          <p:cNvSpPr/>
          <p:nvPr/>
        </p:nvSpPr>
        <p:spPr>
          <a:xfrm>
            <a:off x="4529709" y="8165592"/>
            <a:ext cx="164592" cy="164592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28" name="Shape 24"/>
          <p:cNvSpPr/>
          <p:nvPr/>
        </p:nvSpPr>
        <p:spPr>
          <a:xfrm>
            <a:off x="3725037" y="8247888"/>
            <a:ext cx="804672" cy="0"/>
          </a:xfrm>
          <a:prstGeom prst="line">
            <a:avLst/>
          </a:prstGeom>
          <a:noFill/>
          <a:ln w="44450">
            <a:solidFill>
              <a:srgbClr val="0098E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31520" y="8430768"/>
            <a:ext cx="67917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6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~0%</a:t>
            </a:r>
            <a:endParaRPr lang="en-US" sz="6200" dirty="0"/>
          </a:p>
        </p:txBody>
      </p:sp>
      <p:sp>
        <p:nvSpPr>
          <p:cNvPr id="30" name="Text 26"/>
          <p:cNvSpPr/>
          <p:nvPr/>
        </p:nvSpPr>
        <p:spPr>
          <a:xfrm>
            <a:off x="868680" y="9966960"/>
            <a:ext cx="6517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value added by joint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covariance and copulas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822960" y="11155680"/>
            <a:ext cx="6608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SCREEN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7980426" y="7680960"/>
            <a:ext cx="6974586" cy="40233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10919079" y="8247888"/>
            <a:ext cx="1097280" cy="0"/>
          </a:xfrm>
          <a:prstGeom prst="line">
            <a:avLst/>
          </a:prstGeom>
          <a:noFill/>
          <a:ln w="50800">
            <a:solidFill>
              <a:srgbClr val="0098E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071866" y="8430768"/>
            <a:ext cx="67917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6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M* = 3</a:t>
            </a:r>
            <a:endParaRPr lang="en-US" sz="6200" dirty="0"/>
          </a:p>
        </p:txBody>
      </p:sp>
      <p:sp>
        <p:nvSpPr>
          <p:cNvPr id="35" name="Text 31"/>
          <p:cNvSpPr/>
          <p:nvPr/>
        </p:nvSpPr>
        <p:spPr>
          <a:xfrm>
            <a:off x="8209026" y="9966960"/>
            <a:ext cx="6517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severity where robustness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finally starts to pay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8163306" y="11155680"/>
            <a:ext cx="6608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PRICE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15320772" y="7680960"/>
            <a:ext cx="6974586" cy="40233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18808065" y="8394192"/>
            <a:ext cx="0" cy="-310896"/>
          </a:xfrm>
          <a:prstGeom prst="line">
            <a:avLst/>
          </a:prstGeom>
          <a:noFill/>
          <a:ln w="57150">
            <a:solidFill>
              <a:srgbClr val="0098E0"/>
            </a:solidFill>
            <a:prstDash val="solid"/>
            <a:tailEnd type="triangle"/>
          </a:ln>
        </p:spPr>
      </p:sp>
      <p:sp>
        <p:nvSpPr>
          <p:cNvPr id="39" name="Text 35"/>
          <p:cNvSpPr/>
          <p:nvPr/>
        </p:nvSpPr>
        <p:spPr>
          <a:xfrm>
            <a:off x="15412212" y="8430768"/>
            <a:ext cx="67917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62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 / 17</a:t>
            </a:r>
            <a:endParaRPr lang="en-US" sz="6200" dirty="0"/>
          </a:p>
        </p:txBody>
      </p:sp>
      <p:sp>
        <p:nvSpPr>
          <p:cNvPr id="40" name="Text 36"/>
          <p:cNvSpPr/>
          <p:nvPr/>
        </p:nvSpPr>
        <p:spPr>
          <a:xfrm>
            <a:off x="15549372" y="9966960"/>
            <a:ext cx="6517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grids that reach the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robustness threshold</a:t>
            </a:r>
            <a:endParaRPr lang="en-US" sz="2000" dirty="0"/>
          </a:p>
        </p:txBody>
      </p:sp>
      <p:sp>
        <p:nvSpPr>
          <p:cNvPr id="41" name="Text 37"/>
          <p:cNvSpPr/>
          <p:nvPr/>
        </p:nvSpPr>
        <p:spPr>
          <a:xfrm>
            <a:off x="15503652" y="11155680"/>
            <a:ext cx="6608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LIMIT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22661118" y="7680960"/>
            <a:ext cx="6974586" cy="4023360"/>
          </a:xfrm>
          <a:prstGeom prst="rect">
            <a:avLst/>
          </a:prstGeom>
          <a:solidFill>
            <a:srgbClr val="FAF1DF"/>
          </a:solidFill>
          <a:ln/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22661118" y="7680960"/>
            <a:ext cx="6974586" cy="1828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4" name="Shape 40"/>
          <p:cNvSpPr/>
          <p:nvPr/>
        </p:nvSpPr>
        <p:spPr>
          <a:xfrm>
            <a:off x="25599771" y="8247888"/>
            <a:ext cx="1097280" cy="0"/>
          </a:xfrm>
          <a:prstGeom prst="line">
            <a:avLst/>
          </a:prstGeom>
          <a:noFill/>
          <a:ln w="57150">
            <a:solidFill>
              <a:srgbClr val="8A5C16"/>
            </a:solidFill>
            <a:prstDash val="solid"/>
            <a:tailEnd type="triangle"/>
          </a:ln>
        </p:spPr>
      </p:sp>
      <p:sp>
        <p:nvSpPr>
          <p:cNvPr id="45" name="Text 41"/>
          <p:cNvSpPr/>
          <p:nvPr/>
        </p:nvSpPr>
        <p:spPr>
          <a:xfrm>
            <a:off x="22752558" y="8430768"/>
            <a:ext cx="67917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72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4-10%</a:t>
            </a:r>
            <a:endParaRPr lang="en-US" sz="7200" dirty="0"/>
          </a:p>
        </p:txBody>
      </p:sp>
      <p:sp>
        <p:nvSpPr>
          <p:cNvPr id="46" name="Text 42"/>
          <p:cNvSpPr/>
          <p:nvPr/>
        </p:nvSpPr>
        <p:spPr>
          <a:xfrm>
            <a:off x="22889718" y="9966960"/>
            <a:ext cx="6517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worst-case (CVaR) emissions cut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by active inter-region migration</a:t>
            </a:r>
            <a:endParaRPr lang="en-US" sz="2000" dirty="0"/>
          </a:p>
        </p:txBody>
      </p:sp>
      <p:sp>
        <p:nvSpPr>
          <p:cNvPr id="47" name="Text 43"/>
          <p:cNvSpPr/>
          <p:nvPr/>
        </p:nvSpPr>
        <p:spPr>
          <a:xfrm>
            <a:off x="22843998" y="11155680"/>
            <a:ext cx="6608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spc="20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LEVER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640080" y="1225296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spc="200" kern="0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BACKGROUND</a:t>
            </a:r>
            <a:endParaRPr lang="en-US" sz="1900" dirty="0"/>
          </a:p>
        </p:txBody>
      </p:sp>
      <p:sp>
        <p:nvSpPr>
          <p:cNvPr id="49" name="Shape 45"/>
          <p:cNvSpPr/>
          <p:nvPr/>
        </p:nvSpPr>
        <p:spPr>
          <a:xfrm>
            <a:off x="640080" y="12710160"/>
            <a:ext cx="6949440" cy="41148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0" name="Text 46"/>
          <p:cNvSpPr/>
          <p:nvPr/>
        </p:nvSpPr>
        <p:spPr>
          <a:xfrm>
            <a:off x="640080" y="1283817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promise</a:t>
            </a:r>
            <a:endParaRPr lang="en-US" sz="2200" dirty="0"/>
          </a:p>
        </p:txBody>
      </p:sp>
      <p:sp>
        <p:nvSpPr>
          <p:cNvPr id="51" name="Text 47"/>
          <p:cNvSpPr/>
          <p:nvPr/>
        </p:nvSpPr>
        <p:spPr>
          <a:xfrm>
            <a:off x="640080" y="13551408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Modern compute is </a:t>
            </a:r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flexible</a:t>
            </a:r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training and batch jobs shift in time and across data-center sites, so deferring work to </a:t>
            </a:r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cleaner hours and regions</a:t>
            </a:r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lowers operational carbon. Across 2021 to 2025 neighbouring grids move strongly together, so spatial structure looks like free signal a robust scheduler could turn into savings. </a:t>
            </a:r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Question: can measured spatial correlation actually lower out-of-sample carbon?</a:t>
            </a:r>
            <a:endParaRPr lang="en-US" sz="1800" dirty="0"/>
          </a:p>
        </p:txBody>
      </p:sp>
      <p:sp>
        <p:nvSpPr>
          <p:cNvPr id="52" name="Text 48"/>
          <p:cNvSpPr/>
          <p:nvPr/>
        </p:nvSpPr>
        <p:spPr>
          <a:xfrm>
            <a:off x="640080" y="1588312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spc="200" kern="0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&amp; SETUP</a:t>
            </a:r>
            <a:endParaRPr lang="en-US" sz="1900" dirty="0"/>
          </a:p>
        </p:txBody>
      </p:sp>
      <p:sp>
        <p:nvSpPr>
          <p:cNvPr id="53" name="Shape 49"/>
          <p:cNvSpPr/>
          <p:nvPr/>
        </p:nvSpPr>
        <p:spPr>
          <a:xfrm>
            <a:off x="640080" y="16340328"/>
            <a:ext cx="6949440" cy="41148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4" name="Text 50"/>
          <p:cNvSpPr/>
          <p:nvPr/>
        </p:nvSpPr>
        <p:spPr>
          <a:xfrm>
            <a:off x="640080" y="1646834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goes in</a:t>
            </a:r>
            <a:endParaRPr lang="en-US" sz="2200" dirty="0"/>
          </a:p>
        </p:txBody>
      </p:sp>
      <p:sp>
        <p:nvSpPr>
          <p:cNvPr id="55" name="Text 51"/>
          <p:cNvSpPr/>
          <p:nvPr/>
        </p:nvSpPr>
        <p:spPr>
          <a:xfrm>
            <a:off x="640080" y="17181576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Electricity Maps</a:t>
            </a:r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hourly carbon intensity, 2021 to 2025 (</a:t>
            </a:r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43,824 obs/zone</a:t>
            </a:r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); train 2021 to 2024, single </a:t>
            </a:r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locked 2025 test</a:t>
            </a:r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. Three US and Canadian grids spanning weak to strong residual correlation (up to 0.78). Facility: R zones × 24 h, 50 MW cap, </a:t>
            </a:r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80% utilization</a:t>
            </a:r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15 MW/h ramp, deferral window 0 to 7 h, inflexible fraction 30 to 75%.</a:t>
            </a:r>
            <a:endParaRPr lang="en-US" sz="1700" dirty="0"/>
          </a:p>
        </p:txBody>
      </p:sp>
      <p:sp>
        <p:nvSpPr>
          <p:cNvPr id="56" name="Text 52"/>
          <p:cNvSpPr/>
          <p:nvPr/>
        </p:nvSpPr>
        <p:spPr>
          <a:xfrm>
            <a:off x="640080" y="1960473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spc="200" kern="0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METHOD</a:t>
            </a:r>
            <a:endParaRPr lang="en-US" sz="1900" dirty="0"/>
          </a:p>
        </p:txBody>
      </p:sp>
      <p:sp>
        <p:nvSpPr>
          <p:cNvPr id="57" name="Shape 53"/>
          <p:cNvSpPr/>
          <p:nvPr/>
        </p:nvSpPr>
        <p:spPr>
          <a:xfrm>
            <a:off x="640080" y="20061936"/>
            <a:ext cx="6949440" cy="41148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8" name="Text 54"/>
          <p:cNvSpPr/>
          <p:nvPr/>
        </p:nvSpPr>
        <p:spPr>
          <a:xfrm>
            <a:off x="640080" y="201899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it is built</a:t>
            </a:r>
            <a:endParaRPr lang="en-US" sz="2200" dirty="0"/>
          </a:p>
        </p:txBody>
      </p:sp>
      <p:sp>
        <p:nvSpPr>
          <p:cNvPr id="59" name="Text 55"/>
          <p:cNvSpPr/>
          <p:nvPr/>
        </p:nvSpPr>
        <p:spPr>
          <a:xfrm>
            <a:off x="640080" y="20903184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</a:t>
            </a:r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Mahalanobis Wasserstein DRO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a second-order cone program in </a:t>
            </a:r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CVXPY (Clarabel/HiGHS)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minimizing </a:t>
            </a:r>
            <a:pPr algn="l"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CVaR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of carbon cost (</a:t>
            </a:r>
            <a:pPr algn="l" indent="0" marL="0">
              <a:lnSpc>
                <a:spcPct val="116000"/>
              </a:lnSpc>
              <a:buNone/>
            </a:pPr>
            <a:r>
              <a:rPr lang="en-US" sz="1700" i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Rockafellar and Uryasev 2000</a:t>
            </a:r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):</a:t>
            </a:r>
            <a:endParaRPr lang="en-US" sz="1700" dirty="0"/>
          </a:p>
        </p:txBody>
      </p:sp>
      <p:pic>
        <p:nvPicPr>
          <p:cNvPr id="60" name="Image 2" descr="figs/dro_equa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22320504"/>
            <a:ext cx="6858000" cy="2433793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640080" y="24909745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Cross-region value enters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only through the off-diagonal blocks of Σ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; the pre-registered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shuffled-marginals test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zeroes exactly those blocks. We add copula and tail checks, mean ablations, and walk-forward validation to 2025.</a:t>
            </a:r>
            <a:endParaRPr lang="en-US" sz="1700" dirty="0"/>
          </a:p>
        </p:txBody>
      </p:sp>
      <p:sp>
        <p:nvSpPr>
          <p:cNvPr id="62" name="Text 57"/>
          <p:cNvSpPr/>
          <p:nvPr/>
        </p:nvSpPr>
        <p:spPr>
          <a:xfrm>
            <a:off x="640080" y="26647105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spc="200" kern="0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RIGOR</a:t>
            </a:r>
            <a:endParaRPr lang="en-US" sz="1900" dirty="0"/>
          </a:p>
        </p:txBody>
      </p:sp>
      <p:sp>
        <p:nvSpPr>
          <p:cNvPr id="63" name="Shape 58"/>
          <p:cNvSpPr/>
          <p:nvPr/>
        </p:nvSpPr>
        <p:spPr>
          <a:xfrm>
            <a:off x="640080" y="27104305"/>
            <a:ext cx="6949440" cy="41148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4" name="Text 59"/>
          <p:cNvSpPr/>
          <p:nvPr/>
        </p:nvSpPr>
        <p:spPr>
          <a:xfrm>
            <a:off x="640080" y="27232321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you can trust a null</a:t>
            </a:r>
            <a:endParaRPr lang="en-US" sz="2200" dirty="0"/>
          </a:p>
        </p:txBody>
      </p:sp>
      <p:sp>
        <p:nvSpPr>
          <p:cNvPr id="65" name="Text 60"/>
          <p:cNvSpPr/>
          <p:nvPr/>
        </p:nvSpPr>
        <p:spPr>
          <a:xfrm>
            <a:off x="658368" y="27945553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194</a:t>
            </a:r>
            <a:endParaRPr lang="en-US" sz="3300" dirty="0"/>
          </a:p>
        </p:txBody>
      </p:sp>
      <p:sp>
        <p:nvSpPr>
          <p:cNvPr id="66" name="Text 61"/>
          <p:cNvSpPr/>
          <p:nvPr/>
        </p:nvSpPr>
        <p:spPr>
          <a:xfrm>
            <a:off x="2148840" y="27945553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unit tests, CI on every push</a:t>
            </a:r>
            <a:endParaRPr lang="en-US" sz="1600" dirty="0"/>
          </a:p>
        </p:txBody>
      </p:sp>
      <p:sp>
        <p:nvSpPr>
          <p:cNvPr id="67" name="Shape 62"/>
          <p:cNvSpPr/>
          <p:nvPr/>
        </p:nvSpPr>
        <p:spPr>
          <a:xfrm>
            <a:off x="640080" y="28658785"/>
            <a:ext cx="6949440" cy="10973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68" name="Text 63"/>
          <p:cNvSpPr/>
          <p:nvPr/>
        </p:nvSpPr>
        <p:spPr>
          <a:xfrm>
            <a:off x="658368" y="28695361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</a:t>
            </a:r>
            <a:endParaRPr lang="en-US" sz="3300" dirty="0"/>
          </a:p>
        </p:txBody>
      </p:sp>
      <p:sp>
        <p:nvSpPr>
          <p:cNvPr id="69" name="Text 64"/>
          <p:cNvSpPr/>
          <p:nvPr/>
        </p:nvSpPr>
        <p:spPr>
          <a:xfrm>
            <a:off x="2148840" y="28695361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cells where TOST confirms a null effect</a:t>
            </a:r>
            <a:endParaRPr lang="en-US" sz="1600" dirty="0"/>
          </a:p>
        </p:txBody>
      </p:sp>
      <p:sp>
        <p:nvSpPr>
          <p:cNvPr id="70" name="Shape 65"/>
          <p:cNvSpPr/>
          <p:nvPr/>
        </p:nvSpPr>
        <p:spPr>
          <a:xfrm>
            <a:off x="640080" y="29408593"/>
            <a:ext cx="6949440" cy="10973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71" name="Text 66"/>
          <p:cNvSpPr/>
          <p:nvPr/>
        </p:nvSpPr>
        <p:spPr>
          <a:xfrm>
            <a:off x="658368" y="29445169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300" dirty="0"/>
          </a:p>
        </p:txBody>
      </p:sp>
      <p:sp>
        <p:nvSpPr>
          <p:cNvPr id="72" name="Text 67"/>
          <p:cNvSpPr/>
          <p:nvPr/>
        </p:nvSpPr>
        <p:spPr>
          <a:xfrm>
            <a:off x="2148840" y="29445169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mean-dominance theorem bounding the gap</a:t>
            </a:r>
            <a:endParaRPr lang="en-US" sz="1600" dirty="0"/>
          </a:p>
        </p:txBody>
      </p:sp>
      <p:sp>
        <p:nvSpPr>
          <p:cNvPr id="73" name="Text 68"/>
          <p:cNvSpPr/>
          <p:nvPr/>
        </p:nvSpPr>
        <p:spPr>
          <a:xfrm>
            <a:off x="8092440" y="12252960"/>
            <a:ext cx="684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STEP 01   THE PREMISE</a:t>
            </a:r>
            <a:endParaRPr lang="en-US" sz="2200" dirty="0"/>
          </a:p>
        </p:txBody>
      </p:sp>
      <p:sp>
        <p:nvSpPr>
          <p:cNvPr id="74" name="Text 69"/>
          <p:cNvSpPr/>
          <p:nvPr/>
        </p:nvSpPr>
        <p:spPr>
          <a:xfrm>
            <a:off x="8092440" y="12765024"/>
            <a:ext cx="68458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spatial signal is real, but does it pay?</a:t>
            </a:r>
            <a:endParaRPr lang="en-US" sz="3300" dirty="0"/>
          </a:p>
        </p:txBody>
      </p:sp>
      <p:sp>
        <p:nvSpPr>
          <p:cNvPr id="75" name="Shape 70"/>
          <p:cNvSpPr/>
          <p:nvPr/>
        </p:nvSpPr>
        <p:spPr>
          <a:xfrm>
            <a:off x="8092440" y="14538960"/>
            <a:ext cx="6845808" cy="41148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76" name="Text 71"/>
          <p:cNvSpPr/>
          <p:nvPr/>
        </p:nvSpPr>
        <p:spPr>
          <a:xfrm>
            <a:off x="8092440" y="14794992"/>
            <a:ext cx="684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Across 2021 to 2025, de-seasonalized carbon intensity in neighbouring zones moves together. Residual cross-region correlation reaches </a:t>
            </a:r>
            <a:pPr algn="l" indent="0" marL="0">
              <a:lnSpc>
                <a:spcPct val="116000"/>
              </a:lnSpc>
              <a:buNone/>
            </a:pPr>
            <a:r>
              <a:rPr lang="en-US" sz="19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0.78</a:t>
            </a:r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in the Western US and 0.73 in the Eastern interconnection. If spatial structure can ever sharpen a robust schedule, this is the regime where it should.</a:t>
            </a:r>
            <a:endParaRPr lang="en-US" sz="1900" dirty="0"/>
          </a:p>
        </p:txBody>
      </p:sp>
      <p:pic>
        <p:nvPicPr>
          <p:cNvPr id="77" name="Image 3" descr="figs/us_regions_ma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38160" y="17007840"/>
            <a:ext cx="6754368" cy="4070145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8092440" y="21196857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 grids span the US and Canada; the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Western US zones form a tightly correlated graph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(up to 0.78).</a:t>
            </a:r>
            <a:endParaRPr lang="en-US" sz="1650" dirty="0"/>
          </a:p>
        </p:txBody>
      </p:sp>
      <p:pic>
        <p:nvPicPr>
          <p:cNvPr id="79" name="Image 4" descr="figs/value_vs_corr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38160" y="21900945"/>
            <a:ext cx="6754368" cy="4325210"/>
          </a:xfrm>
          <a:prstGeom prst="rect">
            <a:avLst/>
          </a:prstGeom>
        </p:spPr>
      </p:pic>
      <p:sp>
        <p:nvSpPr>
          <p:cNvPr id="80" name="Text 73"/>
          <p:cNvSpPr/>
          <p:nvPr/>
        </p:nvSpPr>
        <p:spPr>
          <a:xfrm>
            <a:off x="8092440" y="26363316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But value does not follow: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out-of-sample spatial value stays at zero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as correlation rises from 0.2 to 0.6.</a:t>
            </a:r>
            <a:endParaRPr lang="en-US" sz="1650" dirty="0"/>
          </a:p>
        </p:txBody>
      </p:sp>
      <p:sp>
        <p:nvSpPr>
          <p:cNvPr id="81" name="Shape 74"/>
          <p:cNvSpPr/>
          <p:nvPr/>
        </p:nvSpPr>
        <p:spPr>
          <a:xfrm>
            <a:off x="8092440" y="27058260"/>
            <a:ext cx="6845808" cy="2751180"/>
          </a:xfrm>
          <a:prstGeom prst="rect">
            <a:avLst/>
          </a:prstGeom>
          <a:solidFill>
            <a:srgbClr val="FFFFFF"/>
          </a:solidFill>
          <a:ln w="17780">
            <a:solidFill>
              <a:srgbClr val="00338D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8092440" y="27058260"/>
            <a:ext cx="6845808" cy="566928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3" name="Text 76"/>
          <p:cNvSpPr/>
          <p:nvPr/>
        </p:nvSpPr>
        <p:spPr>
          <a:xfrm>
            <a:off x="8275320" y="27058260"/>
            <a:ext cx="28977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spc="100" kern="0" dirty="0">
                <a:solidFill>
                  <a:srgbClr val="BFD3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 EXPECTED</a:t>
            </a:r>
            <a:endParaRPr lang="en-US" sz="1500" dirty="0"/>
          </a:p>
        </p:txBody>
      </p:sp>
      <p:sp>
        <p:nvSpPr>
          <p:cNvPr id="84" name="Text 77"/>
          <p:cNvSpPr/>
          <p:nvPr/>
        </p:nvSpPr>
        <p:spPr>
          <a:xfrm>
            <a:off x="11374222" y="27058260"/>
            <a:ext cx="3490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 FOUND</a:t>
            </a:r>
            <a:endParaRPr lang="en-US" sz="1500" dirty="0"/>
          </a:p>
        </p:txBody>
      </p:sp>
      <p:sp>
        <p:nvSpPr>
          <p:cNvPr id="85" name="Shape 78"/>
          <p:cNvSpPr/>
          <p:nvPr/>
        </p:nvSpPr>
        <p:spPr>
          <a:xfrm>
            <a:off x="11173054" y="27625188"/>
            <a:ext cx="18288" cy="728084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86" name="Text 79"/>
          <p:cNvSpPr/>
          <p:nvPr/>
        </p:nvSpPr>
        <p:spPr>
          <a:xfrm>
            <a:off x="8275320" y="27625188"/>
            <a:ext cx="2788006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Correlation sharpens the schedule</a:t>
            </a:r>
            <a:endParaRPr lang="en-US" sz="1500" dirty="0"/>
          </a:p>
        </p:txBody>
      </p:sp>
      <p:sp>
        <p:nvSpPr>
          <p:cNvPr id="87" name="Text 80"/>
          <p:cNvSpPr/>
          <p:nvPr/>
        </p:nvSpPr>
        <p:spPr>
          <a:xfrm>
            <a:off x="11374222" y="27625188"/>
            <a:ext cx="3417722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Spatial value stays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~0%</a:t>
            </a:r>
            <a:endParaRPr lang="en-US" sz="1600" dirty="0"/>
          </a:p>
        </p:txBody>
      </p:sp>
      <p:sp>
        <p:nvSpPr>
          <p:cNvPr id="88" name="Shape 81"/>
          <p:cNvSpPr/>
          <p:nvPr/>
        </p:nvSpPr>
        <p:spPr>
          <a:xfrm>
            <a:off x="8092440" y="28353272"/>
            <a:ext cx="6845808" cy="72808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89" name="Shape 82"/>
          <p:cNvSpPr/>
          <p:nvPr/>
        </p:nvSpPr>
        <p:spPr>
          <a:xfrm>
            <a:off x="8092440" y="28353272"/>
            <a:ext cx="6845808" cy="13716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90" name="Shape 83"/>
          <p:cNvSpPr/>
          <p:nvPr/>
        </p:nvSpPr>
        <p:spPr>
          <a:xfrm>
            <a:off x="11173054" y="28353272"/>
            <a:ext cx="18288" cy="728084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91" name="Text 84"/>
          <p:cNvSpPr/>
          <p:nvPr/>
        </p:nvSpPr>
        <p:spPr>
          <a:xfrm>
            <a:off x="8275320" y="28353272"/>
            <a:ext cx="2788006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Copulas capture the dependence</a:t>
            </a:r>
            <a:endParaRPr lang="en-US" sz="1500" dirty="0"/>
          </a:p>
        </p:txBody>
      </p:sp>
      <p:sp>
        <p:nvSpPr>
          <p:cNvPr id="92" name="Text 85"/>
          <p:cNvSpPr/>
          <p:nvPr/>
        </p:nvSpPr>
        <p:spPr>
          <a:xfrm>
            <a:off x="11374222" y="28353272"/>
            <a:ext cx="3417722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Even the maximal copula adds nothing</a:t>
            </a:r>
            <a:endParaRPr lang="en-US" sz="1600" dirty="0"/>
          </a:p>
        </p:txBody>
      </p:sp>
      <p:sp>
        <p:nvSpPr>
          <p:cNvPr id="93" name="Shape 86"/>
          <p:cNvSpPr/>
          <p:nvPr/>
        </p:nvSpPr>
        <p:spPr>
          <a:xfrm>
            <a:off x="8092440" y="29081356"/>
            <a:ext cx="6845808" cy="13716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94" name="Shape 87"/>
          <p:cNvSpPr/>
          <p:nvPr/>
        </p:nvSpPr>
        <p:spPr>
          <a:xfrm>
            <a:off x="11173054" y="29081356"/>
            <a:ext cx="18288" cy="728084"/>
          </a:xfrm>
          <a:prstGeom prst="rect">
            <a:avLst/>
          </a:prstGeom>
          <a:solidFill>
            <a:srgbClr val="C9D2E0"/>
          </a:solidFill>
          <a:ln/>
        </p:spPr>
      </p:sp>
      <p:sp>
        <p:nvSpPr>
          <p:cNvPr id="95" name="Text 88"/>
          <p:cNvSpPr/>
          <p:nvPr/>
        </p:nvSpPr>
        <p:spPr>
          <a:xfrm>
            <a:off x="8275320" y="29081356"/>
            <a:ext cx="2788006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signal is simply absent</a:t>
            </a:r>
            <a:endParaRPr lang="en-US" sz="1500" dirty="0"/>
          </a:p>
        </p:txBody>
      </p:sp>
      <p:sp>
        <p:nvSpPr>
          <p:cNvPr id="96" name="Text 89"/>
          <p:cNvSpPr/>
          <p:nvPr/>
        </p:nvSpPr>
        <p:spPr>
          <a:xfrm>
            <a:off x="11374222" y="29081356"/>
            <a:ext cx="3417722" cy="72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Real, but masked: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+1.46%</a:t>
            </a:r>
            <a:endParaRPr lang="en-US" sz="1600" dirty="0"/>
          </a:p>
        </p:txBody>
      </p:sp>
      <p:sp>
        <p:nvSpPr>
          <p:cNvPr id="97" name="Text 90"/>
          <p:cNvSpPr/>
          <p:nvPr/>
        </p:nvSpPr>
        <p:spPr>
          <a:xfrm>
            <a:off x="15441168" y="12252960"/>
            <a:ext cx="684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STEP 02   THE SCREEN</a:t>
            </a:r>
            <a:endParaRPr lang="en-US" sz="2200" dirty="0"/>
          </a:p>
        </p:txBody>
      </p:sp>
      <p:sp>
        <p:nvSpPr>
          <p:cNvPr id="98" name="Text 91"/>
          <p:cNvSpPr/>
          <p:nvPr/>
        </p:nvSpPr>
        <p:spPr>
          <a:xfrm>
            <a:off x="15441168" y="12765024"/>
            <a:ext cx="68458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passive sophistication pay? No.</a:t>
            </a:r>
            <a:endParaRPr lang="en-US" sz="3300" dirty="0"/>
          </a:p>
        </p:txBody>
      </p:sp>
      <p:sp>
        <p:nvSpPr>
          <p:cNvPr id="99" name="Shape 92"/>
          <p:cNvSpPr/>
          <p:nvPr/>
        </p:nvSpPr>
        <p:spPr>
          <a:xfrm>
            <a:off x="15441168" y="14538960"/>
            <a:ext cx="6845808" cy="41148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00" name="Text 93"/>
          <p:cNvSpPr/>
          <p:nvPr/>
        </p:nvSpPr>
        <p:spPr>
          <a:xfrm>
            <a:off x="15441168" y="14794992"/>
            <a:ext cx="684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 re-fit the scheduler on the full joint covariance and on a block-diagonal version that erases every cross-region term, then compare out-of-sample CVaR of carbon cost. Across grids and horizons the gap </a:t>
            </a:r>
            <a:pPr algn="l" indent="0" marL="0">
              <a:lnSpc>
                <a:spcPct val="116000"/>
              </a:lnSpc>
              <a:buNone/>
            </a:pPr>
            <a:r>
              <a:rPr lang="en-US" sz="19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stays at zero</a:t>
            </a:r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.</a:t>
            </a:r>
            <a:endParaRPr lang="en-US" sz="1900" dirty="0"/>
          </a:p>
        </p:txBody>
      </p:sp>
      <p:sp>
        <p:nvSpPr>
          <p:cNvPr id="101" name="Shape 94"/>
          <p:cNvSpPr/>
          <p:nvPr/>
        </p:nvSpPr>
        <p:spPr>
          <a:xfrm>
            <a:off x="15322296" y="16888968"/>
            <a:ext cx="7083552" cy="4638304"/>
          </a:xfrm>
          <a:prstGeom prst="rect">
            <a:avLst/>
          </a:prstGeom>
          <a:solidFill>
            <a:srgbClr val="FBFCFE"/>
          </a:solidFill>
          <a:ln w="12700">
            <a:solidFill>
              <a:srgbClr val="E2E8F1"/>
            </a:solidFill>
            <a:prstDash val="solid"/>
          </a:ln>
        </p:spPr>
      </p:sp>
      <p:pic>
        <p:nvPicPr>
          <p:cNvPr id="102" name="Image 5" descr="figs/finding_bar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5486888" y="17007840"/>
            <a:ext cx="6754368" cy="4400560"/>
          </a:xfrm>
          <a:prstGeom prst="rect">
            <a:avLst/>
          </a:prstGeom>
        </p:spPr>
      </p:pic>
      <p:sp>
        <p:nvSpPr>
          <p:cNvPr id="103" name="Text 95"/>
          <p:cNvSpPr/>
          <p:nvPr/>
        </p:nvSpPr>
        <p:spPr>
          <a:xfrm>
            <a:off x="15441168" y="21545560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problem versus covariance-only: about zero unless the mean field is removed.</a:t>
            </a:r>
            <a:endParaRPr lang="en-US" sz="1650" dirty="0"/>
          </a:p>
        </p:txBody>
      </p:sp>
      <p:sp>
        <p:nvSpPr>
          <p:cNvPr id="104" name="Shape 96"/>
          <p:cNvSpPr/>
          <p:nvPr/>
        </p:nvSpPr>
        <p:spPr>
          <a:xfrm>
            <a:off x="15322296" y="22130776"/>
            <a:ext cx="7083552" cy="2130596"/>
          </a:xfrm>
          <a:prstGeom prst="rect">
            <a:avLst/>
          </a:prstGeom>
          <a:solidFill>
            <a:srgbClr val="FBFCFE"/>
          </a:solidFill>
          <a:ln w="12700">
            <a:solidFill>
              <a:srgbClr val="E2E8F1"/>
            </a:solidFill>
            <a:prstDash val="solid"/>
          </a:ln>
        </p:spPr>
      </p:sp>
      <p:pic>
        <p:nvPicPr>
          <p:cNvPr id="105" name="Image 6" descr="figs/cv_curve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5486888" y="22249648"/>
            <a:ext cx="6754368" cy="1892852"/>
          </a:xfrm>
          <a:prstGeom prst="rect">
            <a:avLst/>
          </a:prstGeom>
        </p:spPr>
      </p:pic>
      <p:sp>
        <p:nvSpPr>
          <p:cNvPr id="106" name="Text 97"/>
          <p:cNvSpPr/>
          <p:nvPr/>
        </p:nvSpPr>
        <p:spPr>
          <a:xfrm>
            <a:off x="15441168" y="24279660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Cross-validation picks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ε* = 1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the optimizer truly robustifies, so the null is real.</a:t>
            </a:r>
            <a:endParaRPr lang="en-US" sz="1650" dirty="0"/>
          </a:p>
        </p:txBody>
      </p:sp>
      <p:sp>
        <p:nvSpPr>
          <p:cNvPr id="107" name="Shape 98"/>
          <p:cNvSpPr/>
          <p:nvPr/>
        </p:nvSpPr>
        <p:spPr>
          <a:xfrm>
            <a:off x="15322296" y="24864876"/>
            <a:ext cx="7083552" cy="2830935"/>
          </a:xfrm>
          <a:prstGeom prst="rect">
            <a:avLst/>
          </a:prstGeom>
          <a:solidFill>
            <a:srgbClr val="FBFCFE"/>
          </a:solidFill>
          <a:ln w="12700">
            <a:solidFill>
              <a:srgbClr val="E2E8F1"/>
            </a:solidFill>
            <a:prstDash val="solid"/>
          </a:ln>
        </p:spPr>
      </p:sp>
      <p:pic>
        <p:nvPicPr>
          <p:cNvPr id="108" name="Image 7" descr="figs/copula_result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5486888" y="24983748"/>
            <a:ext cx="6754368" cy="2593191"/>
          </a:xfrm>
          <a:prstGeom prst="rect">
            <a:avLst/>
          </a:prstGeom>
        </p:spPr>
      </p:pic>
      <p:sp>
        <p:nvSpPr>
          <p:cNvPr id="109" name="Text 99"/>
          <p:cNvSpPr/>
          <p:nvPr/>
        </p:nvSpPr>
        <p:spPr>
          <a:xfrm>
            <a:off x="15441168" y="27714099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Gaussian, Clayton, even the comonotone (maximal) copula: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every gain sits at the noise floor.</a:t>
            </a:r>
            <a:endParaRPr lang="en-US" sz="1650" dirty="0"/>
          </a:p>
        </p:txBody>
      </p:sp>
      <p:sp>
        <p:nvSpPr>
          <p:cNvPr id="110" name="Shape 100"/>
          <p:cNvSpPr/>
          <p:nvPr/>
        </p:nvSpPr>
        <p:spPr>
          <a:xfrm>
            <a:off x="15441168" y="28372467"/>
            <a:ext cx="6845808" cy="1436973"/>
          </a:xfrm>
          <a:prstGeom prst="rect">
            <a:avLst/>
          </a:prstGeom>
          <a:solidFill>
            <a:srgbClr val="E6F4FC"/>
          </a:solidFill>
          <a:ln/>
        </p:spPr>
      </p:sp>
      <p:sp>
        <p:nvSpPr>
          <p:cNvPr id="111" name="Shape 101"/>
          <p:cNvSpPr/>
          <p:nvPr/>
        </p:nvSpPr>
        <p:spPr>
          <a:xfrm>
            <a:off x="15441168" y="28372467"/>
            <a:ext cx="146304" cy="1436973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12" name="Text 102"/>
          <p:cNvSpPr/>
          <p:nvPr/>
        </p:nvSpPr>
        <p:spPr>
          <a:xfrm>
            <a:off x="15752064" y="28372467"/>
            <a:ext cx="6278880" cy="143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VERDICT   </a:t>
            </a:r>
            <a:pPr algn="l"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across every estimator and test, the out-of-sample spatial value is statistically indistinguishable from zero.</a:t>
            </a:r>
            <a:endParaRPr lang="en-US" sz="1650" dirty="0"/>
          </a:p>
        </p:txBody>
      </p:sp>
      <p:sp>
        <p:nvSpPr>
          <p:cNvPr id="113" name="Text 103"/>
          <p:cNvSpPr/>
          <p:nvPr/>
        </p:nvSpPr>
        <p:spPr>
          <a:xfrm>
            <a:off x="22789896" y="12252960"/>
            <a:ext cx="684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spc="2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STEP 03   THE MECHANISM</a:t>
            </a:r>
            <a:endParaRPr lang="en-US" sz="2200" dirty="0"/>
          </a:p>
        </p:txBody>
      </p:sp>
      <p:sp>
        <p:nvSpPr>
          <p:cNvPr id="114" name="Text 104"/>
          <p:cNvSpPr/>
          <p:nvPr/>
        </p:nvSpPr>
        <p:spPr>
          <a:xfrm>
            <a:off x="22789896" y="12765024"/>
            <a:ext cx="68458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does it add nothing? The mean field holds it.</a:t>
            </a:r>
            <a:endParaRPr lang="en-US" sz="3300" dirty="0"/>
          </a:p>
        </p:txBody>
      </p:sp>
      <p:sp>
        <p:nvSpPr>
          <p:cNvPr id="115" name="Shape 105"/>
          <p:cNvSpPr/>
          <p:nvPr/>
        </p:nvSpPr>
        <p:spPr>
          <a:xfrm>
            <a:off x="22789896" y="14538960"/>
            <a:ext cx="6845808" cy="41148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16" name="Text 106"/>
          <p:cNvSpPr/>
          <p:nvPr/>
        </p:nvSpPr>
        <p:spPr>
          <a:xfrm>
            <a:off x="22789896" y="14794992"/>
            <a:ext cx="684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Mean ablation isolates the cause. Hold the covariance fixed and flatten the mean field, and the same spatial structure now pays </a:t>
            </a:r>
            <a:pPr algn="l" indent="0" marL="0">
              <a:lnSpc>
                <a:spcPct val="116000"/>
              </a:lnSpc>
              <a:buNone/>
            </a:pPr>
            <a:r>
              <a:rPr lang="en-US" sz="19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+1.46%</a:t>
            </a:r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. The signal is real but masked by a dominant mean, not absent.</a:t>
            </a:r>
            <a:endParaRPr lang="en-US" sz="1900" dirty="0"/>
          </a:p>
        </p:txBody>
      </p:sp>
      <p:pic>
        <p:nvPicPr>
          <p:cNvPr id="117" name="Image 8" descr="figs/carbon_landscape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2835616" y="17007840"/>
            <a:ext cx="6754368" cy="4268947"/>
          </a:xfrm>
          <a:prstGeom prst="rect">
            <a:avLst/>
          </a:prstGeom>
        </p:spPr>
      </p:pic>
      <p:sp>
        <p:nvSpPr>
          <p:cNvPr id="118" name="Text 107"/>
          <p:cNvSpPr/>
          <p:nvPr/>
        </p:nvSpPr>
        <p:spPr>
          <a:xfrm>
            <a:off x="22789896" y="21413947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dominant mean carbon field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the schedule follows this terrain; the spatial covariance is a thin ripple on top (≤1.46%).</a:t>
            </a:r>
            <a:endParaRPr lang="en-US" sz="1650" dirty="0"/>
          </a:p>
        </p:txBody>
      </p:sp>
      <p:pic>
        <p:nvPicPr>
          <p:cNvPr id="119" name="Image 9" descr="figs/certificate_canyon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2835616" y="22191187"/>
            <a:ext cx="6754368" cy="4134367"/>
          </a:xfrm>
          <a:prstGeom prst="rect">
            <a:avLst/>
          </a:prstGeom>
        </p:spPr>
      </p:pic>
      <p:sp>
        <p:nvSpPr>
          <p:cNvPr id="120" name="Text 108"/>
          <p:cNvSpPr/>
          <p:nvPr/>
        </p:nvSpPr>
        <p:spPr>
          <a:xfrm>
            <a:off x="22789896" y="26462715"/>
            <a:ext cx="684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mean-dominance theorem caps the gap a-priori at </a:t>
            </a:r>
            <a:pPr algn="l" indent="0" marL="0">
              <a:lnSpc>
                <a:spcPct val="102000"/>
              </a:lnSpc>
              <a:buNone/>
            </a:pPr>
            <a:r>
              <a:rPr lang="en-US" sz="1650" b="1" i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to 13% of CVaR</a:t>
            </a:r>
            <a:pPr algn="l" indent="0" marL="0">
              <a:lnSpc>
                <a:spcPct val="102000"/>
              </a:lnSpc>
              <a:buNone/>
            </a:pPr>
            <a:r>
              <a:rPr lang="en-US" sz="165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; the realized gap never exceeds 0.23%, about 100x below its own bound.</a:t>
            </a:r>
            <a:endParaRPr lang="en-US" sz="1650" dirty="0"/>
          </a:p>
        </p:txBody>
      </p:sp>
      <p:sp>
        <p:nvSpPr>
          <p:cNvPr id="121" name="Shape 109"/>
          <p:cNvSpPr/>
          <p:nvPr/>
        </p:nvSpPr>
        <p:spPr>
          <a:xfrm>
            <a:off x="22789896" y="27157659"/>
            <a:ext cx="6845808" cy="2651781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22" name="Shape 110"/>
          <p:cNvSpPr/>
          <p:nvPr/>
        </p:nvSpPr>
        <p:spPr>
          <a:xfrm>
            <a:off x="22789896" y="27157659"/>
            <a:ext cx="146304" cy="2651781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23" name="Text 111"/>
          <p:cNvSpPr/>
          <p:nvPr/>
        </p:nvSpPr>
        <p:spPr>
          <a:xfrm>
            <a:off x="23082504" y="27358827"/>
            <a:ext cx="634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50" kern="0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NULL SURVIVES EVERY CHECK</a:t>
            </a:r>
            <a:endParaRPr lang="en-US" sz="1800" dirty="0"/>
          </a:p>
        </p:txBody>
      </p:sp>
      <p:sp>
        <p:nvSpPr>
          <p:cNvPr id="124" name="Shape 112"/>
          <p:cNvSpPr/>
          <p:nvPr/>
        </p:nvSpPr>
        <p:spPr>
          <a:xfrm>
            <a:off x="23082504" y="27870891"/>
            <a:ext cx="6260592" cy="41148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25" name="Text 113"/>
          <p:cNvSpPr/>
          <p:nvPr/>
        </p:nvSpPr>
        <p:spPr>
          <a:xfrm>
            <a:off x="23100792" y="28026339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26" name="Text 114"/>
          <p:cNvSpPr/>
          <p:nvPr/>
        </p:nvSpPr>
        <p:spPr>
          <a:xfrm>
            <a:off x="23576280" y="28026339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Ledoit-Wolf covariance shrinkage</a:t>
            </a:r>
            <a:endParaRPr lang="en-US" sz="1650" dirty="0"/>
          </a:p>
        </p:txBody>
      </p:sp>
      <p:sp>
        <p:nvSpPr>
          <p:cNvPr id="127" name="Text 115"/>
          <p:cNvSpPr/>
          <p:nvPr/>
        </p:nvSpPr>
        <p:spPr>
          <a:xfrm>
            <a:off x="23100792" y="28300662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28" name="Text 116"/>
          <p:cNvSpPr/>
          <p:nvPr/>
        </p:nvSpPr>
        <p:spPr>
          <a:xfrm>
            <a:off x="23576280" y="28300662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Residualization of the mean field</a:t>
            </a:r>
            <a:endParaRPr lang="en-US" sz="1650" dirty="0"/>
          </a:p>
        </p:txBody>
      </p:sp>
      <p:sp>
        <p:nvSpPr>
          <p:cNvPr id="129" name="Text 117"/>
          <p:cNvSpPr/>
          <p:nvPr/>
        </p:nvSpPr>
        <p:spPr>
          <a:xfrm>
            <a:off x="23100792" y="28574986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30" name="Text 118"/>
          <p:cNvSpPr/>
          <p:nvPr/>
        </p:nvSpPr>
        <p:spPr>
          <a:xfrm>
            <a:off x="23576280" y="28574986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Benjamini-Hochberg over 144 cells</a:t>
            </a:r>
            <a:endParaRPr lang="en-US" sz="1650" dirty="0"/>
          </a:p>
        </p:txBody>
      </p:sp>
      <p:sp>
        <p:nvSpPr>
          <p:cNvPr id="131" name="Text 119"/>
          <p:cNvSpPr/>
          <p:nvPr/>
        </p:nvSpPr>
        <p:spPr>
          <a:xfrm>
            <a:off x="23100792" y="28849309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32" name="Text 120"/>
          <p:cNvSpPr/>
          <p:nvPr/>
        </p:nvSpPr>
        <p:spPr>
          <a:xfrm>
            <a:off x="23576280" y="28849309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Walk-forward validation to 2024</a:t>
            </a:r>
            <a:endParaRPr lang="en-US" sz="1650" dirty="0"/>
          </a:p>
        </p:txBody>
      </p:sp>
      <p:sp>
        <p:nvSpPr>
          <p:cNvPr id="133" name="Text 121"/>
          <p:cNvSpPr/>
          <p:nvPr/>
        </p:nvSpPr>
        <p:spPr>
          <a:xfrm>
            <a:off x="23100792" y="29123633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34" name="Text 122"/>
          <p:cNvSpPr/>
          <p:nvPr/>
        </p:nvSpPr>
        <p:spPr>
          <a:xfrm>
            <a:off x="23576280" y="29123633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Ramp and utilization sweeps</a:t>
            </a:r>
            <a:endParaRPr lang="en-US" sz="1650" dirty="0"/>
          </a:p>
        </p:txBody>
      </p:sp>
      <p:sp>
        <p:nvSpPr>
          <p:cNvPr id="135" name="Text 123"/>
          <p:cNvSpPr/>
          <p:nvPr/>
        </p:nvSpPr>
        <p:spPr>
          <a:xfrm>
            <a:off x="23100792" y="29397956"/>
            <a:ext cx="457200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800" dirty="0"/>
          </a:p>
        </p:txBody>
      </p:sp>
      <p:sp>
        <p:nvSpPr>
          <p:cNvPr id="136" name="Text 124"/>
          <p:cNvSpPr/>
          <p:nvPr/>
        </p:nvSpPr>
        <p:spPr>
          <a:xfrm>
            <a:off x="23576280" y="29397956"/>
            <a:ext cx="5839968" cy="27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full CVaR tail range, 0.80 to 0.99</a:t>
            </a:r>
            <a:endParaRPr lang="en-US" sz="1650" dirty="0"/>
          </a:p>
        </p:txBody>
      </p:sp>
      <p:sp>
        <p:nvSpPr>
          <p:cNvPr id="137" name="Shape 125"/>
          <p:cNvSpPr/>
          <p:nvPr/>
        </p:nvSpPr>
        <p:spPr>
          <a:xfrm>
            <a:off x="640080" y="30083760"/>
            <a:ext cx="28995624" cy="759488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sx="100000" sy="100000" kx="0" ky="0" algn="bl" rotWithShape="0" blurRad="88900" dist="25400" dir="8100000">
              <a:srgbClr val="AEB7C6">
                <a:alpha val="22000"/>
              </a:srgbClr>
            </a:outerShdw>
          </a:effectLst>
        </p:spPr>
      </p:sp>
      <p:sp>
        <p:nvSpPr>
          <p:cNvPr id="138" name="Shape 126"/>
          <p:cNvSpPr/>
          <p:nvPr/>
        </p:nvSpPr>
        <p:spPr>
          <a:xfrm>
            <a:off x="640080" y="30083760"/>
            <a:ext cx="28995624" cy="146304"/>
          </a:xfrm>
          <a:prstGeom prst="rect">
            <a:avLst/>
          </a:prstGeom>
          <a:solidFill>
            <a:srgbClr val="0098E0"/>
          </a:solidFill>
          <a:ln/>
        </p:spPr>
      </p:sp>
      <p:sp>
        <p:nvSpPr>
          <p:cNvPr id="139" name="Text 127"/>
          <p:cNvSpPr/>
          <p:nvPr/>
        </p:nvSpPr>
        <p:spPr>
          <a:xfrm>
            <a:off x="1051560" y="30376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spc="3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RESULT, SEEN DIRECTLY</a:t>
            </a:r>
            <a:endParaRPr lang="en-US" sz="1800" dirty="0"/>
          </a:p>
        </p:txBody>
      </p:sp>
      <p:sp>
        <p:nvSpPr>
          <p:cNvPr id="140" name="Text 128"/>
          <p:cNvSpPr/>
          <p:nvPr/>
        </p:nvSpPr>
        <p:spPr>
          <a:xfrm>
            <a:off x="8503920" y="30339792"/>
            <a:ext cx="20720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0338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Each panel is one Western US grid.  Bars: scheduled load.  Line: carbon intensity.  Joint and shuffled plans overlap.</a:t>
            </a:r>
            <a:endParaRPr lang="en-US" sz="1500" dirty="0"/>
          </a:p>
        </p:txBody>
      </p:sp>
      <p:pic>
        <p:nvPicPr>
          <p:cNvPr id="141" name="Image 10" descr="figs/schedule_us_west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42416" y="30897576"/>
            <a:ext cx="28190952" cy="6561614"/>
          </a:xfrm>
          <a:prstGeom prst="rect">
            <a:avLst/>
          </a:prstGeom>
        </p:spPr>
      </p:pic>
      <p:sp>
        <p:nvSpPr>
          <p:cNvPr id="142" name="Shape 129"/>
          <p:cNvSpPr/>
          <p:nvPr/>
        </p:nvSpPr>
        <p:spPr>
          <a:xfrm>
            <a:off x="640080" y="37907246"/>
            <a:ext cx="28995624" cy="2606040"/>
          </a:xfrm>
          <a:prstGeom prst="rect">
            <a:avLst/>
          </a:prstGeom>
          <a:solidFill>
            <a:srgbClr val="FAF1D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43" name="Shape 130"/>
          <p:cNvSpPr/>
          <p:nvPr/>
        </p:nvSpPr>
        <p:spPr>
          <a:xfrm>
            <a:off x="640080" y="37907246"/>
            <a:ext cx="164592" cy="2606040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144" name="Image 11" descr="figs/schematic_transfer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97280" y="38108414"/>
            <a:ext cx="5394960" cy="2203704"/>
          </a:xfrm>
          <a:prstGeom prst="rect">
            <a:avLst/>
          </a:prstGeom>
        </p:spPr>
      </p:pic>
      <p:sp>
        <p:nvSpPr>
          <p:cNvPr id="145" name="Text 131"/>
          <p:cNvSpPr/>
          <p:nvPr/>
        </p:nvSpPr>
        <p:spPr>
          <a:xfrm>
            <a:off x="6766560" y="38273006"/>
            <a:ext cx="22594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spc="100" kern="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PAYOFF</a:t>
            </a:r>
            <a:endParaRPr lang="en-US" sz="2500" dirty="0"/>
          </a:p>
        </p:txBody>
      </p:sp>
      <p:sp>
        <p:nvSpPr>
          <p:cNvPr id="146" name="Text 132"/>
          <p:cNvSpPr/>
          <p:nvPr/>
        </p:nvSpPr>
        <p:spPr>
          <a:xfrm>
            <a:off x="6766560" y="39004526"/>
            <a:ext cx="22503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value is in physically moving compute toward whichever grid is clean right now. An </a:t>
            </a:r>
            <a:pPr algn="l" indent="0" marL="0">
              <a:lnSpc>
                <a:spcPct val="116000"/>
              </a:lnSpc>
              <a:buNone/>
            </a:pPr>
            <a:r>
              <a:rPr lang="en-US" sz="1900" b="1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active inter-region transfer channel</a:t>
            </a:r>
            <a:pPr algn="l"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8A5C1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cuts 4 to 10 percent of carbon, deterministically. The sophisticated layers (joint covariance, copulas, distributional robustness) add nothing until grid emergencies hit 3x severity, which real grids never reach. Deploy the simple migration scheduler; price robustness only if your grid faces genuine extremes.</a:t>
            </a:r>
            <a:endParaRPr lang="en-US" sz="1900" dirty="0"/>
          </a:p>
        </p:txBody>
      </p:sp>
      <p:sp>
        <p:nvSpPr>
          <p:cNvPr id="147" name="Shape 133"/>
          <p:cNvSpPr/>
          <p:nvPr/>
        </p:nvSpPr>
        <p:spPr>
          <a:xfrm>
            <a:off x="640080" y="40741886"/>
            <a:ext cx="28995624" cy="1188720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148" name="Shape 134"/>
          <p:cNvSpPr/>
          <p:nvPr/>
        </p:nvSpPr>
        <p:spPr>
          <a:xfrm>
            <a:off x="28236672" y="40677878"/>
            <a:ext cx="1316736" cy="13167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9" name="Image 12" descr="figs/repo_qr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8355544" y="40796750"/>
            <a:ext cx="1078992" cy="1078992"/>
          </a:xfrm>
          <a:prstGeom prst="rect">
            <a:avLst/>
          </a:prstGeom>
        </p:spPr>
      </p:pic>
      <p:sp>
        <p:nvSpPr>
          <p:cNvPr id="150" name="Text 135"/>
          <p:cNvSpPr/>
          <p:nvPr/>
        </p:nvSpPr>
        <p:spPr>
          <a:xfrm>
            <a:off x="26389584" y="40741886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spc="1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REPOSITORY</a:t>
            </a:r>
            <a:endParaRPr lang="en-US" sz="14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400" b="1" spc="100" kern="0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 ·  THESIS</a:t>
            </a:r>
            <a:endParaRPr lang="en-US" sz="1400" dirty="0"/>
          </a:p>
        </p:txBody>
      </p:sp>
      <p:sp>
        <p:nvSpPr>
          <p:cNvPr id="151" name="Text 136"/>
          <p:cNvSpPr/>
          <p:nvPr/>
        </p:nvSpPr>
        <p:spPr>
          <a:xfrm>
            <a:off x="1188720" y="40741886"/>
            <a:ext cx="2446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0098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RECOMMENDATION    </a:t>
            </a:r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Deploy the deterministic migration scheduler; skip joint-covariance and copula modeling; price robustness only past a severity real grids never reach.</a:t>
            </a:r>
            <a:endParaRPr lang="en-US" sz="2500" dirty="0"/>
          </a:p>
        </p:txBody>
      </p:sp>
      <p:sp>
        <p:nvSpPr>
          <p:cNvPr id="152" name="Text 137"/>
          <p:cNvSpPr/>
          <p:nvPr/>
        </p:nvSpPr>
        <p:spPr>
          <a:xfrm>
            <a:off x="640080" y="42113486"/>
            <a:ext cx="28995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Marco Ortiz Togashi   ·   marco.ortiztogashi@student.ie.edu      |      Supervisor: Prof. Bissan Ghaddar      |      IE University, MS in Business Analytics &amp; Data Science      |      Carbon data: Electricity Maps (academic licence).</a:t>
            </a:r>
            <a:endParaRPr lang="en-US" sz="1800" dirty="0"/>
          </a:p>
        </p:txBody>
      </p:sp>
      <p:sp>
        <p:nvSpPr>
          <p:cNvPr id="153" name="Text 138"/>
          <p:cNvSpPr/>
          <p:nvPr/>
        </p:nvSpPr>
        <p:spPr>
          <a:xfrm>
            <a:off x="640080" y="42515822"/>
            <a:ext cx="28995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58617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References:  Hall et al. 2024 (carbon-aware DRO);  Mohajerin Esfahani and Kuhn 2018 (Wasserstein DRO);  Rockafellar and Uryasev 2000 (CVaR).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DRO capstone poster</dc:title>
  <dc:subject>PptxGenJS Presentation</dc:subject>
  <dc:creator>Marco Ortiz Togashi</dc:creator>
  <cp:lastModifiedBy>Marco Ortiz Togashi</cp:lastModifiedBy>
  <cp:revision>1</cp:revision>
  <dcterms:created xsi:type="dcterms:W3CDTF">2026-06-18T17:42:00Z</dcterms:created>
  <dcterms:modified xsi:type="dcterms:W3CDTF">2026-06-18T17:42:00Z</dcterms:modified>
</cp:coreProperties>
</file>