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30275784" cy="42803064"/>
  <p:notesSz cx="42803064" cy="3027578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slideLayout" Target="../slideLayouts/slideLayout1.xml"/><Relationship Id="rId1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40080"/>
            <a:ext cx="28995624" cy="3931920"/>
          </a:xfrm>
          <a:prstGeom prst="rect">
            <a:avLst/>
          </a:prstGeom>
          <a:solidFill>
            <a:srgbClr val="00338D"/>
          </a:solidFill>
          <a:ln/>
        </p:spPr>
      </p:sp>
      <p:sp>
        <p:nvSpPr>
          <p:cNvPr id="3" name="Shape 1"/>
          <p:cNvSpPr/>
          <p:nvPr/>
        </p:nvSpPr>
        <p:spPr>
          <a:xfrm>
            <a:off x="640080" y="4572000"/>
            <a:ext cx="28995624" cy="146304"/>
          </a:xfrm>
          <a:prstGeom prst="rect">
            <a:avLst/>
          </a:prstGeom>
          <a:solidFill>
            <a:srgbClr val="E8A33D"/>
          </a:solidFill>
          <a:ln/>
        </p:spPr>
      </p:sp>
      <p:pic>
        <p:nvPicPr>
          <p:cNvPr id="4" name="Image 0" descr="figs/ie_logo_white.png">    </p:cNvPr>
          <p:cNvPicPr>
            <a:picLocks noChangeAspect="1"/>
          </p:cNvPicPr>
          <p:nvPr/>
        </p:nvPicPr>
        <p:blipFill>
          <a:blip r:embed="rId1"/>
          <a:srcRect l="0" r="0" t="0" b="0"/>
          <a:stretch/>
        </p:blipFill>
        <p:spPr>
          <a:xfrm>
            <a:off x="1143000" y="1143000"/>
            <a:ext cx="4023360" cy="2926080"/>
          </a:xfrm>
          <a:prstGeom prst="rect">
            <a:avLst/>
          </a:prstGeom>
        </p:spPr>
      </p:pic>
      <p:sp>
        <p:nvSpPr>
          <p:cNvPr id="5" name="Shape 2"/>
          <p:cNvSpPr/>
          <p:nvPr/>
        </p:nvSpPr>
        <p:spPr>
          <a:xfrm>
            <a:off x="5212080" y="1143000"/>
            <a:ext cx="18288" cy="2926080"/>
          </a:xfrm>
          <a:prstGeom prst="rect">
            <a:avLst/>
          </a:prstGeom>
          <a:solidFill>
            <a:srgbClr val="335FA4"/>
          </a:solidFill>
          <a:ln/>
        </p:spPr>
      </p:sp>
      <p:sp>
        <p:nvSpPr>
          <p:cNvPr id="6" name="Shape 3"/>
          <p:cNvSpPr/>
          <p:nvPr/>
        </p:nvSpPr>
        <p:spPr>
          <a:xfrm>
            <a:off x="24743664" y="1143000"/>
            <a:ext cx="18288" cy="2926080"/>
          </a:xfrm>
          <a:prstGeom prst="rect">
            <a:avLst/>
          </a:prstGeom>
          <a:solidFill>
            <a:srgbClr val="335FA4"/>
          </a:solidFill>
          <a:ln/>
        </p:spPr>
      </p:sp>
      <p:sp>
        <p:nvSpPr>
          <p:cNvPr id="7" name="Text 4"/>
          <p:cNvSpPr/>
          <p:nvPr/>
        </p:nvSpPr>
        <p:spPr>
          <a:xfrm>
            <a:off x="25292304" y="1024128"/>
            <a:ext cx="4297680" cy="365760"/>
          </a:xfrm>
          <a:prstGeom prst="rect">
            <a:avLst/>
          </a:prstGeom>
          <a:noFill/>
          <a:ln/>
        </p:spPr>
        <p:txBody>
          <a:bodyPr wrap="square" lIns="0" tIns="0" rIns="0" bIns="0" rtlCol="0" anchor="t"/>
          <a:lstStyle/>
          <a:p>
            <a:pPr algn="l" indent="0" marL="0">
              <a:lnSpc>
                <a:spcPct val="118000"/>
              </a:lnSpc>
              <a:buNone/>
            </a:pPr>
            <a:r>
              <a:rPr lang="en-US" sz="1600" b="1" spc="200" kern="0" dirty="0">
                <a:solidFill>
                  <a:srgbClr val="E8A33D"/>
                </a:solidFill>
                <a:latin typeface="Palatino Linotype" pitchFamily="34" charset="0"/>
                <a:ea typeface="Palatino Linotype" pitchFamily="34" charset="-122"/>
                <a:cs typeface="Palatino Linotype" pitchFamily="34" charset="-120"/>
              </a:rPr>
              <a:t>DATA &amp; TOOLS</a:t>
            </a:r>
            <a:endParaRPr lang="en-US" sz="1600" dirty="0"/>
          </a:p>
        </p:txBody>
      </p:sp>
      <p:pic>
        <p:nvPicPr>
          <p:cNvPr id="8" name="Image 1" descr="figs/em_bolt_white.png">    </p:cNvPr>
          <p:cNvPicPr>
            <a:picLocks noChangeAspect="1"/>
          </p:cNvPicPr>
          <p:nvPr/>
        </p:nvPicPr>
        <p:blipFill>
          <a:blip r:embed="rId2"/>
          <a:srcRect l="0" r="0" t="0" b="0"/>
          <a:stretch/>
        </p:blipFill>
        <p:spPr>
          <a:xfrm>
            <a:off x="25246584" y="1481328"/>
            <a:ext cx="868680" cy="1207008"/>
          </a:xfrm>
          <a:prstGeom prst="rect">
            <a:avLst/>
          </a:prstGeom>
        </p:spPr>
      </p:pic>
      <p:sp>
        <p:nvSpPr>
          <p:cNvPr id="9" name="Text 5"/>
          <p:cNvSpPr/>
          <p:nvPr/>
        </p:nvSpPr>
        <p:spPr>
          <a:xfrm>
            <a:off x="26252424" y="1627632"/>
            <a:ext cx="3337560" cy="640080"/>
          </a:xfrm>
          <a:prstGeom prst="rect">
            <a:avLst/>
          </a:prstGeom>
          <a:noFill/>
          <a:ln/>
        </p:spPr>
        <p:txBody>
          <a:bodyPr wrap="square" lIns="0" tIns="0" rIns="0" bIns="0" rtlCol="0" anchor="ctr"/>
          <a:lstStyle/>
          <a:p>
            <a:pPr algn="l" indent="0" marL="0">
              <a:lnSpc>
                <a:spcPct val="118000"/>
              </a:lnSpc>
              <a:buNone/>
            </a:pPr>
            <a:r>
              <a:rPr lang="en-US" sz="2700" b="1" dirty="0">
                <a:solidFill>
                  <a:srgbClr val="FFFFFF"/>
                </a:solidFill>
                <a:latin typeface="Palatino Linotype" pitchFamily="34" charset="0"/>
                <a:ea typeface="Palatino Linotype" pitchFamily="34" charset="-122"/>
                <a:cs typeface="Palatino Linotype" pitchFamily="34" charset="-120"/>
              </a:rPr>
              <a:t>Electricity Maps</a:t>
            </a:r>
            <a:endParaRPr lang="en-US" sz="2700" dirty="0"/>
          </a:p>
        </p:txBody>
      </p:sp>
      <p:sp>
        <p:nvSpPr>
          <p:cNvPr id="10" name="Text 6"/>
          <p:cNvSpPr/>
          <p:nvPr/>
        </p:nvSpPr>
        <p:spPr>
          <a:xfrm>
            <a:off x="25292304" y="2578608"/>
            <a:ext cx="4297680" cy="411480"/>
          </a:xfrm>
          <a:prstGeom prst="rect">
            <a:avLst/>
          </a:prstGeom>
          <a:noFill/>
          <a:ln/>
        </p:spPr>
        <p:txBody>
          <a:bodyPr wrap="square" lIns="0" tIns="0" rIns="0" bIns="0" rtlCol="0" anchor="t"/>
          <a:lstStyle/>
          <a:p>
            <a:pPr algn="l" indent="0" marL="0">
              <a:lnSpc>
                <a:spcPct val="118000"/>
              </a:lnSpc>
              <a:buNone/>
            </a:pPr>
            <a:r>
              <a:rPr lang="en-US" sz="1600" dirty="0">
                <a:solidFill>
                  <a:srgbClr val="BFD3EA"/>
                </a:solidFill>
                <a:latin typeface="Palatino Linotype" pitchFamily="34" charset="0"/>
                <a:ea typeface="Palatino Linotype" pitchFamily="34" charset="-122"/>
                <a:cs typeface="Palatino Linotype" pitchFamily="34" charset="-120"/>
              </a:rPr>
              <a:t>Real-time grid carbon, 2021 to 2025</a:t>
            </a:r>
            <a:endParaRPr lang="en-US" sz="1600" dirty="0"/>
          </a:p>
        </p:txBody>
      </p:sp>
      <p:sp>
        <p:nvSpPr>
          <p:cNvPr id="11" name="Text 7"/>
          <p:cNvSpPr/>
          <p:nvPr/>
        </p:nvSpPr>
        <p:spPr>
          <a:xfrm>
            <a:off x="25292304" y="3035808"/>
            <a:ext cx="4297680" cy="411480"/>
          </a:xfrm>
          <a:prstGeom prst="rect">
            <a:avLst/>
          </a:prstGeom>
          <a:noFill/>
          <a:ln/>
        </p:spPr>
        <p:txBody>
          <a:bodyPr wrap="square" lIns="0" tIns="0" rIns="0" bIns="0" rtlCol="0" anchor="t"/>
          <a:lstStyle/>
          <a:p>
            <a:pPr algn="l" indent="0" marL="0">
              <a:lnSpc>
                <a:spcPct val="118000"/>
              </a:lnSpc>
              <a:buNone/>
            </a:pPr>
            <a:r>
              <a:rPr lang="en-US" sz="1550" dirty="0">
                <a:solidFill>
                  <a:srgbClr val="BFD3EA"/>
                </a:solidFill>
                <a:latin typeface="Palatino Linotype" pitchFamily="34" charset="0"/>
                <a:ea typeface="Palatino Linotype" pitchFamily="34" charset="-122"/>
                <a:cs typeface="Palatino Linotype" pitchFamily="34" charset="-120"/>
              </a:rPr>
              <a:t>Solved with </a:t>
            </a:r>
            <a:pPr algn="l" indent="0" marL="0">
              <a:lnSpc>
                <a:spcPct val="118000"/>
              </a:lnSpc>
              <a:buNone/>
            </a:pPr>
            <a:r>
              <a:rPr lang="en-US" sz="1550" b="1" dirty="0">
                <a:solidFill>
                  <a:srgbClr val="FFFFFF"/>
                </a:solidFill>
                <a:latin typeface="Palatino Linotype" pitchFamily="34" charset="0"/>
                <a:ea typeface="Palatino Linotype" pitchFamily="34" charset="-122"/>
                <a:cs typeface="Palatino Linotype" pitchFamily="34" charset="-120"/>
              </a:rPr>
              <a:t>CVXPY · CLARABEL · HiGHS</a:t>
            </a:r>
            <a:endParaRPr lang="en-US" sz="1550" dirty="0"/>
          </a:p>
        </p:txBody>
      </p:sp>
      <p:sp>
        <p:nvSpPr>
          <p:cNvPr id="12" name="Text 8"/>
          <p:cNvSpPr/>
          <p:nvPr/>
        </p:nvSpPr>
        <p:spPr>
          <a:xfrm>
            <a:off x="5532120" y="1024128"/>
            <a:ext cx="18891504" cy="384048"/>
          </a:xfrm>
          <a:prstGeom prst="rect">
            <a:avLst/>
          </a:prstGeom>
          <a:noFill/>
          <a:ln/>
        </p:spPr>
        <p:txBody>
          <a:bodyPr wrap="square" lIns="0" tIns="0" rIns="0" bIns="0" rtlCol="0" anchor="t"/>
          <a:lstStyle/>
          <a:p>
            <a:pPr algn="ctr" indent="0" marL="0">
              <a:lnSpc>
                <a:spcPct val="118000"/>
              </a:lnSpc>
              <a:buNone/>
            </a:pPr>
            <a:r>
              <a:rPr lang="en-US" sz="1650" b="1" spc="300" kern="0" dirty="0">
                <a:solidFill>
                  <a:srgbClr val="E8A33D"/>
                </a:solidFill>
                <a:latin typeface="Palatino Linotype" pitchFamily="34" charset="0"/>
                <a:ea typeface="Palatino Linotype" pitchFamily="34" charset="-122"/>
                <a:cs typeface="Palatino Linotype" pitchFamily="34" charset="-120"/>
              </a:rPr>
              <a:t>CARBON-AWARE DATA-CENTER SCHEDULING</a:t>
            </a:r>
            <a:endParaRPr lang="en-US" sz="1650" dirty="0"/>
          </a:p>
        </p:txBody>
      </p:sp>
      <p:sp>
        <p:nvSpPr>
          <p:cNvPr id="13" name="Text 9"/>
          <p:cNvSpPr/>
          <p:nvPr/>
        </p:nvSpPr>
        <p:spPr>
          <a:xfrm>
            <a:off x="5532120" y="1444752"/>
            <a:ext cx="18891504" cy="1828800"/>
          </a:xfrm>
          <a:prstGeom prst="rect">
            <a:avLst/>
          </a:prstGeom>
          <a:noFill/>
          <a:ln/>
        </p:spPr>
        <p:txBody>
          <a:bodyPr wrap="square" lIns="0" tIns="0" rIns="0" bIns="0" rtlCol="0" anchor="ctr"/>
          <a:lstStyle/>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The Price of Sophistication:</a:t>
            </a:r>
            <a:endParaRPr lang="en-US" sz="3500" dirty="0"/>
          </a:p>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A Pre-Committed Falsification Test for When Spatial and</a:t>
            </a:r>
            <a:endParaRPr lang="en-US" sz="3500" dirty="0"/>
          </a:p>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Robust Modelling Pay in Carbon-Aware Scheduling</a:t>
            </a:r>
            <a:endParaRPr lang="en-US" sz="3500" dirty="0"/>
          </a:p>
        </p:txBody>
      </p:sp>
      <p:sp>
        <p:nvSpPr>
          <p:cNvPr id="14" name="Text 10"/>
          <p:cNvSpPr/>
          <p:nvPr/>
        </p:nvSpPr>
        <p:spPr>
          <a:xfrm>
            <a:off x="5532120" y="3310128"/>
            <a:ext cx="18891504" cy="502920"/>
          </a:xfrm>
          <a:prstGeom prst="rect">
            <a:avLst/>
          </a:prstGeom>
          <a:noFill/>
          <a:ln/>
        </p:spPr>
        <p:txBody>
          <a:bodyPr wrap="square" lIns="0" tIns="0" rIns="0" bIns="0" rtlCol="0" anchor="t"/>
          <a:lstStyle/>
          <a:p>
            <a:pPr algn="ctr" indent="0" marL="0">
              <a:lnSpc>
                <a:spcPct val="118000"/>
              </a:lnSpc>
              <a:buNone/>
            </a:pPr>
            <a:r>
              <a:rPr lang="en-US" sz="2400" b="1" i="1" dirty="0">
                <a:solidFill>
                  <a:srgbClr val="E3EEFA"/>
                </a:solidFill>
                <a:latin typeface="Palatino Linotype" pitchFamily="34" charset="0"/>
                <a:ea typeface="Palatino Linotype" pitchFamily="34" charset="-122"/>
                <a:cs typeface="Palatino Linotype" pitchFamily="34" charset="-120"/>
              </a:rPr>
              <a:t>A day-ahead migration scheduler and a complexity-value decision rule</a:t>
            </a:r>
            <a:endParaRPr lang="en-US" sz="2400" dirty="0"/>
          </a:p>
        </p:txBody>
      </p:sp>
      <p:sp>
        <p:nvSpPr>
          <p:cNvPr id="15" name="Shape 11"/>
          <p:cNvSpPr/>
          <p:nvPr/>
        </p:nvSpPr>
        <p:spPr>
          <a:xfrm>
            <a:off x="13514832" y="3840480"/>
            <a:ext cx="2926080" cy="41148"/>
          </a:xfrm>
          <a:prstGeom prst="rect">
            <a:avLst/>
          </a:prstGeom>
          <a:solidFill>
            <a:srgbClr val="E8A33D"/>
          </a:solidFill>
          <a:ln/>
        </p:spPr>
      </p:sp>
      <p:sp>
        <p:nvSpPr>
          <p:cNvPr id="16" name="Text 12"/>
          <p:cNvSpPr/>
          <p:nvPr/>
        </p:nvSpPr>
        <p:spPr>
          <a:xfrm>
            <a:off x="5532120" y="3950208"/>
            <a:ext cx="18891504" cy="502920"/>
          </a:xfrm>
          <a:prstGeom prst="rect">
            <a:avLst/>
          </a:prstGeom>
          <a:noFill/>
          <a:ln/>
        </p:spPr>
        <p:txBody>
          <a:bodyPr wrap="square" lIns="0" tIns="0" rIns="0" bIns="0" rtlCol="0" anchor="t"/>
          <a:lstStyle/>
          <a:p>
            <a:pPr algn="ctr" indent="0" marL="0">
              <a:lnSpc>
                <a:spcPct val="118000"/>
              </a:lnSpc>
              <a:buNone/>
            </a:pPr>
            <a:r>
              <a:rPr lang="en-US" sz="2000" b="1" dirty="0">
                <a:solidFill>
                  <a:srgbClr val="FFFFFF"/>
                </a:solidFill>
                <a:latin typeface="Palatino Linotype" pitchFamily="34" charset="0"/>
                <a:ea typeface="Palatino Linotype" pitchFamily="34" charset="-122"/>
                <a:cs typeface="Palatino Linotype" pitchFamily="34" charset="-120"/>
              </a:rPr>
              <a:t>Marco Ortiz Togashi</a:t>
            </a:r>
            <a:pPr algn="ctr" indent="0" marL="0">
              <a:lnSpc>
                <a:spcPct val="118000"/>
              </a:lnSpc>
              <a:buNone/>
            </a:pPr>
            <a:r>
              <a:rPr lang="en-US" sz="2000" dirty="0">
                <a:solidFill>
                  <a:srgbClr val="FFFFFF"/>
                </a:solidFill>
                <a:latin typeface="Palatino Linotype" pitchFamily="34" charset="0"/>
                <a:ea typeface="Palatino Linotype" pitchFamily="34" charset="-122"/>
                <a:cs typeface="Palatino Linotype" pitchFamily="34" charset="-120"/>
              </a:rPr>
              <a:t>     |     Supervisor: Prof. Bissan Ghaddar     |     IE University, Master in Business Analytics &amp; Data Science</a:t>
            </a:r>
            <a:endParaRPr lang="en-US" sz="2000" dirty="0"/>
          </a:p>
        </p:txBody>
      </p:sp>
      <p:sp>
        <p:nvSpPr>
          <p:cNvPr id="17" name="Shape 13"/>
          <p:cNvSpPr/>
          <p:nvPr/>
        </p:nvSpPr>
        <p:spPr>
          <a:xfrm>
            <a:off x="640080" y="5029200"/>
            <a:ext cx="6494526" cy="1417320"/>
          </a:xfrm>
          <a:prstGeom prst="rect">
            <a:avLst/>
          </a:prstGeom>
          <a:solidFill>
            <a:srgbClr val="EEF3FB"/>
          </a:solidFill>
          <a:ln/>
        </p:spPr>
      </p:sp>
      <p:sp>
        <p:nvSpPr>
          <p:cNvPr id="18" name="Text 14"/>
          <p:cNvSpPr/>
          <p:nvPr/>
        </p:nvSpPr>
        <p:spPr>
          <a:xfrm>
            <a:off x="777240"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Day-ahead</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forecast</a:t>
            </a:r>
            <a:endParaRPr lang="en-US" sz="2100" dirty="0"/>
          </a:p>
        </p:txBody>
      </p:sp>
      <p:sp>
        <p:nvSpPr>
          <p:cNvPr id="19" name="Shape 15"/>
          <p:cNvSpPr/>
          <p:nvPr/>
        </p:nvSpPr>
        <p:spPr>
          <a:xfrm>
            <a:off x="7244334" y="5737860"/>
            <a:ext cx="786384" cy="0"/>
          </a:xfrm>
          <a:prstGeom prst="line">
            <a:avLst/>
          </a:prstGeom>
          <a:noFill/>
          <a:ln w="63500">
            <a:solidFill>
              <a:srgbClr val="0098E0"/>
            </a:solidFill>
            <a:prstDash val="solid"/>
            <a:tailEnd type="triangle"/>
          </a:ln>
        </p:spPr>
      </p:sp>
      <p:sp>
        <p:nvSpPr>
          <p:cNvPr id="20" name="Shape 16"/>
          <p:cNvSpPr/>
          <p:nvPr/>
        </p:nvSpPr>
        <p:spPr>
          <a:xfrm>
            <a:off x="8140446" y="5029200"/>
            <a:ext cx="6494526" cy="1417320"/>
          </a:xfrm>
          <a:prstGeom prst="rect">
            <a:avLst/>
          </a:prstGeom>
          <a:solidFill>
            <a:srgbClr val="EEF3FB"/>
          </a:solidFill>
          <a:ln/>
        </p:spPr>
      </p:sp>
      <p:sp>
        <p:nvSpPr>
          <p:cNvPr id="21" name="Text 17"/>
          <p:cNvSpPr/>
          <p:nvPr/>
        </p:nvSpPr>
        <p:spPr>
          <a:xfrm>
            <a:off x="8277606"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Migration</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scheduler</a:t>
            </a:r>
            <a:endParaRPr lang="en-US" sz="2100" dirty="0"/>
          </a:p>
        </p:txBody>
      </p:sp>
      <p:sp>
        <p:nvSpPr>
          <p:cNvPr id="22" name="Shape 18"/>
          <p:cNvSpPr/>
          <p:nvPr/>
        </p:nvSpPr>
        <p:spPr>
          <a:xfrm>
            <a:off x="14744700" y="5737860"/>
            <a:ext cx="786384" cy="0"/>
          </a:xfrm>
          <a:prstGeom prst="line">
            <a:avLst/>
          </a:prstGeom>
          <a:noFill/>
          <a:ln w="63500">
            <a:solidFill>
              <a:srgbClr val="0098E0"/>
            </a:solidFill>
            <a:prstDash val="solid"/>
            <a:tailEnd type="triangle"/>
          </a:ln>
        </p:spPr>
      </p:sp>
      <p:sp>
        <p:nvSpPr>
          <p:cNvPr id="23" name="Shape 19"/>
          <p:cNvSpPr/>
          <p:nvPr/>
        </p:nvSpPr>
        <p:spPr>
          <a:xfrm>
            <a:off x="15640812" y="5029200"/>
            <a:ext cx="6494526" cy="1417320"/>
          </a:xfrm>
          <a:prstGeom prst="rect">
            <a:avLst/>
          </a:prstGeom>
          <a:solidFill>
            <a:srgbClr val="EEF3FB"/>
          </a:solidFill>
          <a:ln/>
        </p:spPr>
      </p:sp>
      <p:sp>
        <p:nvSpPr>
          <p:cNvPr id="24" name="Text 20"/>
          <p:cNvSpPr/>
          <p:nvPr/>
        </p:nvSpPr>
        <p:spPr>
          <a:xfrm>
            <a:off x="15777972"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Price each</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modeling layer</a:t>
            </a:r>
            <a:endParaRPr lang="en-US" sz="2100" dirty="0"/>
          </a:p>
        </p:txBody>
      </p:sp>
      <p:sp>
        <p:nvSpPr>
          <p:cNvPr id="25" name="Shape 21"/>
          <p:cNvSpPr/>
          <p:nvPr/>
        </p:nvSpPr>
        <p:spPr>
          <a:xfrm>
            <a:off x="22245066" y="5737860"/>
            <a:ext cx="786384" cy="0"/>
          </a:xfrm>
          <a:prstGeom prst="line">
            <a:avLst/>
          </a:prstGeom>
          <a:noFill/>
          <a:ln w="63500">
            <a:solidFill>
              <a:srgbClr val="0098E0"/>
            </a:solidFill>
            <a:prstDash val="solid"/>
            <a:tailEnd type="triangle"/>
          </a:ln>
        </p:spPr>
      </p:sp>
      <p:sp>
        <p:nvSpPr>
          <p:cNvPr id="26" name="Shape 22"/>
          <p:cNvSpPr/>
          <p:nvPr/>
        </p:nvSpPr>
        <p:spPr>
          <a:xfrm>
            <a:off x="23141178" y="5029200"/>
            <a:ext cx="6494526" cy="1417320"/>
          </a:xfrm>
          <a:prstGeom prst="rect">
            <a:avLst/>
          </a:prstGeom>
          <a:solidFill>
            <a:srgbClr val="EEF3FB"/>
          </a:solidFill>
          <a:ln/>
        </p:spPr>
      </p:sp>
      <p:sp>
        <p:nvSpPr>
          <p:cNvPr id="27" name="Text 23"/>
          <p:cNvSpPr/>
          <p:nvPr/>
        </p:nvSpPr>
        <p:spPr>
          <a:xfrm>
            <a:off x="23278338"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Decision</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rule</a:t>
            </a:r>
            <a:endParaRPr lang="en-US" sz="2100" dirty="0"/>
          </a:p>
        </p:txBody>
      </p:sp>
      <p:sp>
        <p:nvSpPr>
          <p:cNvPr id="28" name="Text 24"/>
          <p:cNvSpPr/>
          <p:nvPr/>
        </p:nvSpPr>
        <p:spPr>
          <a:xfrm>
            <a:off x="640080" y="6903720"/>
            <a:ext cx="28995624" cy="640080"/>
          </a:xfrm>
          <a:prstGeom prst="rect">
            <a:avLst/>
          </a:prstGeom>
          <a:noFill/>
          <a:ln/>
        </p:spPr>
        <p:txBody>
          <a:bodyPr wrap="square" lIns="0" tIns="0" rIns="0" bIns="0" rtlCol="0" anchor="ctr"/>
          <a:lstStyle/>
          <a:p>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Active inter-region migration cuts worst-case emissions </a:t>
            </a:r>
            <a:pPr algn="ctr" indent="0" marL="0">
              <a:lnSpc>
                <a:spcPct val="118000"/>
              </a:lnSpc>
              <a:buNone/>
            </a:pPr>
            <a:r>
              <a:rPr lang="en-US" sz="2700" b="1" dirty="0">
                <a:solidFill>
                  <a:srgbClr val="8A5C16"/>
                </a:solidFill>
                <a:latin typeface="Palatino Linotype" pitchFamily="34" charset="0"/>
                <a:ea typeface="Palatino Linotype" pitchFamily="34" charset="-122"/>
                <a:cs typeface="Palatino Linotype" pitchFamily="34" charset="-120"/>
              </a:rPr>
              <a:t>4.0 to 9.9%</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 added </a:t>
            </a:r>
            <a:pPr algn="ctr" indent="0" marL="0">
              <a:lnSpc>
                <a:spcPct val="118000"/>
              </a:lnSpc>
              <a:buNone/>
            </a:pPr>
            <a:r>
              <a:rPr lang="en-US" sz="2700" b="1" dirty="0">
                <a:solidFill>
                  <a:srgbClr val="00338D"/>
                </a:solidFill>
                <a:latin typeface="Palatino Linotype" pitchFamily="34" charset="0"/>
                <a:ea typeface="Palatino Linotype" pitchFamily="34" charset="-122"/>
                <a:cs typeface="Palatino Linotype" pitchFamily="34" charset="-120"/>
              </a:rPr>
              <a:t>sophistication</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 (joint covariance, robustness) does not pay until a severity </a:t>
            </a:r>
            <a:pPr algn="ctr" indent="0" marL="0">
              <a:lnSpc>
                <a:spcPct val="118000"/>
              </a:lnSpc>
              <a:buNone/>
            </a:pPr>
            <a:r>
              <a:rPr lang="en-US" sz="2700" b="1" dirty="0">
                <a:solidFill>
                  <a:srgbClr val="00338D"/>
                </a:solidFill>
                <a:latin typeface="Palatino Linotype" pitchFamily="34" charset="0"/>
                <a:ea typeface="Palatino Linotype" pitchFamily="34" charset="-122"/>
                <a:cs typeface="Palatino Linotype" pitchFamily="34" charset="-120"/>
              </a:rPr>
              <a:t>real grids have not reached</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a:t>
            </a:r>
            <a:endParaRPr lang="en-US" sz="2700" dirty="0"/>
          </a:p>
        </p:txBody>
      </p:sp>
      <p:sp>
        <p:nvSpPr>
          <p:cNvPr id="29" name="Shape 25"/>
          <p:cNvSpPr/>
          <p:nvPr/>
        </p:nvSpPr>
        <p:spPr>
          <a:xfrm>
            <a:off x="640080"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30" name="Shape 26"/>
          <p:cNvSpPr/>
          <p:nvPr/>
        </p:nvSpPr>
        <p:spPr>
          <a:xfrm>
            <a:off x="640080" y="7680960"/>
            <a:ext cx="6974586" cy="118872"/>
          </a:xfrm>
          <a:prstGeom prst="rect">
            <a:avLst/>
          </a:prstGeom>
          <a:solidFill>
            <a:srgbClr val="0098E0"/>
          </a:solidFill>
          <a:ln/>
        </p:spPr>
      </p:sp>
      <p:sp>
        <p:nvSpPr>
          <p:cNvPr id="31" name="Text 27"/>
          <p:cNvSpPr/>
          <p:nvPr/>
        </p:nvSpPr>
        <p:spPr>
          <a:xfrm>
            <a:off x="822960"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SCREEN</a:t>
            </a:r>
            <a:endParaRPr lang="en-US" sz="1800" dirty="0"/>
          </a:p>
        </p:txBody>
      </p:sp>
      <p:sp>
        <p:nvSpPr>
          <p:cNvPr id="32" name="Shape 28"/>
          <p:cNvSpPr/>
          <p:nvPr/>
        </p:nvSpPr>
        <p:spPr>
          <a:xfrm>
            <a:off x="3560445" y="8531352"/>
            <a:ext cx="164592" cy="164592"/>
          </a:xfrm>
          <a:prstGeom prst="ellipse">
            <a:avLst/>
          </a:prstGeom>
          <a:solidFill>
            <a:srgbClr val="00338D"/>
          </a:solidFill>
          <a:ln/>
        </p:spPr>
      </p:sp>
      <p:sp>
        <p:nvSpPr>
          <p:cNvPr id="33" name="Shape 29"/>
          <p:cNvSpPr/>
          <p:nvPr/>
        </p:nvSpPr>
        <p:spPr>
          <a:xfrm>
            <a:off x="4529709" y="8531352"/>
            <a:ext cx="164592" cy="164592"/>
          </a:xfrm>
          <a:prstGeom prst="ellipse">
            <a:avLst/>
          </a:prstGeom>
          <a:solidFill>
            <a:srgbClr val="00338D"/>
          </a:solidFill>
          <a:ln/>
        </p:spPr>
      </p:sp>
      <p:sp>
        <p:nvSpPr>
          <p:cNvPr id="34" name="Shape 30"/>
          <p:cNvSpPr/>
          <p:nvPr/>
        </p:nvSpPr>
        <p:spPr>
          <a:xfrm>
            <a:off x="3725037" y="8613648"/>
            <a:ext cx="804672" cy="0"/>
          </a:xfrm>
          <a:prstGeom prst="line">
            <a:avLst/>
          </a:prstGeom>
          <a:noFill/>
          <a:ln w="44450">
            <a:solidFill>
              <a:srgbClr val="0098E0"/>
            </a:solidFill>
            <a:prstDash val="solid"/>
          </a:ln>
        </p:spPr>
      </p:sp>
      <p:sp>
        <p:nvSpPr>
          <p:cNvPr id="35" name="Text 31"/>
          <p:cNvSpPr/>
          <p:nvPr/>
        </p:nvSpPr>
        <p:spPr>
          <a:xfrm>
            <a:off x="731520"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~0%</a:t>
            </a:r>
            <a:endParaRPr lang="en-US" sz="6200" dirty="0"/>
          </a:p>
        </p:txBody>
      </p:sp>
      <p:sp>
        <p:nvSpPr>
          <p:cNvPr id="36" name="Shape 32"/>
          <p:cNvSpPr/>
          <p:nvPr/>
        </p:nvSpPr>
        <p:spPr>
          <a:xfrm>
            <a:off x="3624453" y="10296144"/>
            <a:ext cx="1005840" cy="41148"/>
          </a:xfrm>
          <a:prstGeom prst="rect">
            <a:avLst/>
          </a:prstGeom>
          <a:solidFill>
            <a:srgbClr val="C9D2E0"/>
          </a:solidFill>
          <a:ln/>
        </p:spPr>
      </p:sp>
      <p:sp>
        <p:nvSpPr>
          <p:cNvPr id="37" name="Text 33"/>
          <p:cNvSpPr/>
          <p:nvPr/>
        </p:nvSpPr>
        <p:spPr>
          <a:xfrm>
            <a:off x="868680"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value added by joint</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covariance and copulas</a:t>
            </a:r>
            <a:endParaRPr lang="en-US" sz="2000" dirty="0"/>
          </a:p>
        </p:txBody>
      </p:sp>
      <p:sp>
        <p:nvSpPr>
          <p:cNvPr id="38" name="Shape 34"/>
          <p:cNvSpPr/>
          <p:nvPr/>
        </p:nvSpPr>
        <p:spPr>
          <a:xfrm>
            <a:off x="7980426"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39" name="Shape 35"/>
          <p:cNvSpPr/>
          <p:nvPr/>
        </p:nvSpPr>
        <p:spPr>
          <a:xfrm>
            <a:off x="7980426" y="7680960"/>
            <a:ext cx="6974586" cy="118872"/>
          </a:xfrm>
          <a:prstGeom prst="rect">
            <a:avLst/>
          </a:prstGeom>
          <a:solidFill>
            <a:srgbClr val="0098E0"/>
          </a:solidFill>
          <a:ln/>
        </p:spPr>
      </p:sp>
      <p:sp>
        <p:nvSpPr>
          <p:cNvPr id="40" name="Text 36"/>
          <p:cNvSpPr/>
          <p:nvPr/>
        </p:nvSpPr>
        <p:spPr>
          <a:xfrm>
            <a:off x="8163306"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PRICE</a:t>
            </a:r>
            <a:endParaRPr lang="en-US" sz="1800" dirty="0"/>
          </a:p>
        </p:txBody>
      </p:sp>
      <p:sp>
        <p:nvSpPr>
          <p:cNvPr id="41" name="Shape 37"/>
          <p:cNvSpPr/>
          <p:nvPr/>
        </p:nvSpPr>
        <p:spPr>
          <a:xfrm>
            <a:off x="10919079" y="8613648"/>
            <a:ext cx="1097280" cy="0"/>
          </a:xfrm>
          <a:prstGeom prst="line">
            <a:avLst/>
          </a:prstGeom>
          <a:noFill/>
          <a:ln w="50800">
            <a:solidFill>
              <a:srgbClr val="0098E0"/>
            </a:solidFill>
            <a:prstDash val="solid"/>
          </a:ln>
        </p:spPr>
      </p:sp>
      <p:sp>
        <p:nvSpPr>
          <p:cNvPr id="42" name="Text 38"/>
          <p:cNvSpPr/>
          <p:nvPr/>
        </p:nvSpPr>
        <p:spPr>
          <a:xfrm>
            <a:off x="8071866"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M* = 3</a:t>
            </a:r>
            <a:endParaRPr lang="en-US" sz="6200" dirty="0"/>
          </a:p>
        </p:txBody>
      </p:sp>
      <p:sp>
        <p:nvSpPr>
          <p:cNvPr id="43" name="Shape 39"/>
          <p:cNvSpPr/>
          <p:nvPr/>
        </p:nvSpPr>
        <p:spPr>
          <a:xfrm>
            <a:off x="10964799" y="10296144"/>
            <a:ext cx="1005840" cy="41148"/>
          </a:xfrm>
          <a:prstGeom prst="rect">
            <a:avLst/>
          </a:prstGeom>
          <a:solidFill>
            <a:srgbClr val="C9D2E0"/>
          </a:solidFill>
          <a:ln/>
        </p:spPr>
      </p:sp>
      <p:sp>
        <p:nvSpPr>
          <p:cNvPr id="44" name="Text 40"/>
          <p:cNvSpPr/>
          <p:nvPr/>
        </p:nvSpPr>
        <p:spPr>
          <a:xfrm>
            <a:off x="8209026"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severity where robustness</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finally starts to pay</a:t>
            </a:r>
            <a:endParaRPr lang="en-US" sz="2000" dirty="0"/>
          </a:p>
        </p:txBody>
      </p:sp>
      <p:sp>
        <p:nvSpPr>
          <p:cNvPr id="45" name="Shape 41"/>
          <p:cNvSpPr/>
          <p:nvPr/>
        </p:nvSpPr>
        <p:spPr>
          <a:xfrm>
            <a:off x="15320772"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46" name="Shape 42"/>
          <p:cNvSpPr/>
          <p:nvPr/>
        </p:nvSpPr>
        <p:spPr>
          <a:xfrm>
            <a:off x="15320772" y="7680960"/>
            <a:ext cx="6974586" cy="118872"/>
          </a:xfrm>
          <a:prstGeom prst="rect">
            <a:avLst/>
          </a:prstGeom>
          <a:solidFill>
            <a:srgbClr val="0098E0"/>
          </a:solidFill>
          <a:ln/>
        </p:spPr>
      </p:sp>
      <p:sp>
        <p:nvSpPr>
          <p:cNvPr id="47" name="Text 43"/>
          <p:cNvSpPr/>
          <p:nvPr/>
        </p:nvSpPr>
        <p:spPr>
          <a:xfrm>
            <a:off x="15503652"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LIMIT</a:t>
            </a:r>
            <a:endParaRPr lang="en-US" sz="1800" dirty="0"/>
          </a:p>
        </p:txBody>
      </p:sp>
      <p:sp>
        <p:nvSpPr>
          <p:cNvPr id="48" name="Shape 44"/>
          <p:cNvSpPr/>
          <p:nvPr/>
        </p:nvSpPr>
        <p:spPr>
          <a:xfrm>
            <a:off x="18808065" y="8759952"/>
            <a:ext cx="0" cy="-310896"/>
          </a:xfrm>
          <a:prstGeom prst="line">
            <a:avLst/>
          </a:prstGeom>
          <a:noFill/>
          <a:ln w="57150">
            <a:solidFill>
              <a:srgbClr val="0098E0"/>
            </a:solidFill>
            <a:prstDash val="solid"/>
            <a:tailEnd type="triangle"/>
          </a:ln>
        </p:spPr>
      </p:sp>
      <p:sp>
        <p:nvSpPr>
          <p:cNvPr id="49" name="Text 45"/>
          <p:cNvSpPr/>
          <p:nvPr/>
        </p:nvSpPr>
        <p:spPr>
          <a:xfrm>
            <a:off x="15412212"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0 / 17</a:t>
            </a:r>
            <a:endParaRPr lang="en-US" sz="6200" dirty="0"/>
          </a:p>
        </p:txBody>
      </p:sp>
      <p:sp>
        <p:nvSpPr>
          <p:cNvPr id="50" name="Shape 46"/>
          <p:cNvSpPr/>
          <p:nvPr/>
        </p:nvSpPr>
        <p:spPr>
          <a:xfrm>
            <a:off x="18305145" y="10296144"/>
            <a:ext cx="1005840" cy="41148"/>
          </a:xfrm>
          <a:prstGeom prst="rect">
            <a:avLst/>
          </a:prstGeom>
          <a:solidFill>
            <a:srgbClr val="C9D2E0"/>
          </a:solidFill>
          <a:ln/>
        </p:spPr>
      </p:sp>
      <p:sp>
        <p:nvSpPr>
          <p:cNvPr id="51" name="Text 47"/>
          <p:cNvSpPr/>
          <p:nvPr/>
        </p:nvSpPr>
        <p:spPr>
          <a:xfrm>
            <a:off x="15549372"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real grids that reach the</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robustness threshold</a:t>
            </a:r>
            <a:endParaRPr lang="en-US" sz="2000" dirty="0"/>
          </a:p>
        </p:txBody>
      </p:sp>
      <p:sp>
        <p:nvSpPr>
          <p:cNvPr id="52" name="Shape 48"/>
          <p:cNvSpPr/>
          <p:nvPr/>
        </p:nvSpPr>
        <p:spPr>
          <a:xfrm>
            <a:off x="22661118" y="7680960"/>
            <a:ext cx="6974586" cy="4023360"/>
          </a:xfrm>
          <a:prstGeom prst="rect">
            <a:avLst/>
          </a:prstGeom>
          <a:solidFill>
            <a:srgbClr val="FAF1DF"/>
          </a:solidFill>
          <a:ln/>
          <a:effectLst>
            <a:outerShdw sx="100000" sy="100000" kx="0" ky="0" algn="bl" rotWithShape="0" blurRad="88900" dist="25400" dir="8100000">
              <a:srgbClr val="AEB7C6">
                <a:alpha val="22000"/>
              </a:srgbClr>
            </a:outerShdw>
          </a:effectLst>
        </p:spPr>
      </p:sp>
      <p:sp>
        <p:nvSpPr>
          <p:cNvPr id="53" name="Shape 49"/>
          <p:cNvSpPr/>
          <p:nvPr/>
        </p:nvSpPr>
        <p:spPr>
          <a:xfrm>
            <a:off x="22661118" y="7680960"/>
            <a:ext cx="6974586" cy="201168"/>
          </a:xfrm>
          <a:prstGeom prst="rect">
            <a:avLst/>
          </a:prstGeom>
          <a:solidFill>
            <a:srgbClr val="E8A33D"/>
          </a:solidFill>
          <a:ln/>
        </p:spPr>
      </p:sp>
      <p:sp>
        <p:nvSpPr>
          <p:cNvPr id="54" name="Text 50"/>
          <p:cNvSpPr/>
          <p:nvPr/>
        </p:nvSpPr>
        <p:spPr>
          <a:xfrm>
            <a:off x="22843998"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8A5C16"/>
                </a:solidFill>
                <a:latin typeface="Palatino Linotype" pitchFamily="34" charset="0"/>
                <a:ea typeface="Palatino Linotype" pitchFamily="34" charset="-122"/>
                <a:cs typeface="Palatino Linotype" pitchFamily="34" charset="-120"/>
              </a:rPr>
              <a:t>THE LEVER</a:t>
            </a:r>
            <a:endParaRPr lang="en-US" sz="1800" dirty="0"/>
          </a:p>
        </p:txBody>
      </p:sp>
      <p:sp>
        <p:nvSpPr>
          <p:cNvPr id="55" name="Shape 51"/>
          <p:cNvSpPr/>
          <p:nvPr/>
        </p:nvSpPr>
        <p:spPr>
          <a:xfrm>
            <a:off x="25599771" y="8613648"/>
            <a:ext cx="1097280" cy="0"/>
          </a:xfrm>
          <a:prstGeom prst="line">
            <a:avLst/>
          </a:prstGeom>
          <a:noFill/>
          <a:ln w="57150">
            <a:solidFill>
              <a:srgbClr val="8A5C16"/>
            </a:solidFill>
            <a:prstDash val="solid"/>
            <a:tailEnd type="triangle"/>
          </a:ln>
        </p:spPr>
      </p:sp>
      <p:sp>
        <p:nvSpPr>
          <p:cNvPr id="56" name="Text 52"/>
          <p:cNvSpPr/>
          <p:nvPr/>
        </p:nvSpPr>
        <p:spPr>
          <a:xfrm>
            <a:off x="22752558" y="8759952"/>
            <a:ext cx="6791706" cy="1554480"/>
          </a:xfrm>
          <a:prstGeom prst="rect">
            <a:avLst/>
          </a:prstGeom>
          <a:noFill/>
          <a:ln/>
        </p:spPr>
        <p:txBody>
          <a:bodyPr wrap="square" lIns="0" tIns="0" rIns="0" bIns="0" rtlCol="0" anchor="ctr"/>
          <a:lstStyle/>
          <a:p>
            <a:pPr algn="ctr" indent="0" marL="0">
              <a:lnSpc>
                <a:spcPct val="118000"/>
              </a:lnSpc>
              <a:buNone/>
            </a:pPr>
            <a:r>
              <a:rPr lang="en-US" sz="7200" b="1" dirty="0">
                <a:solidFill>
                  <a:srgbClr val="8A5C16"/>
                </a:solidFill>
                <a:latin typeface="Palatino Linotype" pitchFamily="34" charset="0"/>
                <a:ea typeface="Palatino Linotype" pitchFamily="34" charset="-122"/>
                <a:cs typeface="Palatino Linotype" pitchFamily="34" charset="-120"/>
              </a:rPr>
              <a:t>4-10%</a:t>
            </a:r>
            <a:endParaRPr lang="en-US" sz="7200" dirty="0"/>
          </a:p>
        </p:txBody>
      </p:sp>
      <p:sp>
        <p:nvSpPr>
          <p:cNvPr id="57" name="Shape 53"/>
          <p:cNvSpPr/>
          <p:nvPr/>
        </p:nvSpPr>
        <p:spPr>
          <a:xfrm>
            <a:off x="25645491" y="10296144"/>
            <a:ext cx="1005840" cy="41148"/>
          </a:xfrm>
          <a:prstGeom prst="rect">
            <a:avLst/>
          </a:prstGeom>
          <a:solidFill>
            <a:srgbClr val="E8A33D"/>
          </a:solidFill>
          <a:ln/>
        </p:spPr>
      </p:sp>
      <p:sp>
        <p:nvSpPr>
          <p:cNvPr id="58" name="Text 54"/>
          <p:cNvSpPr/>
          <p:nvPr/>
        </p:nvSpPr>
        <p:spPr>
          <a:xfrm>
            <a:off x="22889718" y="10442448"/>
            <a:ext cx="6517386" cy="1097280"/>
          </a:xfrm>
          <a:prstGeom prst="rect">
            <a:avLst/>
          </a:prstGeom>
          <a:noFill/>
          <a:ln/>
        </p:spPr>
        <p:txBody>
          <a:bodyPr wrap="square" lIns="0" tIns="0" rIns="0" bIns="0" rtlCol="0" anchor="t"/>
          <a:lstStyle/>
          <a:p>
            <a:pPr algn="ctr" indent="0" marL="0">
              <a:lnSpc>
                <a:spcPct val="105000"/>
              </a:lnSpc>
              <a:buNone/>
            </a:pPr>
            <a:r>
              <a:rPr lang="en-US" sz="2000" b="1" dirty="0">
                <a:solidFill>
                  <a:srgbClr val="8A5C16"/>
                </a:solidFill>
                <a:latin typeface="Palatino Linotype" pitchFamily="34" charset="0"/>
                <a:ea typeface="Palatino Linotype" pitchFamily="34" charset="-122"/>
                <a:cs typeface="Palatino Linotype" pitchFamily="34" charset="-120"/>
              </a:rPr>
              <a:t>worst-case (CVaR) emissions cut</a:t>
            </a:r>
            <a:endParaRPr lang="en-US" sz="2000" dirty="0"/>
          </a:p>
          <a:p>
            <a:pPr algn="ctr" indent="0" marL="0">
              <a:lnSpc>
                <a:spcPct val="105000"/>
              </a:lnSpc>
              <a:buNone/>
            </a:pPr>
            <a:r>
              <a:rPr lang="en-US" sz="2000" b="1" dirty="0">
                <a:solidFill>
                  <a:srgbClr val="8A5C16"/>
                </a:solidFill>
                <a:latin typeface="Palatino Linotype" pitchFamily="34" charset="0"/>
                <a:ea typeface="Palatino Linotype" pitchFamily="34" charset="-122"/>
                <a:cs typeface="Palatino Linotype" pitchFamily="34" charset="-120"/>
              </a:rPr>
              <a:t>by active inter-region migration</a:t>
            </a:r>
            <a:endParaRPr lang="en-US" sz="2000" dirty="0"/>
          </a:p>
        </p:txBody>
      </p:sp>
      <p:sp>
        <p:nvSpPr>
          <p:cNvPr id="59" name="Text 55"/>
          <p:cNvSpPr/>
          <p:nvPr/>
        </p:nvSpPr>
        <p:spPr>
          <a:xfrm>
            <a:off x="640080" y="12252960"/>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BACKGROUND</a:t>
            </a:r>
            <a:endParaRPr lang="en-US" sz="1900" dirty="0"/>
          </a:p>
        </p:txBody>
      </p:sp>
      <p:sp>
        <p:nvSpPr>
          <p:cNvPr id="60" name="Shape 56"/>
          <p:cNvSpPr/>
          <p:nvPr/>
        </p:nvSpPr>
        <p:spPr>
          <a:xfrm>
            <a:off x="640080" y="12710160"/>
            <a:ext cx="6949440" cy="41148"/>
          </a:xfrm>
          <a:prstGeom prst="rect">
            <a:avLst/>
          </a:prstGeom>
          <a:solidFill>
            <a:srgbClr val="E8A33D"/>
          </a:solidFill>
          <a:ln/>
        </p:spPr>
      </p:sp>
      <p:sp>
        <p:nvSpPr>
          <p:cNvPr id="61" name="Text 57"/>
          <p:cNvSpPr/>
          <p:nvPr/>
        </p:nvSpPr>
        <p:spPr>
          <a:xfrm>
            <a:off x="640080" y="12838176"/>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The promise</a:t>
            </a:r>
            <a:endParaRPr lang="en-US" sz="2200" dirty="0"/>
          </a:p>
        </p:txBody>
      </p:sp>
      <p:sp>
        <p:nvSpPr>
          <p:cNvPr id="62" name="Text 58"/>
          <p:cNvSpPr/>
          <p:nvPr/>
        </p:nvSpPr>
        <p:spPr>
          <a:xfrm>
            <a:off x="640080" y="13551408"/>
            <a:ext cx="6949440" cy="2286000"/>
          </a:xfrm>
          <a:prstGeom prst="rect">
            <a:avLst/>
          </a:prstGeom>
          <a:noFill/>
          <a:ln/>
        </p:spPr>
        <p:txBody>
          <a:bodyPr wrap="square" lIns="0" tIns="0" rIns="0" bIns="0" rtlCol="0" anchor="t"/>
          <a:lstStyle/>
          <a:p>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Modern compute is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flexible</a:t>
            </a:r>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 training and batch jobs shift in time and across data-center sites, so deferring work to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cleaner hours and regions</a:t>
            </a:r>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 lowers operational carbon. Across 2021 to 2025 neighbouring grids move strongly together, so spatial structure looks like free signal a robust scheduler could turn into savings.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Question: can measured cross-region correlation actually lower out-of-sample carbon?</a:t>
            </a:r>
            <a:endParaRPr lang="en-US" sz="1800" dirty="0"/>
          </a:p>
        </p:txBody>
      </p:sp>
      <p:sp>
        <p:nvSpPr>
          <p:cNvPr id="63" name="Text 59"/>
          <p:cNvSpPr/>
          <p:nvPr/>
        </p:nvSpPr>
        <p:spPr>
          <a:xfrm>
            <a:off x="640080" y="15883128"/>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DATA &amp; SETUP</a:t>
            </a:r>
            <a:endParaRPr lang="en-US" sz="1900" dirty="0"/>
          </a:p>
        </p:txBody>
      </p:sp>
      <p:sp>
        <p:nvSpPr>
          <p:cNvPr id="64" name="Shape 60"/>
          <p:cNvSpPr/>
          <p:nvPr/>
        </p:nvSpPr>
        <p:spPr>
          <a:xfrm>
            <a:off x="640080" y="16340328"/>
            <a:ext cx="6949440" cy="41148"/>
          </a:xfrm>
          <a:prstGeom prst="rect">
            <a:avLst/>
          </a:prstGeom>
          <a:solidFill>
            <a:srgbClr val="E8A33D"/>
          </a:solidFill>
          <a:ln/>
        </p:spPr>
      </p:sp>
      <p:sp>
        <p:nvSpPr>
          <p:cNvPr id="65" name="Text 61"/>
          <p:cNvSpPr/>
          <p:nvPr/>
        </p:nvSpPr>
        <p:spPr>
          <a:xfrm>
            <a:off x="640080" y="16468344"/>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What goes in</a:t>
            </a:r>
            <a:endParaRPr lang="en-US" sz="2200" dirty="0"/>
          </a:p>
        </p:txBody>
      </p:sp>
      <p:sp>
        <p:nvSpPr>
          <p:cNvPr id="66" name="Text 62"/>
          <p:cNvSpPr/>
          <p:nvPr/>
        </p:nvSpPr>
        <p:spPr>
          <a:xfrm>
            <a:off x="640080" y="17181576"/>
            <a:ext cx="6949440" cy="2377440"/>
          </a:xfrm>
          <a:prstGeom prst="rect">
            <a:avLst/>
          </a:prstGeom>
          <a:noFill/>
          <a:ln/>
        </p:spPr>
        <p:txBody>
          <a:bodyPr wrap="square" lIns="0" tIns="0" rIns="0" bIns="0" rtlCol="0" anchor="t"/>
          <a:lstStyle/>
          <a:p>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Electricity Maps</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hourly carbon intensity, 2021 to 2025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43,824 obs/zone</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train 2021 to 2024, single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locked 2025 test</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Three US and Canadian grids spanning weak to strong residual correlation (up to 0.78). Facility: R zones × 24 h, 50 MW cap,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80% utilization</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15 MW/h ramp, deferral window 0 to 7 h, inflexible fraction 30 to 75%.</a:t>
            </a:r>
            <a:endParaRPr lang="en-US" sz="1700" dirty="0"/>
          </a:p>
        </p:txBody>
      </p:sp>
      <p:sp>
        <p:nvSpPr>
          <p:cNvPr id="67" name="Text 63"/>
          <p:cNvSpPr/>
          <p:nvPr/>
        </p:nvSpPr>
        <p:spPr>
          <a:xfrm>
            <a:off x="640080" y="19604736"/>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METHOD</a:t>
            </a:r>
            <a:endParaRPr lang="en-US" sz="1900" dirty="0"/>
          </a:p>
        </p:txBody>
      </p:sp>
      <p:sp>
        <p:nvSpPr>
          <p:cNvPr id="68" name="Shape 64"/>
          <p:cNvSpPr/>
          <p:nvPr/>
        </p:nvSpPr>
        <p:spPr>
          <a:xfrm>
            <a:off x="640080" y="20061936"/>
            <a:ext cx="6949440" cy="41148"/>
          </a:xfrm>
          <a:prstGeom prst="rect">
            <a:avLst/>
          </a:prstGeom>
          <a:solidFill>
            <a:srgbClr val="E8A33D"/>
          </a:solidFill>
          <a:ln/>
        </p:spPr>
      </p:sp>
      <p:sp>
        <p:nvSpPr>
          <p:cNvPr id="69" name="Text 65"/>
          <p:cNvSpPr/>
          <p:nvPr/>
        </p:nvSpPr>
        <p:spPr>
          <a:xfrm>
            <a:off x="640080" y="20189952"/>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How it is built</a:t>
            </a:r>
            <a:endParaRPr lang="en-US" sz="2200" dirty="0"/>
          </a:p>
        </p:txBody>
      </p:sp>
      <p:sp>
        <p:nvSpPr>
          <p:cNvPr id="70" name="Text 66"/>
          <p:cNvSpPr/>
          <p:nvPr/>
        </p:nvSpPr>
        <p:spPr>
          <a:xfrm>
            <a:off x="640080" y="20903184"/>
            <a:ext cx="6949440" cy="1371600"/>
          </a:xfrm>
          <a:prstGeom prst="rect">
            <a:avLst/>
          </a:prstGeom>
          <a:noFill/>
          <a:ln/>
        </p:spPr>
        <p:txBody>
          <a:bodyPr wrap="square" lIns="0" tIns="0" rIns="0" bIns="0" rtlCol="0" anchor="t"/>
          <a:lstStyle/>
          <a:p>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A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Mahalanobis Wasserstein DRO</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a second-order cone program in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CVXPY (Clarabel/HiGHS)</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minimizing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CVaR</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of carbon cost (</a:t>
            </a:r>
            <a:pPr algn="l" indent="0" marL="0">
              <a:lnSpc>
                <a:spcPct val="116000"/>
              </a:lnSpc>
              <a:buNone/>
            </a:pPr>
            <a:r>
              <a:rPr lang="en-US" sz="1700" i="1" dirty="0">
                <a:solidFill>
                  <a:srgbClr val="0098E0"/>
                </a:solidFill>
                <a:latin typeface="Palatino Linotype" pitchFamily="34" charset="0"/>
                <a:ea typeface="Palatino Linotype" pitchFamily="34" charset="-122"/>
                <a:cs typeface="Palatino Linotype" pitchFamily="34" charset="-120"/>
              </a:rPr>
              <a:t>Rockafellar and Uryasev 2000</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a:t>
            </a:r>
            <a:endParaRPr lang="en-US" sz="1700" dirty="0"/>
          </a:p>
        </p:txBody>
      </p:sp>
      <p:pic>
        <p:nvPicPr>
          <p:cNvPr id="71" name="Image 2" descr="figs/dro_equation.png">    </p:cNvPr>
          <p:cNvPicPr>
            <a:picLocks noChangeAspect="1"/>
          </p:cNvPicPr>
          <p:nvPr/>
        </p:nvPicPr>
        <p:blipFill>
          <a:blip r:embed="rId3"/>
          <a:srcRect l="0" r="0" t="0" b="0"/>
          <a:stretch/>
        </p:blipFill>
        <p:spPr>
          <a:xfrm>
            <a:off x="685800" y="22320504"/>
            <a:ext cx="6858000" cy="2433793"/>
          </a:xfrm>
          <a:prstGeom prst="rect">
            <a:avLst/>
          </a:prstGeom>
        </p:spPr>
      </p:pic>
      <p:sp>
        <p:nvSpPr>
          <p:cNvPr id="72" name="Text 67"/>
          <p:cNvSpPr/>
          <p:nvPr/>
        </p:nvSpPr>
        <p:spPr>
          <a:xfrm>
            <a:off x="640080" y="24909745"/>
            <a:ext cx="6949440" cy="1691640"/>
          </a:xfrm>
          <a:prstGeom prst="rect">
            <a:avLst/>
          </a:prstGeom>
          <a:noFill/>
          <a:ln/>
        </p:spPr>
        <p:txBody>
          <a:bodyPr wrap="square" lIns="0" tIns="0" rIns="0" bIns="0" rtlCol="0" anchor="t"/>
          <a:lstStyle/>
          <a:p>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Cross-region value enters </a:t>
            </a:r>
            <a:pPr algn="l" indent="0" marL="0">
              <a:lnSpc>
                <a:spcPct val="115000"/>
              </a:lnSpc>
              <a:buNone/>
            </a:pPr>
            <a:r>
              <a:rPr lang="en-US" sz="1700" b="1" dirty="0">
                <a:solidFill>
                  <a:srgbClr val="00338D"/>
                </a:solidFill>
                <a:latin typeface="Palatino Linotype" pitchFamily="34" charset="0"/>
                <a:ea typeface="Palatino Linotype" pitchFamily="34" charset="-122"/>
                <a:cs typeface="Palatino Linotype" pitchFamily="34" charset="-120"/>
              </a:rPr>
              <a:t>only through the off-diagonal blocks of Σ</a:t>
            </a:r>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 the pre-committed </a:t>
            </a:r>
            <a:pPr algn="l" indent="0" marL="0">
              <a:lnSpc>
                <a:spcPct val="115000"/>
              </a:lnSpc>
              <a:buNone/>
            </a:pPr>
            <a:r>
              <a:rPr lang="en-US" sz="1700" b="1" dirty="0">
                <a:solidFill>
                  <a:srgbClr val="00338D"/>
                </a:solidFill>
                <a:latin typeface="Palatino Linotype" pitchFamily="34" charset="0"/>
                <a:ea typeface="Palatino Linotype" pitchFamily="34" charset="-122"/>
                <a:cs typeface="Palatino Linotype" pitchFamily="34" charset="-120"/>
              </a:rPr>
              <a:t>shuffled-marginals test</a:t>
            </a:r>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 zeroes exactly those blocks. We add copula and tail checks, mean-leveling tests, and walk-forward validation to 2025.</a:t>
            </a:r>
            <a:endParaRPr lang="en-US" sz="1700" dirty="0"/>
          </a:p>
        </p:txBody>
      </p:sp>
      <p:sp>
        <p:nvSpPr>
          <p:cNvPr id="73" name="Text 68"/>
          <p:cNvSpPr/>
          <p:nvPr/>
        </p:nvSpPr>
        <p:spPr>
          <a:xfrm>
            <a:off x="640080" y="26647105"/>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RIGOR</a:t>
            </a:r>
            <a:endParaRPr lang="en-US" sz="1900" dirty="0"/>
          </a:p>
        </p:txBody>
      </p:sp>
      <p:sp>
        <p:nvSpPr>
          <p:cNvPr id="74" name="Shape 69"/>
          <p:cNvSpPr/>
          <p:nvPr/>
        </p:nvSpPr>
        <p:spPr>
          <a:xfrm>
            <a:off x="640080" y="27104305"/>
            <a:ext cx="6949440" cy="41148"/>
          </a:xfrm>
          <a:prstGeom prst="rect">
            <a:avLst/>
          </a:prstGeom>
          <a:solidFill>
            <a:srgbClr val="E8A33D"/>
          </a:solidFill>
          <a:ln/>
        </p:spPr>
      </p:sp>
      <p:sp>
        <p:nvSpPr>
          <p:cNvPr id="75" name="Text 70"/>
          <p:cNvSpPr/>
          <p:nvPr/>
        </p:nvSpPr>
        <p:spPr>
          <a:xfrm>
            <a:off x="640080" y="27232321"/>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Why you can trust a null</a:t>
            </a:r>
            <a:endParaRPr lang="en-US" sz="2200" dirty="0"/>
          </a:p>
        </p:txBody>
      </p:sp>
      <p:sp>
        <p:nvSpPr>
          <p:cNvPr id="76" name="Text 71"/>
          <p:cNvSpPr/>
          <p:nvPr/>
        </p:nvSpPr>
        <p:spPr>
          <a:xfrm>
            <a:off x="658368" y="27945553"/>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202</a:t>
            </a:r>
            <a:endParaRPr lang="en-US" sz="3300" dirty="0"/>
          </a:p>
        </p:txBody>
      </p:sp>
      <p:sp>
        <p:nvSpPr>
          <p:cNvPr id="77" name="Text 72"/>
          <p:cNvSpPr/>
          <p:nvPr/>
        </p:nvSpPr>
        <p:spPr>
          <a:xfrm>
            <a:off x="2148840" y="27945553"/>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unit tests, CI on every push</a:t>
            </a:r>
            <a:endParaRPr lang="en-US" sz="1600" dirty="0"/>
          </a:p>
        </p:txBody>
      </p:sp>
      <p:sp>
        <p:nvSpPr>
          <p:cNvPr id="78" name="Shape 73"/>
          <p:cNvSpPr/>
          <p:nvPr/>
        </p:nvSpPr>
        <p:spPr>
          <a:xfrm>
            <a:off x="640080" y="28658785"/>
            <a:ext cx="6949440" cy="10973"/>
          </a:xfrm>
          <a:prstGeom prst="rect">
            <a:avLst/>
          </a:prstGeom>
          <a:solidFill>
            <a:srgbClr val="C9D2E0"/>
          </a:solidFill>
          <a:ln/>
        </p:spPr>
      </p:sp>
      <p:sp>
        <p:nvSpPr>
          <p:cNvPr id="79" name="Text 74"/>
          <p:cNvSpPr/>
          <p:nvPr/>
        </p:nvSpPr>
        <p:spPr>
          <a:xfrm>
            <a:off x="658368" y="28695361"/>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27</a:t>
            </a:r>
            <a:endParaRPr lang="en-US" sz="3300" dirty="0"/>
          </a:p>
        </p:txBody>
      </p:sp>
      <p:sp>
        <p:nvSpPr>
          <p:cNvPr id="80" name="Text 75"/>
          <p:cNvSpPr/>
          <p:nvPr/>
        </p:nvSpPr>
        <p:spPr>
          <a:xfrm>
            <a:off x="2148840" y="28695361"/>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cells where TOST confirms a null effect</a:t>
            </a:r>
            <a:endParaRPr lang="en-US" sz="1600" dirty="0"/>
          </a:p>
        </p:txBody>
      </p:sp>
      <p:sp>
        <p:nvSpPr>
          <p:cNvPr id="81" name="Shape 76"/>
          <p:cNvSpPr/>
          <p:nvPr/>
        </p:nvSpPr>
        <p:spPr>
          <a:xfrm>
            <a:off x="640080" y="29408593"/>
            <a:ext cx="6949440" cy="10973"/>
          </a:xfrm>
          <a:prstGeom prst="rect">
            <a:avLst/>
          </a:prstGeom>
          <a:solidFill>
            <a:srgbClr val="C9D2E0"/>
          </a:solidFill>
          <a:ln/>
        </p:spPr>
      </p:sp>
      <p:sp>
        <p:nvSpPr>
          <p:cNvPr id="82" name="Text 77"/>
          <p:cNvSpPr/>
          <p:nvPr/>
        </p:nvSpPr>
        <p:spPr>
          <a:xfrm>
            <a:off x="658368" y="29445169"/>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1</a:t>
            </a:r>
            <a:endParaRPr lang="en-US" sz="3300" dirty="0"/>
          </a:p>
        </p:txBody>
      </p:sp>
      <p:sp>
        <p:nvSpPr>
          <p:cNvPr id="83" name="Text 78"/>
          <p:cNvSpPr/>
          <p:nvPr/>
        </p:nvSpPr>
        <p:spPr>
          <a:xfrm>
            <a:off x="2148840" y="29445169"/>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mean-dominance theorem bounding the gap</a:t>
            </a:r>
            <a:endParaRPr lang="en-US" sz="1600" dirty="0"/>
          </a:p>
        </p:txBody>
      </p:sp>
      <p:sp>
        <p:nvSpPr>
          <p:cNvPr id="84" name="Text 79"/>
          <p:cNvSpPr/>
          <p:nvPr/>
        </p:nvSpPr>
        <p:spPr>
          <a:xfrm>
            <a:off x="8092440"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01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PREMISE</a:t>
            </a:r>
            <a:endParaRPr lang="en-US" sz="2200" dirty="0"/>
          </a:p>
        </p:txBody>
      </p:sp>
      <p:sp>
        <p:nvSpPr>
          <p:cNvPr id="85" name="Text 80"/>
          <p:cNvSpPr/>
          <p:nvPr/>
        </p:nvSpPr>
        <p:spPr>
          <a:xfrm>
            <a:off x="8092440"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The spatial signal is real, but does it pay?</a:t>
            </a:r>
            <a:endParaRPr lang="en-US" sz="3300" dirty="0"/>
          </a:p>
        </p:txBody>
      </p:sp>
      <p:sp>
        <p:nvSpPr>
          <p:cNvPr id="86" name="Shape 81"/>
          <p:cNvSpPr/>
          <p:nvPr/>
        </p:nvSpPr>
        <p:spPr>
          <a:xfrm>
            <a:off x="8092440" y="14538960"/>
            <a:ext cx="6845808" cy="41148"/>
          </a:xfrm>
          <a:prstGeom prst="rect">
            <a:avLst/>
          </a:prstGeom>
          <a:solidFill>
            <a:srgbClr val="E8A33D"/>
          </a:solidFill>
          <a:ln/>
        </p:spPr>
      </p:sp>
      <p:sp>
        <p:nvSpPr>
          <p:cNvPr id="87" name="Text 82"/>
          <p:cNvSpPr/>
          <p:nvPr/>
        </p:nvSpPr>
        <p:spPr>
          <a:xfrm>
            <a:off x="8092440"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Across 2021 to 2025, de-seasonalized carbon intensity in neighbouring zones moves together. Residual cross-region correlation reaches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0.78</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 in the Western US and 0.73 in the Eastern interconnection. If spatial structure can ever sharpen a robust schedule, this is the regime where it should.</a:t>
            </a:r>
            <a:endParaRPr lang="en-US" sz="1900" dirty="0"/>
          </a:p>
        </p:txBody>
      </p:sp>
      <p:pic>
        <p:nvPicPr>
          <p:cNvPr id="88" name="Image 3" descr="figs/us_regions_map.png">    </p:cNvPr>
          <p:cNvPicPr>
            <a:picLocks noChangeAspect="1"/>
          </p:cNvPicPr>
          <p:nvPr/>
        </p:nvPicPr>
        <p:blipFill>
          <a:blip r:embed="rId4"/>
          <a:srcRect l="0" r="0" t="0" b="0"/>
          <a:stretch/>
        </p:blipFill>
        <p:spPr>
          <a:xfrm>
            <a:off x="8138160" y="17007840"/>
            <a:ext cx="6754368" cy="4070145"/>
          </a:xfrm>
          <a:prstGeom prst="rect">
            <a:avLst/>
          </a:prstGeom>
        </p:spPr>
      </p:pic>
      <p:sp>
        <p:nvSpPr>
          <p:cNvPr id="89" name="Text 83"/>
          <p:cNvSpPr/>
          <p:nvPr/>
        </p:nvSpPr>
        <p:spPr>
          <a:xfrm>
            <a:off x="8092440" y="21196857"/>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Three grids span the US and Canada; the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Western US zones form a tightly correlated graph</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(up to 0.78).</a:t>
            </a:r>
            <a:endParaRPr lang="en-US" sz="1650" dirty="0"/>
          </a:p>
        </p:txBody>
      </p:sp>
      <p:pic>
        <p:nvPicPr>
          <p:cNvPr id="90" name="Image 4" descr="figs/value_vs_corr.png">    </p:cNvPr>
          <p:cNvPicPr>
            <a:picLocks noChangeAspect="1"/>
          </p:cNvPicPr>
          <p:nvPr/>
        </p:nvPicPr>
        <p:blipFill>
          <a:blip r:embed="rId5"/>
          <a:srcRect l="0" r="0" t="0" b="0"/>
          <a:stretch/>
        </p:blipFill>
        <p:spPr>
          <a:xfrm>
            <a:off x="8138160" y="21900945"/>
            <a:ext cx="6754368" cy="4325210"/>
          </a:xfrm>
          <a:prstGeom prst="rect">
            <a:avLst/>
          </a:prstGeom>
        </p:spPr>
      </p:pic>
      <p:sp>
        <p:nvSpPr>
          <p:cNvPr id="91" name="Text 84"/>
          <p:cNvSpPr/>
          <p:nvPr/>
        </p:nvSpPr>
        <p:spPr>
          <a:xfrm>
            <a:off x="8092440" y="26363316"/>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But value does not follow: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out-of-sample spatial value stays at zero</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as correlation rises from 0.2 to 0.6.</a:t>
            </a:r>
            <a:endParaRPr lang="en-US" sz="1650" dirty="0"/>
          </a:p>
        </p:txBody>
      </p:sp>
      <p:sp>
        <p:nvSpPr>
          <p:cNvPr id="92" name="Shape 85"/>
          <p:cNvSpPr/>
          <p:nvPr/>
        </p:nvSpPr>
        <p:spPr>
          <a:xfrm>
            <a:off x="8092440" y="27058260"/>
            <a:ext cx="6845808" cy="2751180"/>
          </a:xfrm>
          <a:prstGeom prst="rect">
            <a:avLst/>
          </a:prstGeom>
          <a:solidFill>
            <a:srgbClr val="FFFFFF"/>
          </a:solidFill>
          <a:ln w="17780">
            <a:solidFill>
              <a:srgbClr val="00338D"/>
            </a:solidFill>
            <a:prstDash val="solid"/>
          </a:ln>
        </p:spPr>
      </p:sp>
      <p:sp>
        <p:nvSpPr>
          <p:cNvPr id="93" name="Shape 86"/>
          <p:cNvSpPr/>
          <p:nvPr/>
        </p:nvSpPr>
        <p:spPr>
          <a:xfrm>
            <a:off x="8092440" y="27058260"/>
            <a:ext cx="6845808" cy="566928"/>
          </a:xfrm>
          <a:prstGeom prst="rect">
            <a:avLst/>
          </a:prstGeom>
          <a:solidFill>
            <a:srgbClr val="00338D"/>
          </a:solidFill>
          <a:ln/>
        </p:spPr>
      </p:sp>
      <p:sp>
        <p:nvSpPr>
          <p:cNvPr id="94" name="Text 87"/>
          <p:cNvSpPr/>
          <p:nvPr/>
        </p:nvSpPr>
        <p:spPr>
          <a:xfrm>
            <a:off x="8275320" y="27058260"/>
            <a:ext cx="2897734" cy="566928"/>
          </a:xfrm>
          <a:prstGeom prst="rect">
            <a:avLst/>
          </a:prstGeom>
          <a:noFill/>
          <a:ln/>
        </p:spPr>
        <p:txBody>
          <a:bodyPr wrap="square" lIns="0" tIns="0" rIns="0" bIns="0" rtlCol="0" anchor="ctr"/>
          <a:lstStyle/>
          <a:p>
            <a:pPr algn="l" indent="0" marL="0">
              <a:lnSpc>
                <a:spcPct val="118000"/>
              </a:lnSpc>
              <a:buNone/>
            </a:pPr>
            <a:r>
              <a:rPr lang="en-US" sz="1500" b="1" spc="100" kern="0" dirty="0">
                <a:solidFill>
                  <a:srgbClr val="BFD3EA"/>
                </a:solidFill>
                <a:latin typeface="Palatino Linotype" pitchFamily="34" charset="0"/>
                <a:ea typeface="Palatino Linotype" pitchFamily="34" charset="-122"/>
                <a:cs typeface="Palatino Linotype" pitchFamily="34" charset="-120"/>
              </a:rPr>
              <a:t>WE EXPECTED</a:t>
            </a:r>
            <a:endParaRPr lang="en-US" sz="1500" dirty="0"/>
          </a:p>
        </p:txBody>
      </p:sp>
      <p:sp>
        <p:nvSpPr>
          <p:cNvPr id="95" name="Text 88"/>
          <p:cNvSpPr/>
          <p:nvPr/>
        </p:nvSpPr>
        <p:spPr>
          <a:xfrm>
            <a:off x="11374222" y="27058260"/>
            <a:ext cx="3490874" cy="566928"/>
          </a:xfrm>
          <a:prstGeom prst="rect">
            <a:avLst/>
          </a:prstGeom>
          <a:noFill/>
          <a:ln/>
        </p:spPr>
        <p:txBody>
          <a:bodyPr wrap="square" lIns="0" tIns="0" rIns="0" bIns="0" rtlCol="0" anchor="ctr"/>
          <a:lstStyle/>
          <a:p>
            <a:pPr algn="l" indent="0" marL="0">
              <a:lnSpc>
                <a:spcPct val="118000"/>
              </a:lnSpc>
              <a:buNone/>
            </a:pPr>
            <a:r>
              <a:rPr lang="en-US" sz="1500" b="1" spc="100" kern="0" dirty="0">
                <a:solidFill>
                  <a:srgbClr val="FFFFFF"/>
                </a:solidFill>
                <a:latin typeface="Palatino Linotype" pitchFamily="34" charset="0"/>
                <a:ea typeface="Palatino Linotype" pitchFamily="34" charset="-122"/>
                <a:cs typeface="Palatino Linotype" pitchFamily="34" charset="-120"/>
              </a:rPr>
              <a:t>WE FOUND</a:t>
            </a:r>
            <a:endParaRPr lang="en-US" sz="1500" dirty="0"/>
          </a:p>
        </p:txBody>
      </p:sp>
      <p:sp>
        <p:nvSpPr>
          <p:cNvPr id="96" name="Shape 89"/>
          <p:cNvSpPr/>
          <p:nvPr/>
        </p:nvSpPr>
        <p:spPr>
          <a:xfrm>
            <a:off x="11173054" y="27625188"/>
            <a:ext cx="18288" cy="728084"/>
          </a:xfrm>
          <a:prstGeom prst="rect">
            <a:avLst/>
          </a:prstGeom>
          <a:solidFill>
            <a:srgbClr val="C9D2E0"/>
          </a:solidFill>
          <a:ln/>
        </p:spPr>
      </p:sp>
      <p:sp>
        <p:nvSpPr>
          <p:cNvPr id="97" name="Text 90"/>
          <p:cNvSpPr/>
          <p:nvPr/>
        </p:nvSpPr>
        <p:spPr>
          <a:xfrm>
            <a:off x="8275320" y="27625188"/>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Correlation sharpens the schedule</a:t>
            </a:r>
            <a:endParaRPr lang="en-US" sz="1500" dirty="0"/>
          </a:p>
        </p:txBody>
      </p:sp>
      <p:sp>
        <p:nvSpPr>
          <p:cNvPr id="98" name="Text 91"/>
          <p:cNvSpPr/>
          <p:nvPr/>
        </p:nvSpPr>
        <p:spPr>
          <a:xfrm>
            <a:off x="11374222" y="27625188"/>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Spatial value stays </a:t>
            </a:r>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~0%</a:t>
            </a:r>
            <a:endParaRPr lang="en-US" sz="1600" dirty="0"/>
          </a:p>
        </p:txBody>
      </p:sp>
      <p:sp>
        <p:nvSpPr>
          <p:cNvPr id="99" name="Shape 92"/>
          <p:cNvSpPr/>
          <p:nvPr/>
        </p:nvSpPr>
        <p:spPr>
          <a:xfrm>
            <a:off x="8092440" y="28353272"/>
            <a:ext cx="6845808" cy="728084"/>
          </a:xfrm>
          <a:prstGeom prst="rect">
            <a:avLst/>
          </a:prstGeom>
          <a:solidFill>
            <a:srgbClr val="EEF3FB"/>
          </a:solidFill>
          <a:ln/>
        </p:spPr>
      </p:sp>
      <p:sp>
        <p:nvSpPr>
          <p:cNvPr id="100" name="Shape 93"/>
          <p:cNvSpPr/>
          <p:nvPr/>
        </p:nvSpPr>
        <p:spPr>
          <a:xfrm>
            <a:off x="8092440" y="28353272"/>
            <a:ext cx="6845808" cy="13716"/>
          </a:xfrm>
          <a:prstGeom prst="rect">
            <a:avLst/>
          </a:prstGeom>
          <a:solidFill>
            <a:srgbClr val="C9D2E0"/>
          </a:solidFill>
          <a:ln/>
        </p:spPr>
      </p:sp>
      <p:sp>
        <p:nvSpPr>
          <p:cNvPr id="101" name="Shape 94"/>
          <p:cNvSpPr/>
          <p:nvPr/>
        </p:nvSpPr>
        <p:spPr>
          <a:xfrm>
            <a:off x="11173054" y="28353272"/>
            <a:ext cx="18288" cy="728084"/>
          </a:xfrm>
          <a:prstGeom prst="rect">
            <a:avLst/>
          </a:prstGeom>
          <a:solidFill>
            <a:srgbClr val="C9D2E0"/>
          </a:solidFill>
          <a:ln/>
        </p:spPr>
      </p:sp>
      <p:sp>
        <p:nvSpPr>
          <p:cNvPr id="102" name="Text 95"/>
          <p:cNvSpPr/>
          <p:nvPr/>
        </p:nvSpPr>
        <p:spPr>
          <a:xfrm>
            <a:off x="8275320" y="28353272"/>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Copulas capture the dependence</a:t>
            </a:r>
            <a:endParaRPr lang="en-US" sz="1500" dirty="0"/>
          </a:p>
        </p:txBody>
      </p:sp>
      <p:sp>
        <p:nvSpPr>
          <p:cNvPr id="103" name="Text 96"/>
          <p:cNvSpPr/>
          <p:nvPr/>
        </p:nvSpPr>
        <p:spPr>
          <a:xfrm>
            <a:off x="11374222" y="28353272"/>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Even the maximal copula adds nothing</a:t>
            </a:r>
            <a:endParaRPr lang="en-US" sz="1600" dirty="0"/>
          </a:p>
        </p:txBody>
      </p:sp>
      <p:sp>
        <p:nvSpPr>
          <p:cNvPr id="104" name="Shape 97"/>
          <p:cNvSpPr/>
          <p:nvPr/>
        </p:nvSpPr>
        <p:spPr>
          <a:xfrm>
            <a:off x="8092440" y="29081356"/>
            <a:ext cx="6845808" cy="13716"/>
          </a:xfrm>
          <a:prstGeom prst="rect">
            <a:avLst/>
          </a:prstGeom>
          <a:solidFill>
            <a:srgbClr val="C9D2E0"/>
          </a:solidFill>
          <a:ln/>
        </p:spPr>
      </p:sp>
      <p:sp>
        <p:nvSpPr>
          <p:cNvPr id="105" name="Shape 98"/>
          <p:cNvSpPr/>
          <p:nvPr/>
        </p:nvSpPr>
        <p:spPr>
          <a:xfrm>
            <a:off x="11173054" y="29081356"/>
            <a:ext cx="18288" cy="728084"/>
          </a:xfrm>
          <a:prstGeom prst="rect">
            <a:avLst/>
          </a:prstGeom>
          <a:solidFill>
            <a:srgbClr val="C9D2E0"/>
          </a:solidFill>
          <a:ln/>
        </p:spPr>
      </p:sp>
      <p:sp>
        <p:nvSpPr>
          <p:cNvPr id="106" name="Text 99"/>
          <p:cNvSpPr/>
          <p:nvPr/>
        </p:nvSpPr>
        <p:spPr>
          <a:xfrm>
            <a:off x="8275320" y="29081356"/>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The signal is simply absent</a:t>
            </a:r>
            <a:endParaRPr lang="en-US" sz="1500" dirty="0"/>
          </a:p>
        </p:txBody>
      </p:sp>
      <p:sp>
        <p:nvSpPr>
          <p:cNvPr id="107" name="Text 100"/>
          <p:cNvSpPr/>
          <p:nvPr/>
        </p:nvSpPr>
        <p:spPr>
          <a:xfrm>
            <a:off x="11374222" y="29081356"/>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Real, but masked: </a:t>
            </a:r>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+1.46%</a:t>
            </a:r>
            <a:endParaRPr lang="en-US" sz="1600" dirty="0"/>
          </a:p>
        </p:txBody>
      </p:sp>
      <p:sp>
        <p:nvSpPr>
          <p:cNvPr id="108" name="Text 101"/>
          <p:cNvSpPr/>
          <p:nvPr/>
        </p:nvSpPr>
        <p:spPr>
          <a:xfrm>
            <a:off x="15441168"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02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SCREEN</a:t>
            </a:r>
            <a:endParaRPr lang="en-US" sz="2200" dirty="0"/>
          </a:p>
        </p:txBody>
      </p:sp>
      <p:sp>
        <p:nvSpPr>
          <p:cNvPr id="109" name="Text 102"/>
          <p:cNvSpPr/>
          <p:nvPr/>
        </p:nvSpPr>
        <p:spPr>
          <a:xfrm>
            <a:off x="15441168"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Does passive sophistication pay? No.</a:t>
            </a:r>
            <a:endParaRPr lang="en-US" sz="3300" dirty="0"/>
          </a:p>
        </p:txBody>
      </p:sp>
      <p:sp>
        <p:nvSpPr>
          <p:cNvPr id="110" name="Shape 103"/>
          <p:cNvSpPr/>
          <p:nvPr/>
        </p:nvSpPr>
        <p:spPr>
          <a:xfrm>
            <a:off x="15441168" y="14538960"/>
            <a:ext cx="6845808" cy="41148"/>
          </a:xfrm>
          <a:prstGeom prst="rect">
            <a:avLst/>
          </a:prstGeom>
          <a:solidFill>
            <a:srgbClr val="E8A33D"/>
          </a:solidFill>
          <a:ln/>
        </p:spPr>
      </p:sp>
      <p:sp>
        <p:nvSpPr>
          <p:cNvPr id="111" name="Text 104"/>
          <p:cNvSpPr/>
          <p:nvPr/>
        </p:nvSpPr>
        <p:spPr>
          <a:xfrm>
            <a:off x="15441168"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We re-fit the scheduler on the full joint covariance and on a block-diagonal version that erases every cross-region term, then compare out-of-sample CVaR of carbon cost. Across grids and horizons the gap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stays at zero</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a:t>
            </a:r>
            <a:endParaRPr lang="en-US" sz="1900" dirty="0"/>
          </a:p>
        </p:txBody>
      </p:sp>
      <p:sp>
        <p:nvSpPr>
          <p:cNvPr id="112" name="Shape 105"/>
          <p:cNvSpPr/>
          <p:nvPr/>
        </p:nvSpPr>
        <p:spPr>
          <a:xfrm>
            <a:off x="15322296" y="16888968"/>
            <a:ext cx="7083552" cy="4638304"/>
          </a:xfrm>
          <a:prstGeom prst="rect">
            <a:avLst/>
          </a:prstGeom>
          <a:solidFill>
            <a:srgbClr val="FBFCFE"/>
          </a:solidFill>
          <a:ln w="12700">
            <a:solidFill>
              <a:srgbClr val="E2E8F1"/>
            </a:solidFill>
            <a:prstDash val="solid"/>
          </a:ln>
        </p:spPr>
      </p:sp>
      <p:pic>
        <p:nvPicPr>
          <p:cNvPr id="113" name="Image 5" descr="figs/finding_bar.png">    </p:cNvPr>
          <p:cNvPicPr>
            <a:picLocks noChangeAspect="1"/>
          </p:cNvPicPr>
          <p:nvPr/>
        </p:nvPicPr>
        <p:blipFill>
          <a:blip r:embed="rId6"/>
          <a:srcRect l="0" r="0" t="0" b="0"/>
          <a:stretch/>
        </p:blipFill>
        <p:spPr>
          <a:xfrm>
            <a:off x="15486888" y="17007840"/>
            <a:ext cx="6754368" cy="4400560"/>
          </a:xfrm>
          <a:prstGeom prst="rect">
            <a:avLst/>
          </a:prstGeom>
        </p:spPr>
      </p:pic>
      <p:sp>
        <p:nvSpPr>
          <p:cNvPr id="114" name="Text 106"/>
          <p:cNvSpPr/>
          <p:nvPr/>
        </p:nvSpPr>
        <p:spPr>
          <a:xfrm>
            <a:off x="15441168" y="21545560"/>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Real problem versus covariance-only: about zero unless the mean field is removed.</a:t>
            </a:r>
            <a:endParaRPr lang="en-US" sz="1650" dirty="0"/>
          </a:p>
        </p:txBody>
      </p:sp>
      <p:sp>
        <p:nvSpPr>
          <p:cNvPr id="115" name="Shape 107"/>
          <p:cNvSpPr/>
          <p:nvPr/>
        </p:nvSpPr>
        <p:spPr>
          <a:xfrm>
            <a:off x="15322296" y="22130776"/>
            <a:ext cx="7083552" cy="2130596"/>
          </a:xfrm>
          <a:prstGeom prst="rect">
            <a:avLst/>
          </a:prstGeom>
          <a:solidFill>
            <a:srgbClr val="FBFCFE"/>
          </a:solidFill>
          <a:ln w="12700">
            <a:solidFill>
              <a:srgbClr val="E2E8F1"/>
            </a:solidFill>
            <a:prstDash val="solid"/>
          </a:ln>
        </p:spPr>
      </p:sp>
      <p:pic>
        <p:nvPicPr>
          <p:cNvPr id="116" name="Image 6" descr="figs/cv_curve.png">    </p:cNvPr>
          <p:cNvPicPr>
            <a:picLocks noChangeAspect="1"/>
          </p:cNvPicPr>
          <p:nvPr/>
        </p:nvPicPr>
        <p:blipFill>
          <a:blip r:embed="rId7"/>
          <a:srcRect l="0" r="0" t="0" b="0"/>
          <a:stretch/>
        </p:blipFill>
        <p:spPr>
          <a:xfrm>
            <a:off x="15486888" y="22249648"/>
            <a:ext cx="6754368" cy="1892852"/>
          </a:xfrm>
          <a:prstGeom prst="rect">
            <a:avLst/>
          </a:prstGeom>
        </p:spPr>
      </p:pic>
      <p:sp>
        <p:nvSpPr>
          <p:cNvPr id="117" name="Text 108"/>
          <p:cNvSpPr/>
          <p:nvPr/>
        </p:nvSpPr>
        <p:spPr>
          <a:xfrm>
            <a:off x="15441168" y="24279660"/>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Cross-validation picks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ε* = 1</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the optimizer truly robustifies, so the null is real.</a:t>
            </a:r>
            <a:endParaRPr lang="en-US" sz="1650" dirty="0"/>
          </a:p>
        </p:txBody>
      </p:sp>
      <p:sp>
        <p:nvSpPr>
          <p:cNvPr id="118" name="Shape 109"/>
          <p:cNvSpPr/>
          <p:nvPr/>
        </p:nvSpPr>
        <p:spPr>
          <a:xfrm>
            <a:off x="15322296" y="24864876"/>
            <a:ext cx="7083552" cy="2935957"/>
          </a:xfrm>
          <a:prstGeom prst="rect">
            <a:avLst/>
          </a:prstGeom>
          <a:solidFill>
            <a:srgbClr val="FBFCFE"/>
          </a:solidFill>
          <a:ln w="12700">
            <a:solidFill>
              <a:srgbClr val="E2E8F1"/>
            </a:solidFill>
            <a:prstDash val="solid"/>
          </a:ln>
        </p:spPr>
      </p:sp>
      <p:pic>
        <p:nvPicPr>
          <p:cNvPr id="119" name="Image 7" descr="figs/complexity_frontier.png">    </p:cNvPr>
          <p:cNvPicPr>
            <a:picLocks noChangeAspect="1"/>
          </p:cNvPicPr>
          <p:nvPr/>
        </p:nvPicPr>
        <p:blipFill>
          <a:blip r:embed="rId8"/>
          <a:srcRect l="0" r="0" t="0" b="0"/>
          <a:stretch/>
        </p:blipFill>
        <p:spPr>
          <a:xfrm>
            <a:off x="15486888" y="24983748"/>
            <a:ext cx="6754368" cy="2698213"/>
          </a:xfrm>
          <a:prstGeom prst="rect">
            <a:avLst/>
          </a:prstGeom>
        </p:spPr>
      </p:pic>
      <p:sp>
        <p:nvSpPr>
          <p:cNvPr id="120" name="Text 110"/>
          <p:cNvSpPr/>
          <p:nvPr/>
        </p:nvSpPr>
        <p:spPr>
          <a:xfrm>
            <a:off x="15441168" y="27819121"/>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Cumulative savings vs. carbon-blind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jump once (transfer), then stay flat</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joint covariance, the robust DRO, and copulas (Gaussian, Clayton, comonotone) each add nothing.</a:t>
            </a:r>
            <a:endParaRPr lang="en-US" sz="1650" dirty="0"/>
          </a:p>
        </p:txBody>
      </p:sp>
      <p:sp>
        <p:nvSpPr>
          <p:cNvPr id="121" name="Shape 111"/>
          <p:cNvSpPr/>
          <p:nvPr/>
        </p:nvSpPr>
        <p:spPr>
          <a:xfrm>
            <a:off x="15441168" y="28477489"/>
            <a:ext cx="6845808" cy="1331951"/>
          </a:xfrm>
          <a:prstGeom prst="rect">
            <a:avLst/>
          </a:prstGeom>
          <a:solidFill>
            <a:srgbClr val="E6F4FC"/>
          </a:solidFill>
          <a:ln/>
        </p:spPr>
      </p:sp>
      <p:sp>
        <p:nvSpPr>
          <p:cNvPr id="122" name="Shape 112"/>
          <p:cNvSpPr/>
          <p:nvPr/>
        </p:nvSpPr>
        <p:spPr>
          <a:xfrm>
            <a:off x="15441168" y="28477489"/>
            <a:ext cx="146304" cy="1331951"/>
          </a:xfrm>
          <a:prstGeom prst="rect">
            <a:avLst/>
          </a:prstGeom>
          <a:solidFill>
            <a:srgbClr val="0098E0"/>
          </a:solidFill>
          <a:ln/>
        </p:spPr>
      </p:sp>
      <p:sp>
        <p:nvSpPr>
          <p:cNvPr id="123" name="Text 113"/>
          <p:cNvSpPr/>
          <p:nvPr/>
        </p:nvSpPr>
        <p:spPr>
          <a:xfrm>
            <a:off x="15752064" y="28477489"/>
            <a:ext cx="6278880" cy="1331951"/>
          </a:xfrm>
          <a:prstGeom prst="rect">
            <a:avLst/>
          </a:prstGeom>
          <a:noFill/>
          <a:ln/>
        </p:spPr>
        <p:txBody>
          <a:bodyPr wrap="square" lIns="0" tIns="0" rIns="0" bIns="0" rtlCol="0" anchor="ctr"/>
          <a:lstStyle/>
          <a:p>
            <a:pPr algn="l" indent="0" marL="0">
              <a:lnSpc>
                <a:spcPct val="106000"/>
              </a:lnSpc>
              <a:buNone/>
            </a:pPr>
            <a:r>
              <a:rPr lang="en-US" sz="1650" b="1" dirty="0">
                <a:solidFill>
                  <a:srgbClr val="00338D"/>
                </a:solidFill>
                <a:latin typeface="Palatino Linotype" pitchFamily="34" charset="0"/>
                <a:ea typeface="Palatino Linotype" pitchFamily="34" charset="-122"/>
                <a:cs typeface="Palatino Linotype" pitchFamily="34" charset="-120"/>
              </a:rPr>
              <a:t>THE VERDICT   </a:t>
            </a:r>
            <a:pPr algn="l" indent="0" marL="0">
              <a:lnSpc>
                <a:spcPct val="106000"/>
              </a:lnSpc>
              <a:buNone/>
            </a:pPr>
            <a:r>
              <a:rPr lang="en-US" sz="1650" b="1" dirty="0">
                <a:solidFill>
                  <a:srgbClr val="00338D"/>
                </a:solidFill>
                <a:latin typeface="Palatino Linotype" pitchFamily="34" charset="0"/>
                <a:ea typeface="Palatino Linotype" pitchFamily="34" charset="-122"/>
                <a:cs typeface="Palatino Linotype" pitchFamily="34" charset="-120"/>
              </a:rPr>
              <a:t>across every estimator and test, the out-of-sample spatial value is statistically indistinguishable from zero.</a:t>
            </a:r>
            <a:endParaRPr lang="en-US" sz="1650" dirty="0"/>
          </a:p>
        </p:txBody>
      </p:sp>
      <p:sp>
        <p:nvSpPr>
          <p:cNvPr id="124" name="Text 114"/>
          <p:cNvSpPr/>
          <p:nvPr/>
        </p:nvSpPr>
        <p:spPr>
          <a:xfrm>
            <a:off x="22789896"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03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MECHANISM</a:t>
            </a:r>
            <a:endParaRPr lang="en-US" sz="2200" dirty="0"/>
          </a:p>
        </p:txBody>
      </p:sp>
      <p:sp>
        <p:nvSpPr>
          <p:cNvPr id="125" name="Text 115"/>
          <p:cNvSpPr/>
          <p:nvPr/>
        </p:nvSpPr>
        <p:spPr>
          <a:xfrm>
            <a:off x="22789896"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Why does it add nothing? The mean field holds it.</a:t>
            </a:r>
            <a:endParaRPr lang="en-US" sz="3300" dirty="0"/>
          </a:p>
        </p:txBody>
      </p:sp>
      <p:sp>
        <p:nvSpPr>
          <p:cNvPr id="126" name="Shape 116"/>
          <p:cNvSpPr/>
          <p:nvPr/>
        </p:nvSpPr>
        <p:spPr>
          <a:xfrm>
            <a:off x="22789896" y="14538960"/>
            <a:ext cx="6845808" cy="41148"/>
          </a:xfrm>
          <a:prstGeom prst="rect">
            <a:avLst/>
          </a:prstGeom>
          <a:solidFill>
            <a:srgbClr val="E8A33D"/>
          </a:solidFill>
          <a:ln/>
        </p:spPr>
      </p:sp>
      <p:sp>
        <p:nvSpPr>
          <p:cNvPr id="127" name="Text 117"/>
          <p:cNvSpPr/>
          <p:nvPr/>
        </p:nvSpPr>
        <p:spPr>
          <a:xfrm>
            <a:off x="22789896"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The mean-leveling test isolates the cause. Hold the covariance fixed and flatten the mean field, and the same cross-region structure now pays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+1.46%</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 The signal is real but masked by a dominant mean, not absent.</a:t>
            </a:r>
            <a:endParaRPr lang="en-US" sz="1900" dirty="0"/>
          </a:p>
        </p:txBody>
      </p:sp>
      <p:pic>
        <p:nvPicPr>
          <p:cNvPr id="128" name="Image 8" descr="figs/carbon_landscape.png">    </p:cNvPr>
          <p:cNvPicPr>
            <a:picLocks noChangeAspect="1"/>
          </p:cNvPicPr>
          <p:nvPr/>
        </p:nvPicPr>
        <p:blipFill>
          <a:blip r:embed="rId9"/>
          <a:srcRect l="0" r="0" t="0" b="0"/>
          <a:stretch/>
        </p:blipFill>
        <p:spPr>
          <a:xfrm>
            <a:off x="22835616" y="17007840"/>
            <a:ext cx="6754368" cy="4268947"/>
          </a:xfrm>
          <a:prstGeom prst="rect">
            <a:avLst/>
          </a:prstGeom>
        </p:spPr>
      </p:pic>
      <p:sp>
        <p:nvSpPr>
          <p:cNvPr id="129" name="Text 118"/>
          <p:cNvSpPr/>
          <p:nvPr/>
        </p:nvSpPr>
        <p:spPr>
          <a:xfrm>
            <a:off x="22789896" y="21413947"/>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The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dominant mean carbon field</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the schedule follows this terrain; the spatial covariance is a thin ripple on top (≤1.46%).</a:t>
            </a:r>
            <a:endParaRPr lang="en-US" sz="1650" dirty="0"/>
          </a:p>
        </p:txBody>
      </p:sp>
      <p:pic>
        <p:nvPicPr>
          <p:cNvPr id="130" name="Image 9" descr="figs/positive_control.png">    </p:cNvPr>
          <p:cNvPicPr>
            <a:picLocks noChangeAspect="1"/>
          </p:cNvPicPr>
          <p:nvPr/>
        </p:nvPicPr>
        <p:blipFill>
          <a:blip r:embed="rId10"/>
          <a:srcRect l="0" r="0" t="0" b="0"/>
          <a:stretch/>
        </p:blipFill>
        <p:spPr>
          <a:xfrm>
            <a:off x="22835616" y="22191187"/>
            <a:ext cx="6754368" cy="4134367"/>
          </a:xfrm>
          <a:prstGeom prst="rect">
            <a:avLst/>
          </a:prstGeom>
        </p:spPr>
      </p:pic>
      <p:sp>
        <p:nvSpPr>
          <p:cNvPr id="131" name="Text 119"/>
          <p:cNvSpPr/>
          <p:nvPr/>
        </p:nvSpPr>
        <p:spPr>
          <a:xfrm>
            <a:off x="22789896" y="26462715"/>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The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positive control</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flatten each region's mean and the cross-region signal appears (Diversified </a:t>
            </a:r>
            <a:pPr algn="l" indent="0" marL="0">
              <a:lnSpc>
                <a:spcPct val="102000"/>
              </a:lnSpc>
              <a:buNone/>
            </a:pPr>
            <a:r>
              <a:rPr lang="en-US" sz="1650" b="1" i="1" dirty="0">
                <a:solidFill>
                  <a:srgbClr val="8A5C16"/>
                </a:solidFill>
                <a:latin typeface="Palatino Linotype" pitchFamily="34" charset="0"/>
                <a:ea typeface="Palatino Linotype" pitchFamily="34" charset="-122"/>
                <a:cs typeface="Palatino Linotype" pitchFamily="34" charset="-120"/>
              </a:rPr>
              <a:t>+1.46%</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in the real world it stays below the 0.4% line, so the null is a true negative.</a:t>
            </a:r>
            <a:endParaRPr lang="en-US" sz="1650" dirty="0"/>
          </a:p>
        </p:txBody>
      </p:sp>
      <p:sp>
        <p:nvSpPr>
          <p:cNvPr id="132" name="Shape 120"/>
          <p:cNvSpPr/>
          <p:nvPr/>
        </p:nvSpPr>
        <p:spPr>
          <a:xfrm>
            <a:off x="22789896" y="27157659"/>
            <a:ext cx="6845808" cy="2651781"/>
          </a:xfrm>
          <a:prstGeom prst="rect">
            <a:avLst/>
          </a:prstGeom>
          <a:solidFill>
            <a:srgbClr val="EEF3FB"/>
          </a:solidFill>
          <a:ln/>
        </p:spPr>
      </p:sp>
      <p:sp>
        <p:nvSpPr>
          <p:cNvPr id="133" name="Shape 121"/>
          <p:cNvSpPr/>
          <p:nvPr/>
        </p:nvSpPr>
        <p:spPr>
          <a:xfrm>
            <a:off x="22789896" y="27157659"/>
            <a:ext cx="146304" cy="2651781"/>
          </a:xfrm>
          <a:prstGeom prst="rect">
            <a:avLst/>
          </a:prstGeom>
          <a:solidFill>
            <a:srgbClr val="0098E0"/>
          </a:solidFill>
          <a:ln/>
        </p:spPr>
      </p:sp>
      <p:sp>
        <p:nvSpPr>
          <p:cNvPr id="134" name="Text 122"/>
          <p:cNvSpPr/>
          <p:nvPr/>
        </p:nvSpPr>
        <p:spPr>
          <a:xfrm>
            <a:off x="23082504" y="27358827"/>
            <a:ext cx="6342888" cy="457200"/>
          </a:xfrm>
          <a:prstGeom prst="rect">
            <a:avLst/>
          </a:prstGeom>
          <a:noFill/>
          <a:ln/>
        </p:spPr>
        <p:txBody>
          <a:bodyPr wrap="square" lIns="0" tIns="0" rIns="0" bIns="0" rtlCol="0" anchor="t"/>
          <a:lstStyle/>
          <a:p>
            <a:pPr algn="l" indent="0" marL="0">
              <a:lnSpc>
                <a:spcPct val="118000"/>
              </a:lnSpc>
              <a:buNone/>
            </a:pPr>
            <a:r>
              <a:rPr lang="en-US" sz="1800" b="1" spc="50" kern="0" dirty="0">
                <a:solidFill>
                  <a:srgbClr val="00338D"/>
                </a:solidFill>
                <a:latin typeface="Palatino Linotype" pitchFamily="34" charset="0"/>
                <a:ea typeface="Palatino Linotype" pitchFamily="34" charset="-122"/>
                <a:cs typeface="Palatino Linotype" pitchFamily="34" charset="-120"/>
              </a:rPr>
              <a:t>THE NULL SURVIVES EVERY CHECK</a:t>
            </a:r>
            <a:endParaRPr lang="en-US" sz="1800" dirty="0"/>
          </a:p>
        </p:txBody>
      </p:sp>
      <p:sp>
        <p:nvSpPr>
          <p:cNvPr id="135" name="Shape 123"/>
          <p:cNvSpPr/>
          <p:nvPr/>
        </p:nvSpPr>
        <p:spPr>
          <a:xfrm>
            <a:off x="23082504" y="27870891"/>
            <a:ext cx="6260592" cy="41148"/>
          </a:xfrm>
          <a:prstGeom prst="rect">
            <a:avLst/>
          </a:prstGeom>
          <a:solidFill>
            <a:srgbClr val="0098E0"/>
          </a:solidFill>
          <a:ln/>
        </p:spPr>
      </p:sp>
      <p:sp>
        <p:nvSpPr>
          <p:cNvPr id="136" name="Text 124"/>
          <p:cNvSpPr/>
          <p:nvPr/>
        </p:nvSpPr>
        <p:spPr>
          <a:xfrm>
            <a:off x="23100792" y="28026339"/>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37" name="Text 125"/>
          <p:cNvSpPr/>
          <p:nvPr/>
        </p:nvSpPr>
        <p:spPr>
          <a:xfrm>
            <a:off x="23576280" y="28026339"/>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Ledoit-Wolf covariance shrinkage</a:t>
            </a:r>
            <a:endParaRPr lang="en-US" sz="1650" dirty="0"/>
          </a:p>
        </p:txBody>
      </p:sp>
      <p:sp>
        <p:nvSpPr>
          <p:cNvPr id="138" name="Text 126"/>
          <p:cNvSpPr/>
          <p:nvPr/>
        </p:nvSpPr>
        <p:spPr>
          <a:xfrm>
            <a:off x="23100792" y="28300662"/>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39" name="Text 127"/>
          <p:cNvSpPr/>
          <p:nvPr/>
        </p:nvSpPr>
        <p:spPr>
          <a:xfrm>
            <a:off x="23576280" y="28300662"/>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Residualization of the mean field</a:t>
            </a:r>
            <a:endParaRPr lang="en-US" sz="1650" dirty="0"/>
          </a:p>
        </p:txBody>
      </p:sp>
      <p:sp>
        <p:nvSpPr>
          <p:cNvPr id="140" name="Text 128"/>
          <p:cNvSpPr/>
          <p:nvPr/>
        </p:nvSpPr>
        <p:spPr>
          <a:xfrm>
            <a:off x="23100792" y="28574986"/>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1" name="Text 129"/>
          <p:cNvSpPr/>
          <p:nvPr/>
        </p:nvSpPr>
        <p:spPr>
          <a:xfrm>
            <a:off x="23576280" y="28574986"/>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Benjamini-Hochberg over 144 cells</a:t>
            </a:r>
            <a:endParaRPr lang="en-US" sz="1650" dirty="0"/>
          </a:p>
        </p:txBody>
      </p:sp>
      <p:sp>
        <p:nvSpPr>
          <p:cNvPr id="142" name="Text 130"/>
          <p:cNvSpPr/>
          <p:nvPr/>
        </p:nvSpPr>
        <p:spPr>
          <a:xfrm>
            <a:off x="23100792" y="28849309"/>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3" name="Text 131"/>
          <p:cNvSpPr/>
          <p:nvPr/>
        </p:nvSpPr>
        <p:spPr>
          <a:xfrm>
            <a:off x="23576280" y="28849309"/>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Walk-forward validation to 2024</a:t>
            </a:r>
            <a:endParaRPr lang="en-US" sz="1650" dirty="0"/>
          </a:p>
        </p:txBody>
      </p:sp>
      <p:sp>
        <p:nvSpPr>
          <p:cNvPr id="144" name="Text 132"/>
          <p:cNvSpPr/>
          <p:nvPr/>
        </p:nvSpPr>
        <p:spPr>
          <a:xfrm>
            <a:off x="23100792" y="29123633"/>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5" name="Text 133"/>
          <p:cNvSpPr/>
          <p:nvPr/>
        </p:nvSpPr>
        <p:spPr>
          <a:xfrm>
            <a:off x="23576280" y="29123633"/>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Ramp and utilization sweeps</a:t>
            </a:r>
            <a:endParaRPr lang="en-US" sz="1650" dirty="0"/>
          </a:p>
        </p:txBody>
      </p:sp>
      <p:sp>
        <p:nvSpPr>
          <p:cNvPr id="146" name="Text 134"/>
          <p:cNvSpPr/>
          <p:nvPr/>
        </p:nvSpPr>
        <p:spPr>
          <a:xfrm>
            <a:off x="23100792" y="29397956"/>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7" name="Text 135"/>
          <p:cNvSpPr/>
          <p:nvPr/>
        </p:nvSpPr>
        <p:spPr>
          <a:xfrm>
            <a:off x="23576280" y="29397956"/>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The full CVaR tail range, 0.80 to 0.99</a:t>
            </a:r>
            <a:endParaRPr lang="en-US" sz="1650" dirty="0"/>
          </a:p>
        </p:txBody>
      </p:sp>
      <p:sp>
        <p:nvSpPr>
          <p:cNvPr id="148" name="Shape 136"/>
          <p:cNvSpPr/>
          <p:nvPr/>
        </p:nvSpPr>
        <p:spPr>
          <a:xfrm>
            <a:off x="640080" y="30083760"/>
            <a:ext cx="28995624" cy="7594886"/>
          </a:xfrm>
          <a:prstGeom prst="rect">
            <a:avLst/>
          </a:prstGeom>
          <a:solidFill>
            <a:srgbClr val="FFFFFF"/>
          </a:solidFill>
          <a:ln w="12700">
            <a:solidFill>
              <a:srgbClr val="C9D2E0"/>
            </a:solidFill>
            <a:prstDash val="solid"/>
          </a:ln>
          <a:effectLst>
            <a:outerShdw sx="100000" sy="100000" kx="0" ky="0" algn="bl" rotWithShape="0" blurRad="88900" dist="25400" dir="8100000">
              <a:srgbClr val="AEB7C6">
                <a:alpha val="22000"/>
              </a:srgbClr>
            </a:outerShdw>
          </a:effectLst>
        </p:spPr>
      </p:sp>
      <p:sp>
        <p:nvSpPr>
          <p:cNvPr id="149" name="Shape 137"/>
          <p:cNvSpPr/>
          <p:nvPr/>
        </p:nvSpPr>
        <p:spPr>
          <a:xfrm>
            <a:off x="640080" y="30083760"/>
            <a:ext cx="28995624" cy="146304"/>
          </a:xfrm>
          <a:prstGeom prst="rect">
            <a:avLst/>
          </a:prstGeom>
          <a:solidFill>
            <a:srgbClr val="E8A33D"/>
          </a:solidFill>
          <a:ln/>
        </p:spPr>
      </p:sp>
      <p:sp>
        <p:nvSpPr>
          <p:cNvPr id="150" name="Text 138"/>
          <p:cNvSpPr/>
          <p:nvPr/>
        </p:nvSpPr>
        <p:spPr>
          <a:xfrm>
            <a:off x="1051560" y="30376368"/>
            <a:ext cx="7498080" cy="411480"/>
          </a:xfrm>
          <a:prstGeom prst="rect">
            <a:avLst/>
          </a:prstGeom>
          <a:noFill/>
          <a:ln/>
        </p:spPr>
        <p:txBody>
          <a:bodyPr wrap="square" lIns="0" tIns="0" rIns="0" bIns="0" rtlCol="0" anchor="t"/>
          <a:lstStyle/>
          <a:p>
            <a:pPr algn="l" indent="0" marL="0">
              <a:lnSpc>
                <a:spcPct val="118000"/>
              </a:lnSpc>
              <a:buNone/>
            </a:pPr>
            <a:r>
              <a:rPr lang="en-US" sz="1800" b="1" spc="300" kern="0" dirty="0">
                <a:solidFill>
                  <a:srgbClr val="8A5C16"/>
                </a:solidFill>
                <a:latin typeface="Palatino Linotype" pitchFamily="34" charset="0"/>
                <a:ea typeface="Palatino Linotype" pitchFamily="34" charset="-122"/>
                <a:cs typeface="Palatino Linotype" pitchFamily="34" charset="-120"/>
              </a:rPr>
              <a:t>THE RESULT, SEEN DIRECTLY</a:t>
            </a:r>
            <a:endParaRPr lang="en-US" sz="1800" dirty="0"/>
          </a:p>
        </p:txBody>
      </p:sp>
      <p:sp>
        <p:nvSpPr>
          <p:cNvPr id="151" name="Text 139"/>
          <p:cNvSpPr/>
          <p:nvPr/>
        </p:nvSpPr>
        <p:spPr>
          <a:xfrm>
            <a:off x="8503920" y="30339792"/>
            <a:ext cx="20720304" cy="457200"/>
          </a:xfrm>
          <a:prstGeom prst="rect">
            <a:avLst/>
          </a:prstGeom>
          <a:noFill/>
          <a:ln/>
        </p:spPr>
        <p:txBody>
          <a:bodyPr wrap="square" lIns="0" tIns="0" rIns="0" bIns="0" rtlCol="0" anchor="ctr"/>
          <a:lstStyle/>
          <a:p>
            <a:pPr algn="r" indent="0" marL="0">
              <a:lnSpc>
                <a:spcPct val="118000"/>
              </a:lnSpc>
              <a:buNone/>
            </a:pPr>
            <a:r>
              <a:rPr lang="en-US" sz="1500" b="1" dirty="0">
                <a:solidFill>
                  <a:srgbClr val="00338D"/>
                </a:solidFill>
                <a:latin typeface="Palatino Linotype" pitchFamily="34" charset="0"/>
                <a:ea typeface="Palatino Linotype" pitchFamily="34" charset="-122"/>
                <a:cs typeface="Palatino Linotype" pitchFamily="34" charset="-120"/>
              </a:rPr>
              <a:t>Each panel is one Western US grid.  Bars: scheduled load.  Line: carbon intensity.  Joint and shuffled plans overlap.</a:t>
            </a:r>
            <a:endParaRPr lang="en-US" sz="1500" dirty="0"/>
          </a:p>
        </p:txBody>
      </p:sp>
      <p:pic>
        <p:nvPicPr>
          <p:cNvPr id="152" name="Image 10" descr="figs/schedule_us_west.png">    </p:cNvPr>
          <p:cNvPicPr>
            <a:picLocks noChangeAspect="1"/>
          </p:cNvPicPr>
          <p:nvPr/>
        </p:nvPicPr>
        <p:blipFill>
          <a:blip r:embed="rId11"/>
          <a:srcRect l="0" r="0" t="0" b="0"/>
          <a:stretch/>
        </p:blipFill>
        <p:spPr>
          <a:xfrm>
            <a:off x="1042416" y="30897576"/>
            <a:ext cx="28190952" cy="6561614"/>
          </a:xfrm>
          <a:prstGeom prst="rect">
            <a:avLst/>
          </a:prstGeom>
        </p:spPr>
      </p:pic>
      <p:sp>
        <p:nvSpPr>
          <p:cNvPr id="153" name="Shape 140"/>
          <p:cNvSpPr/>
          <p:nvPr/>
        </p:nvSpPr>
        <p:spPr>
          <a:xfrm>
            <a:off x="640080" y="37907246"/>
            <a:ext cx="28995624" cy="2606040"/>
          </a:xfrm>
          <a:prstGeom prst="rect">
            <a:avLst/>
          </a:prstGeom>
          <a:solidFill>
            <a:srgbClr val="FAF1DF"/>
          </a:solidFill>
          <a:ln w="19050">
            <a:solidFill>
              <a:srgbClr val="E8A33D"/>
            </a:solidFill>
            <a:prstDash val="solid"/>
          </a:ln>
        </p:spPr>
      </p:sp>
      <p:sp>
        <p:nvSpPr>
          <p:cNvPr id="154" name="Shape 141"/>
          <p:cNvSpPr/>
          <p:nvPr/>
        </p:nvSpPr>
        <p:spPr>
          <a:xfrm>
            <a:off x="640080" y="37907246"/>
            <a:ext cx="164592" cy="2606040"/>
          </a:xfrm>
          <a:prstGeom prst="rect">
            <a:avLst/>
          </a:prstGeom>
          <a:solidFill>
            <a:srgbClr val="E8A33D"/>
          </a:solidFill>
          <a:ln/>
        </p:spPr>
      </p:sp>
      <p:pic>
        <p:nvPicPr>
          <p:cNvPr id="155" name="Image 11" descr="figs/schematic_transfer.png">    </p:cNvPr>
          <p:cNvPicPr>
            <a:picLocks noChangeAspect="1"/>
          </p:cNvPicPr>
          <p:nvPr/>
        </p:nvPicPr>
        <p:blipFill>
          <a:blip r:embed="rId12"/>
          <a:srcRect l="0" r="0" t="0" b="0"/>
          <a:stretch/>
        </p:blipFill>
        <p:spPr>
          <a:xfrm>
            <a:off x="1097280" y="38108414"/>
            <a:ext cx="5394960" cy="2203704"/>
          </a:xfrm>
          <a:prstGeom prst="rect">
            <a:avLst/>
          </a:prstGeom>
        </p:spPr>
      </p:pic>
      <p:sp>
        <p:nvSpPr>
          <p:cNvPr id="156" name="Text 142"/>
          <p:cNvSpPr/>
          <p:nvPr/>
        </p:nvSpPr>
        <p:spPr>
          <a:xfrm>
            <a:off x="6766560" y="38273006"/>
            <a:ext cx="22594824" cy="640080"/>
          </a:xfrm>
          <a:prstGeom prst="rect">
            <a:avLst/>
          </a:prstGeom>
          <a:noFill/>
          <a:ln/>
        </p:spPr>
        <p:txBody>
          <a:bodyPr wrap="square" lIns="0" tIns="0" rIns="0" bIns="0" rtlCol="0" anchor="t"/>
          <a:lstStyle/>
          <a:p>
            <a:pPr algn="l" indent="0" marL="0">
              <a:lnSpc>
                <a:spcPct val="118000"/>
              </a:lnSpc>
              <a:buNone/>
            </a:pPr>
            <a:r>
              <a:rPr lang="en-US" sz="2500" b="1" spc="100" kern="0" dirty="0">
                <a:solidFill>
                  <a:srgbClr val="8A5C16"/>
                </a:solidFill>
                <a:latin typeface="Palatino Linotype" pitchFamily="34" charset="0"/>
                <a:ea typeface="Palatino Linotype" pitchFamily="34" charset="-122"/>
                <a:cs typeface="Palatino Linotype" pitchFamily="34" charset="-120"/>
              </a:rPr>
              <a:t>THE PAYOFF</a:t>
            </a:r>
            <a:endParaRPr lang="en-US" sz="2500" dirty="0"/>
          </a:p>
        </p:txBody>
      </p:sp>
      <p:sp>
        <p:nvSpPr>
          <p:cNvPr id="157" name="Text 143"/>
          <p:cNvSpPr/>
          <p:nvPr/>
        </p:nvSpPr>
        <p:spPr>
          <a:xfrm>
            <a:off x="6766560" y="39004526"/>
            <a:ext cx="22503384" cy="1371600"/>
          </a:xfrm>
          <a:prstGeom prst="rect">
            <a:avLst/>
          </a:prstGeom>
          <a:noFill/>
          <a:ln/>
        </p:spPr>
        <p:txBody>
          <a:bodyPr wrap="square" lIns="0" tIns="0" rIns="0" bIns="0" rtlCol="0" anchor="t"/>
          <a:lstStyle/>
          <a:p>
            <a:pPr algn="l" indent="0" marL="0">
              <a:lnSpc>
                <a:spcPct val="116000"/>
              </a:lnSpc>
              <a:buNone/>
            </a:pPr>
            <a:r>
              <a:rPr lang="en-US" sz="1900" dirty="0">
                <a:solidFill>
                  <a:srgbClr val="8A5C16"/>
                </a:solidFill>
                <a:latin typeface="Palatino Linotype" pitchFamily="34" charset="0"/>
                <a:ea typeface="Palatino Linotype" pitchFamily="34" charset="-122"/>
                <a:cs typeface="Palatino Linotype" pitchFamily="34" charset="-120"/>
              </a:rPr>
              <a:t>The value is in physically moving compute toward whichever grid is clean right now. An </a:t>
            </a:r>
            <a:pPr algn="l" indent="0" marL="0">
              <a:lnSpc>
                <a:spcPct val="116000"/>
              </a:lnSpc>
              <a:buNone/>
            </a:pPr>
            <a:r>
              <a:rPr lang="en-US" sz="1900" b="1" dirty="0">
                <a:solidFill>
                  <a:srgbClr val="8A5C16"/>
                </a:solidFill>
                <a:latin typeface="Palatino Linotype" pitchFamily="34" charset="0"/>
                <a:ea typeface="Palatino Linotype" pitchFamily="34" charset="-122"/>
                <a:cs typeface="Palatino Linotype" pitchFamily="34" charset="-120"/>
              </a:rPr>
              <a:t>active inter-region transfer channel</a:t>
            </a:r>
            <a:pPr algn="l" indent="0" marL="0">
              <a:lnSpc>
                <a:spcPct val="116000"/>
              </a:lnSpc>
              <a:buNone/>
            </a:pPr>
            <a:r>
              <a:rPr lang="en-US" sz="1900" dirty="0">
                <a:solidFill>
                  <a:srgbClr val="8A5C16"/>
                </a:solidFill>
                <a:latin typeface="Palatino Linotype" pitchFamily="34" charset="0"/>
                <a:ea typeface="Palatino Linotype" pitchFamily="34" charset="-122"/>
                <a:cs typeface="Palatino Linotype" pitchFamily="34" charset="-120"/>
              </a:rPr>
              <a:t> cuts 4 to 10 percent of carbon, deterministically. The sophisticated layers (joint covariance, copulas, distributional robustness) add nothing until grid emergencies hit 3x severity, which real grids have not reached. Deploy the simple migration scheduler; price robustness only if your grid faces genuine extremes.</a:t>
            </a:r>
            <a:endParaRPr lang="en-US" sz="1900" dirty="0"/>
          </a:p>
        </p:txBody>
      </p:sp>
      <p:sp>
        <p:nvSpPr>
          <p:cNvPr id="158" name="Shape 144"/>
          <p:cNvSpPr/>
          <p:nvPr/>
        </p:nvSpPr>
        <p:spPr>
          <a:xfrm>
            <a:off x="640080" y="40741886"/>
            <a:ext cx="28995624" cy="1188720"/>
          </a:xfrm>
          <a:prstGeom prst="rect">
            <a:avLst/>
          </a:prstGeom>
          <a:solidFill>
            <a:srgbClr val="002564"/>
          </a:solidFill>
          <a:ln/>
        </p:spPr>
      </p:sp>
      <p:sp>
        <p:nvSpPr>
          <p:cNvPr id="159" name="Shape 145"/>
          <p:cNvSpPr/>
          <p:nvPr/>
        </p:nvSpPr>
        <p:spPr>
          <a:xfrm>
            <a:off x="640080" y="40741886"/>
            <a:ext cx="164592" cy="1188720"/>
          </a:xfrm>
          <a:prstGeom prst="rect">
            <a:avLst/>
          </a:prstGeom>
          <a:solidFill>
            <a:srgbClr val="E8A33D"/>
          </a:solidFill>
          <a:ln/>
        </p:spPr>
      </p:sp>
      <p:sp>
        <p:nvSpPr>
          <p:cNvPr id="160" name="Shape 146"/>
          <p:cNvSpPr/>
          <p:nvPr/>
        </p:nvSpPr>
        <p:spPr>
          <a:xfrm>
            <a:off x="28236672" y="40677878"/>
            <a:ext cx="1316736" cy="1316736"/>
          </a:xfrm>
          <a:prstGeom prst="rect">
            <a:avLst/>
          </a:prstGeom>
          <a:solidFill>
            <a:srgbClr val="FFFFFF"/>
          </a:solidFill>
          <a:ln/>
        </p:spPr>
      </p:sp>
      <p:pic>
        <p:nvPicPr>
          <p:cNvPr id="161" name="Image 12" descr="figs/repo_qr.png">    </p:cNvPr>
          <p:cNvPicPr>
            <a:picLocks noChangeAspect="1"/>
          </p:cNvPicPr>
          <p:nvPr/>
        </p:nvPicPr>
        <p:blipFill>
          <a:blip r:embed="rId13"/>
          <a:srcRect l="0" r="0" t="0" b="0"/>
          <a:stretch/>
        </p:blipFill>
        <p:spPr>
          <a:xfrm>
            <a:off x="28355544" y="40796750"/>
            <a:ext cx="1078992" cy="1078992"/>
          </a:xfrm>
          <a:prstGeom prst="rect">
            <a:avLst/>
          </a:prstGeom>
        </p:spPr>
      </p:pic>
      <p:sp>
        <p:nvSpPr>
          <p:cNvPr id="162" name="Text 147"/>
          <p:cNvSpPr/>
          <p:nvPr/>
        </p:nvSpPr>
        <p:spPr>
          <a:xfrm>
            <a:off x="26389584" y="40741886"/>
            <a:ext cx="1737360" cy="1188720"/>
          </a:xfrm>
          <a:prstGeom prst="rect">
            <a:avLst/>
          </a:prstGeom>
          <a:noFill/>
          <a:ln/>
        </p:spPr>
        <p:txBody>
          <a:bodyPr wrap="square" lIns="0" tIns="0" rIns="0" bIns="0" rtlCol="0" anchor="ctr"/>
          <a:lstStyle/>
          <a:p>
            <a:pPr algn="r" indent="0" marL="0">
              <a:lnSpc>
                <a:spcPct val="110000"/>
              </a:lnSpc>
              <a:buNone/>
            </a:pPr>
            <a:r>
              <a:rPr lang="en-US" sz="1400" b="1" spc="100" kern="0" dirty="0">
                <a:solidFill>
                  <a:srgbClr val="0098E0"/>
                </a:solidFill>
                <a:latin typeface="Palatino Linotype" pitchFamily="34" charset="0"/>
                <a:ea typeface="Palatino Linotype" pitchFamily="34" charset="-122"/>
                <a:cs typeface="Palatino Linotype" pitchFamily="34" charset="-120"/>
              </a:rPr>
              <a:t>REPOSITORY</a:t>
            </a:r>
            <a:endParaRPr lang="en-US" sz="1400" dirty="0"/>
          </a:p>
          <a:p>
            <a:pPr algn="r" indent="0" marL="0">
              <a:lnSpc>
                <a:spcPct val="110000"/>
              </a:lnSpc>
              <a:buNone/>
            </a:pPr>
            <a:r>
              <a:rPr lang="en-US" sz="1400" b="1" spc="100" kern="0" dirty="0">
                <a:solidFill>
                  <a:srgbClr val="0098E0"/>
                </a:solidFill>
                <a:latin typeface="Palatino Linotype" pitchFamily="34" charset="0"/>
                <a:ea typeface="Palatino Linotype" pitchFamily="34" charset="-122"/>
                <a:cs typeface="Palatino Linotype" pitchFamily="34" charset="-120"/>
              </a:rPr>
              <a:t>DATA  ·  THESIS</a:t>
            </a:r>
            <a:endParaRPr lang="en-US" sz="1400" dirty="0"/>
          </a:p>
        </p:txBody>
      </p:sp>
      <p:sp>
        <p:nvSpPr>
          <p:cNvPr id="163" name="Text 148"/>
          <p:cNvSpPr/>
          <p:nvPr/>
        </p:nvSpPr>
        <p:spPr>
          <a:xfrm>
            <a:off x="1325880" y="40741886"/>
            <a:ext cx="24332184" cy="1188720"/>
          </a:xfrm>
          <a:prstGeom prst="rect">
            <a:avLst/>
          </a:prstGeom>
          <a:noFill/>
          <a:ln/>
        </p:spPr>
        <p:txBody>
          <a:bodyPr wrap="square" lIns="0" tIns="0" rIns="0" bIns="0" rtlCol="0" anchor="ctr"/>
          <a:lstStyle/>
          <a:p>
            <a:pPr algn="l" indent="0" marL="0">
              <a:lnSpc>
                <a:spcPct val="118000"/>
              </a:lnSpc>
              <a:buNone/>
            </a:pPr>
            <a:r>
              <a:rPr lang="en-US" sz="2500" b="1" dirty="0">
                <a:solidFill>
                  <a:srgbClr val="E8A33D"/>
                </a:solidFill>
                <a:latin typeface="Palatino Linotype" pitchFamily="34" charset="0"/>
                <a:ea typeface="Palatino Linotype" pitchFamily="34" charset="-122"/>
                <a:cs typeface="Palatino Linotype" pitchFamily="34" charset="-120"/>
              </a:rPr>
              <a:t>RECOMMENDATION    </a:t>
            </a:r>
            <a:pPr algn="l" indent="0" marL="0">
              <a:lnSpc>
                <a:spcPct val="118000"/>
              </a:lnSpc>
              <a:buNone/>
            </a:pPr>
            <a:r>
              <a:rPr lang="en-US" sz="2500" b="1" dirty="0">
                <a:solidFill>
                  <a:srgbClr val="FFFFFF"/>
                </a:solidFill>
                <a:latin typeface="Palatino Linotype" pitchFamily="34" charset="0"/>
                <a:ea typeface="Palatino Linotype" pitchFamily="34" charset="-122"/>
                <a:cs typeface="Palatino Linotype" pitchFamily="34" charset="-120"/>
              </a:rPr>
              <a:t>Deploy the deterministic migration scheduler; skip joint-covariance and copula modeling; price robustness only past a severity real grids have not reached.</a:t>
            </a:r>
            <a:endParaRPr lang="en-US" sz="2500" dirty="0"/>
          </a:p>
        </p:txBody>
      </p:sp>
      <p:sp>
        <p:nvSpPr>
          <p:cNvPr id="164" name="Text 149"/>
          <p:cNvSpPr/>
          <p:nvPr/>
        </p:nvSpPr>
        <p:spPr>
          <a:xfrm>
            <a:off x="640080" y="42113486"/>
            <a:ext cx="28995624" cy="411480"/>
          </a:xfrm>
          <a:prstGeom prst="rect">
            <a:avLst/>
          </a:prstGeom>
          <a:noFill/>
          <a:ln/>
        </p:spPr>
        <p:txBody>
          <a:bodyPr wrap="square" lIns="0" tIns="0" rIns="0" bIns="0" rtlCol="0" anchor="t"/>
          <a:lstStyle/>
          <a:p>
            <a:pPr algn="ctr" indent="0" marL="0">
              <a:lnSpc>
                <a:spcPct val="118000"/>
              </a:lnSpc>
              <a:buNone/>
            </a:pPr>
            <a:r>
              <a:rPr lang="en-US" sz="1800" dirty="0">
                <a:solidFill>
                  <a:srgbClr val="586173"/>
                </a:solidFill>
                <a:latin typeface="Palatino Linotype" pitchFamily="34" charset="0"/>
                <a:ea typeface="Palatino Linotype" pitchFamily="34" charset="-122"/>
                <a:cs typeface="Palatino Linotype" pitchFamily="34" charset="-120"/>
              </a:rPr>
              <a:t>Marco Ortiz Togashi   ·   marco.ortiztogashi@student.ie.edu      |      Supervisor: Prof. Bissan Ghaddar      |      IE University, MS in Business Analytics &amp; Data Science      |      Carbon data: Electricity Maps (academic licence).</a:t>
            </a:r>
            <a:endParaRPr lang="en-US" sz="1800" dirty="0"/>
          </a:p>
        </p:txBody>
      </p:sp>
      <p:sp>
        <p:nvSpPr>
          <p:cNvPr id="165" name="Text 150"/>
          <p:cNvSpPr/>
          <p:nvPr/>
        </p:nvSpPr>
        <p:spPr>
          <a:xfrm>
            <a:off x="640080" y="42515822"/>
            <a:ext cx="28995624" cy="411480"/>
          </a:xfrm>
          <a:prstGeom prst="rect">
            <a:avLst/>
          </a:prstGeom>
          <a:noFill/>
          <a:ln/>
        </p:spPr>
        <p:txBody>
          <a:bodyPr wrap="square" lIns="0" tIns="0" rIns="0" bIns="0" rtlCol="0" anchor="t"/>
          <a:lstStyle/>
          <a:p>
            <a:pPr algn="ctr" indent="0" marL="0">
              <a:lnSpc>
                <a:spcPct val="118000"/>
              </a:lnSpc>
              <a:buNone/>
            </a:pPr>
            <a:r>
              <a:rPr lang="en-US" sz="1800" i="1" dirty="0">
                <a:solidFill>
                  <a:srgbClr val="586173"/>
                </a:solidFill>
                <a:latin typeface="Palatino Linotype" pitchFamily="34" charset="0"/>
                <a:ea typeface="Palatino Linotype" pitchFamily="34" charset="-122"/>
                <a:cs typeface="Palatino Linotype" pitchFamily="34" charset="-120"/>
              </a:rPr>
              <a:t>References:  Hall et al. 2024 (carbon-aware DRO);  Mohajerin Esfahani and Kuhn 2018 (Wasserstein DRO);  Rockafellar and Uryasev 2000 (CVaR).</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 DRO capstone poster</dc:title>
  <dc:subject>PptxGenJS Presentation</dc:subject>
  <dc:creator>Marco Ortiz Togashi</dc:creator>
  <cp:lastModifiedBy>Marco Ortiz Togashi</cp:lastModifiedBy>
  <cp:revision>1</cp:revision>
  <dcterms:created xsi:type="dcterms:W3CDTF">2026-06-27T14:08:50Z</dcterms:created>
  <dcterms:modified xsi:type="dcterms:W3CDTF">2026-06-27T14:08:50Z</dcterms:modified>
</cp:coreProperties>
</file>