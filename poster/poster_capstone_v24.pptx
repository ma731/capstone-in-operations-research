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5784" cy="42803064"/>
  <p:notesSz cx="42803064" cy="3027578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8995624" cy="3931920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0"/>
            <a:ext cx="28995624" cy="146304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4" name="Image 0" descr="figs/ie_logo_whi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3000" y="1143000"/>
            <a:ext cx="402336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12080" y="1143000"/>
            <a:ext cx="18288" cy="2926080"/>
          </a:xfrm>
          <a:prstGeom prst="rect">
            <a:avLst/>
          </a:prstGeom>
          <a:solidFill>
            <a:srgbClr val="335FA4"/>
          </a:solidFill>
          <a:ln/>
        </p:spPr>
      </p:sp>
      <p:sp>
        <p:nvSpPr>
          <p:cNvPr id="6" name="Shape 3"/>
          <p:cNvSpPr/>
          <p:nvPr/>
        </p:nvSpPr>
        <p:spPr>
          <a:xfrm>
            <a:off x="24743664" y="1143000"/>
            <a:ext cx="18288" cy="2926080"/>
          </a:xfrm>
          <a:prstGeom prst="rect">
            <a:avLst/>
          </a:prstGeom>
          <a:solidFill>
            <a:srgbClr val="335FA4"/>
          </a:solidFill>
          <a:ln/>
        </p:spPr>
      </p:sp>
      <p:sp>
        <p:nvSpPr>
          <p:cNvPr id="7" name="Text 4"/>
          <p:cNvSpPr/>
          <p:nvPr/>
        </p:nvSpPr>
        <p:spPr>
          <a:xfrm>
            <a:off x="25292304" y="10241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b="1" spc="200" kern="0" dirty="0">
                <a:solidFill>
                  <a:srgbClr val="E8A3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 &amp; TOOLS</a:t>
            </a:r>
            <a:endParaRPr lang="en-US" sz="1600" dirty="0"/>
          </a:p>
        </p:txBody>
      </p:sp>
      <p:pic>
        <p:nvPicPr>
          <p:cNvPr id="8" name="Image 1" descr="figs/em_bolt_whit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246584" y="1481328"/>
            <a:ext cx="868680" cy="1207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6252424" y="162763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Electricity Maps</a:t>
            </a:r>
            <a:endParaRPr lang="en-US" sz="2700" dirty="0"/>
          </a:p>
        </p:txBody>
      </p:sp>
      <p:sp>
        <p:nvSpPr>
          <p:cNvPr id="10" name="Text 6"/>
          <p:cNvSpPr/>
          <p:nvPr/>
        </p:nvSpPr>
        <p:spPr>
          <a:xfrm>
            <a:off x="25292304" y="25786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BFD3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Real-time grid carbon, 2021 to 2025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25292304" y="30358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BFD3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Solved with </a:t>
            </a:r>
            <a:pPr algn="l"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CVXPY · CLARABEL · HiGHS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5532120" y="1024128"/>
            <a:ext cx="18891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50" b="1" spc="300" kern="0" dirty="0">
                <a:solidFill>
                  <a:srgbClr val="E8A3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CARBON-AWARE DATA-CENTER SCHEDULING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5532120" y="1444752"/>
            <a:ext cx="188915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Price of Sophistication:</a:t>
            </a:r>
            <a:endParaRPr lang="en-US" sz="35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Pre-Committed Falsification Test for When Spatial and</a:t>
            </a:r>
            <a:endParaRPr lang="en-US" sz="35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Robust Modelling Pay in Carbon-Aware Scheduling</a:t>
            </a:r>
            <a:endParaRPr lang="en-US" sz="3500" dirty="0"/>
          </a:p>
        </p:txBody>
      </p:sp>
      <p:sp>
        <p:nvSpPr>
          <p:cNvPr id="14" name="Text 10"/>
          <p:cNvSpPr/>
          <p:nvPr/>
        </p:nvSpPr>
        <p:spPr>
          <a:xfrm>
            <a:off x="5532120" y="3310128"/>
            <a:ext cx="18891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2400" b="1" i="1" dirty="0">
                <a:solidFill>
                  <a:srgbClr val="E3EEF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day-ahead migration scheduler and a complexity-value decision rule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13514832" y="3840480"/>
            <a:ext cx="292608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5532120" y="3950208"/>
            <a:ext cx="18891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Marco Ortiz Togashi</a:t>
            </a:r>
            <a:pPr algn="ctr"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    |     Supervisor: Prof. Bissan Ghaddar     |     IE University, Master in Business Analytics &amp; Data Science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640080" y="5029200"/>
            <a:ext cx="6494526" cy="1417320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18" name="Text 14"/>
          <p:cNvSpPr/>
          <p:nvPr/>
        </p:nvSpPr>
        <p:spPr>
          <a:xfrm>
            <a:off x="777240" y="5029200"/>
            <a:ext cx="622020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Day-ahead</a:t>
            </a:r>
            <a:endParaRPr lang="en-US" sz="2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forecast</a:t>
            </a:r>
            <a:endParaRPr lang="en-US" sz="2100" dirty="0"/>
          </a:p>
        </p:txBody>
      </p:sp>
      <p:sp>
        <p:nvSpPr>
          <p:cNvPr id="19" name="Shape 15"/>
          <p:cNvSpPr/>
          <p:nvPr/>
        </p:nvSpPr>
        <p:spPr>
          <a:xfrm>
            <a:off x="7244334" y="5737860"/>
            <a:ext cx="786384" cy="0"/>
          </a:xfrm>
          <a:prstGeom prst="line">
            <a:avLst/>
          </a:prstGeom>
          <a:noFill/>
          <a:ln w="63500">
            <a:solidFill>
              <a:srgbClr val="0098E0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8140446" y="5029200"/>
            <a:ext cx="6494526" cy="1417320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21" name="Text 17"/>
          <p:cNvSpPr/>
          <p:nvPr/>
        </p:nvSpPr>
        <p:spPr>
          <a:xfrm>
            <a:off x="8277606" y="5029200"/>
            <a:ext cx="622020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Migration</a:t>
            </a:r>
            <a:endParaRPr lang="en-US" sz="2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scheduler</a:t>
            </a:r>
            <a:endParaRPr lang="en-US" sz="2100" dirty="0"/>
          </a:p>
        </p:txBody>
      </p:sp>
      <p:sp>
        <p:nvSpPr>
          <p:cNvPr id="22" name="Shape 18"/>
          <p:cNvSpPr/>
          <p:nvPr/>
        </p:nvSpPr>
        <p:spPr>
          <a:xfrm>
            <a:off x="14744700" y="5737860"/>
            <a:ext cx="786384" cy="0"/>
          </a:xfrm>
          <a:prstGeom prst="line">
            <a:avLst/>
          </a:prstGeom>
          <a:noFill/>
          <a:ln w="63500">
            <a:solidFill>
              <a:srgbClr val="0098E0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15640812" y="5029200"/>
            <a:ext cx="6494526" cy="1417320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24" name="Text 20"/>
          <p:cNvSpPr/>
          <p:nvPr/>
        </p:nvSpPr>
        <p:spPr>
          <a:xfrm>
            <a:off x="15777972" y="5029200"/>
            <a:ext cx="622020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Price each</a:t>
            </a:r>
            <a:endParaRPr lang="en-US" sz="2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modeling layer</a:t>
            </a:r>
            <a:endParaRPr lang="en-US" sz="2100" dirty="0"/>
          </a:p>
        </p:txBody>
      </p:sp>
      <p:sp>
        <p:nvSpPr>
          <p:cNvPr id="25" name="Shape 21"/>
          <p:cNvSpPr/>
          <p:nvPr/>
        </p:nvSpPr>
        <p:spPr>
          <a:xfrm>
            <a:off x="22245066" y="5737860"/>
            <a:ext cx="786384" cy="0"/>
          </a:xfrm>
          <a:prstGeom prst="line">
            <a:avLst/>
          </a:prstGeom>
          <a:noFill/>
          <a:ln w="63500">
            <a:solidFill>
              <a:srgbClr val="0098E0"/>
            </a:solidFill>
            <a:prstDash val="solid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23141178" y="5029200"/>
            <a:ext cx="6494526" cy="1417320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27" name="Text 23"/>
          <p:cNvSpPr/>
          <p:nvPr/>
        </p:nvSpPr>
        <p:spPr>
          <a:xfrm>
            <a:off x="23278338" y="5029200"/>
            <a:ext cx="622020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Decision</a:t>
            </a:r>
            <a:endParaRPr lang="en-US" sz="2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rule</a:t>
            </a:r>
            <a:endParaRPr lang="en-US" sz="2100" dirty="0"/>
          </a:p>
        </p:txBody>
      </p:sp>
      <p:sp>
        <p:nvSpPr>
          <p:cNvPr id="28" name="Text 24"/>
          <p:cNvSpPr/>
          <p:nvPr/>
        </p:nvSpPr>
        <p:spPr>
          <a:xfrm>
            <a:off x="640080" y="6903720"/>
            <a:ext cx="28995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Active inter-region migration cuts worst-case emissions </a:t>
            </a:r>
            <a:pPr algn="ctr" indent="0" marL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8A5C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4.0 to 9.9%</a:t>
            </a:r>
            <a:pPr algn="ctr" indent="0" marL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; added </a:t>
            </a:r>
            <a:pPr algn="ctr" indent="0" marL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sophistication</a:t>
            </a:r>
            <a:pPr algn="ctr" indent="0" marL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(joint covariance, robustness) does not pay until a severity </a:t>
            </a:r>
            <a:pPr algn="ctr" indent="0" marL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real grids never reach</a:t>
            </a:r>
            <a:pPr algn="ctr" indent="0" marL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.</a:t>
            </a:r>
            <a:endParaRPr lang="en-US" sz="2700" dirty="0"/>
          </a:p>
        </p:txBody>
      </p:sp>
      <p:sp>
        <p:nvSpPr>
          <p:cNvPr id="29" name="Shape 25"/>
          <p:cNvSpPr/>
          <p:nvPr/>
        </p:nvSpPr>
        <p:spPr>
          <a:xfrm>
            <a:off x="640080" y="7680960"/>
            <a:ext cx="6974586" cy="402336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88900" dist="25400" dir="8100000">
              <a:srgbClr val="AEB7C6">
                <a:alpha val="22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40080" y="7680960"/>
            <a:ext cx="6974586" cy="118872"/>
          </a:xfrm>
          <a:prstGeom prst="rect">
            <a:avLst/>
          </a:prstGeom>
          <a:solidFill>
            <a:srgbClr val="0098E0"/>
          </a:solidFill>
          <a:ln/>
        </p:spPr>
      </p:sp>
      <p:sp>
        <p:nvSpPr>
          <p:cNvPr id="31" name="Text 27"/>
          <p:cNvSpPr/>
          <p:nvPr/>
        </p:nvSpPr>
        <p:spPr>
          <a:xfrm>
            <a:off x="822960" y="7991856"/>
            <a:ext cx="66088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800" b="1" spc="250" kern="0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SCREEN</a:t>
            </a:r>
            <a:endParaRPr lang="en-US" sz="1800" dirty="0"/>
          </a:p>
        </p:txBody>
      </p:sp>
      <p:sp>
        <p:nvSpPr>
          <p:cNvPr id="32" name="Shape 28"/>
          <p:cNvSpPr/>
          <p:nvPr/>
        </p:nvSpPr>
        <p:spPr>
          <a:xfrm>
            <a:off x="3560445" y="8531352"/>
            <a:ext cx="164592" cy="164592"/>
          </a:xfrm>
          <a:prstGeom prst="ellipse">
            <a:avLst/>
          </a:prstGeom>
          <a:solidFill>
            <a:srgbClr val="00338D"/>
          </a:solidFill>
          <a:ln/>
        </p:spPr>
      </p:sp>
      <p:sp>
        <p:nvSpPr>
          <p:cNvPr id="33" name="Shape 29"/>
          <p:cNvSpPr/>
          <p:nvPr/>
        </p:nvSpPr>
        <p:spPr>
          <a:xfrm>
            <a:off x="4529709" y="8531352"/>
            <a:ext cx="164592" cy="164592"/>
          </a:xfrm>
          <a:prstGeom prst="ellipse">
            <a:avLst/>
          </a:prstGeom>
          <a:solidFill>
            <a:srgbClr val="00338D"/>
          </a:solidFill>
          <a:ln/>
        </p:spPr>
      </p:sp>
      <p:sp>
        <p:nvSpPr>
          <p:cNvPr id="34" name="Shape 30"/>
          <p:cNvSpPr/>
          <p:nvPr/>
        </p:nvSpPr>
        <p:spPr>
          <a:xfrm>
            <a:off x="3725037" y="8613648"/>
            <a:ext cx="804672" cy="0"/>
          </a:xfrm>
          <a:prstGeom prst="line">
            <a:avLst/>
          </a:prstGeom>
          <a:noFill/>
          <a:ln w="44450">
            <a:solidFill>
              <a:srgbClr val="0098E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731520" y="8759952"/>
            <a:ext cx="679170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62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~0%</a:t>
            </a:r>
            <a:endParaRPr lang="en-US" sz="6200" dirty="0"/>
          </a:p>
        </p:txBody>
      </p:sp>
      <p:sp>
        <p:nvSpPr>
          <p:cNvPr id="36" name="Shape 32"/>
          <p:cNvSpPr/>
          <p:nvPr/>
        </p:nvSpPr>
        <p:spPr>
          <a:xfrm>
            <a:off x="3624453" y="10296144"/>
            <a:ext cx="1005840" cy="41148"/>
          </a:xfrm>
          <a:prstGeom prst="rect">
            <a:avLst/>
          </a:prstGeom>
          <a:solidFill>
            <a:srgbClr val="C9D2E0"/>
          </a:solidFill>
          <a:ln/>
        </p:spPr>
      </p:sp>
      <p:sp>
        <p:nvSpPr>
          <p:cNvPr id="37" name="Text 33"/>
          <p:cNvSpPr/>
          <p:nvPr/>
        </p:nvSpPr>
        <p:spPr>
          <a:xfrm>
            <a:off x="868680" y="10442448"/>
            <a:ext cx="651738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value added by joint</a:t>
            </a:r>
            <a:endParaRPr lang="en-US" sz="2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covariance and copulas</a:t>
            </a:r>
            <a:endParaRPr lang="en-US" sz="2000" dirty="0"/>
          </a:p>
        </p:txBody>
      </p:sp>
      <p:sp>
        <p:nvSpPr>
          <p:cNvPr id="38" name="Shape 34"/>
          <p:cNvSpPr/>
          <p:nvPr/>
        </p:nvSpPr>
        <p:spPr>
          <a:xfrm>
            <a:off x="7980426" y="7680960"/>
            <a:ext cx="6974586" cy="402336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88900" dist="25400" dir="8100000">
              <a:srgbClr val="AEB7C6">
                <a:alpha val="22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7980426" y="7680960"/>
            <a:ext cx="6974586" cy="118872"/>
          </a:xfrm>
          <a:prstGeom prst="rect">
            <a:avLst/>
          </a:prstGeom>
          <a:solidFill>
            <a:srgbClr val="0098E0"/>
          </a:solidFill>
          <a:ln/>
        </p:spPr>
      </p:sp>
      <p:sp>
        <p:nvSpPr>
          <p:cNvPr id="40" name="Text 36"/>
          <p:cNvSpPr/>
          <p:nvPr/>
        </p:nvSpPr>
        <p:spPr>
          <a:xfrm>
            <a:off x="8163306" y="7991856"/>
            <a:ext cx="66088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800" b="1" spc="250" kern="0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PRICE</a:t>
            </a:r>
            <a:endParaRPr lang="en-US" sz="1800" dirty="0"/>
          </a:p>
        </p:txBody>
      </p:sp>
      <p:sp>
        <p:nvSpPr>
          <p:cNvPr id="41" name="Shape 37"/>
          <p:cNvSpPr/>
          <p:nvPr/>
        </p:nvSpPr>
        <p:spPr>
          <a:xfrm>
            <a:off x="10919079" y="8613648"/>
            <a:ext cx="1097280" cy="0"/>
          </a:xfrm>
          <a:prstGeom prst="line">
            <a:avLst/>
          </a:prstGeom>
          <a:noFill/>
          <a:ln w="50800">
            <a:solidFill>
              <a:srgbClr val="0098E0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8071866" y="8759952"/>
            <a:ext cx="679170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62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M* = 3</a:t>
            </a:r>
            <a:endParaRPr lang="en-US" sz="6200" dirty="0"/>
          </a:p>
        </p:txBody>
      </p:sp>
      <p:sp>
        <p:nvSpPr>
          <p:cNvPr id="43" name="Shape 39"/>
          <p:cNvSpPr/>
          <p:nvPr/>
        </p:nvSpPr>
        <p:spPr>
          <a:xfrm>
            <a:off x="10964799" y="10296144"/>
            <a:ext cx="1005840" cy="41148"/>
          </a:xfrm>
          <a:prstGeom prst="rect">
            <a:avLst/>
          </a:prstGeom>
          <a:solidFill>
            <a:srgbClr val="C9D2E0"/>
          </a:solidFill>
          <a:ln/>
        </p:spPr>
      </p:sp>
      <p:sp>
        <p:nvSpPr>
          <p:cNvPr id="44" name="Text 40"/>
          <p:cNvSpPr/>
          <p:nvPr/>
        </p:nvSpPr>
        <p:spPr>
          <a:xfrm>
            <a:off x="8209026" y="10442448"/>
            <a:ext cx="651738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severity where robustness</a:t>
            </a:r>
            <a:endParaRPr lang="en-US" sz="2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finally starts to pay</a:t>
            </a:r>
            <a:endParaRPr lang="en-US" sz="2000" dirty="0"/>
          </a:p>
        </p:txBody>
      </p:sp>
      <p:sp>
        <p:nvSpPr>
          <p:cNvPr id="45" name="Shape 41"/>
          <p:cNvSpPr/>
          <p:nvPr/>
        </p:nvSpPr>
        <p:spPr>
          <a:xfrm>
            <a:off x="15320772" y="7680960"/>
            <a:ext cx="6974586" cy="402336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88900" dist="25400" dir="8100000">
              <a:srgbClr val="AEB7C6">
                <a:alpha val="22000"/>
              </a:srgbClr>
            </a:outerShdw>
          </a:effectLst>
        </p:spPr>
      </p:sp>
      <p:sp>
        <p:nvSpPr>
          <p:cNvPr id="46" name="Shape 42"/>
          <p:cNvSpPr/>
          <p:nvPr/>
        </p:nvSpPr>
        <p:spPr>
          <a:xfrm>
            <a:off x="15320772" y="7680960"/>
            <a:ext cx="6974586" cy="118872"/>
          </a:xfrm>
          <a:prstGeom prst="rect">
            <a:avLst/>
          </a:prstGeom>
          <a:solidFill>
            <a:srgbClr val="0098E0"/>
          </a:solidFill>
          <a:ln/>
        </p:spPr>
      </p:sp>
      <p:sp>
        <p:nvSpPr>
          <p:cNvPr id="47" name="Text 43"/>
          <p:cNvSpPr/>
          <p:nvPr/>
        </p:nvSpPr>
        <p:spPr>
          <a:xfrm>
            <a:off x="15503652" y="7991856"/>
            <a:ext cx="66088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800" b="1" spc="250" kern="0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LIMIT</a:t>
            </a:r>
            <a:endParaRPr lang="en-US" sz="1800" dirty="0"/>
          </a:p>
        </p:txBody>
      </p:sp>
      <p:sp>
        <p:nvSpPr>
          <p:cNvPr id="48" name="Shape 44"/>
          <p:cNvSpPr/>
          <p:nvPr/>
        </p:nvSpPr>
        <p:spPr>
          <a:xfrm>
            <a:off x="18808065" y="8759952"/>
            <a:ext cx="0" cy="-310896"/>
          </a:xfrm>
          <a:prstGeom prst="line">
            <a:avLst/>
          </a:prstGeom>
          <a:noFill/>
          <a:ln w="57150">
            <a:solidFill>
              <a:srgbClr val="0098E0"/>
            </a:solidFill>
            <a:prstDash val="solid"/>
            <a:tailEnd type="triangle"/>
          </a:ln>
        </p:spPr>
      </p:sp>
      <p:sp>
        <p:nvSpPr>
          <p:cNvPr id="49" name="Text 45"/>
          <p:cNvSpPr/>
          <p:nvPr/>
        </p:nvSpPr>
        <p:spPr>
          <a:xfrm>
            <a:off x="15412212" y="8759952"/>
            <a:ext cx="679170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62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 / 17</a:t>
            </a:r>
            <a:endParaRPr lang="en-US" sz="6200" dirty="0"/>
          </a:p>
        </p:txBody>
      </p:sp>
      <p:sp>
        <p:nvSpPr>
          <p:cNvPr id="50" name="Shape 46"/>
          <p:cNvSpPr/>
          <p:nvPr/>
        </p:nvSpPr>
        <p:spPr>
          <a:xfrm>
            <a:off x="18305145" y="10296144"/>
            <a:ext cx="1005840" cy="41148"/>
          </a:xfrm>
          <a:prstGeom prst="rect">
            <a:avLst/>
          </a:prstGeom>
          <a:solidFill>
            <a:srgbClr val="C9D2E0"/>
          </a:solidFill>
          <a:ln/>
        </p:spPr>
      </p:sp>
      <p:sp>
        <p:nvSpPr>
          <p:cNvPr id="51" name="Text 47"/>
          <p:cNvSpPr/>
          <p:nvPr/>
        </p:nvSpPr>
        <p:spPr>
          <a:xfrm>
            <a:off x="15549372" y="10442448"/>
            <a:ext cx="651738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real grids that reach the</a:t>
            </a:r>
            <a:endParaRPr lang="en-US" sz="2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robustness threshold</a:t>
            </a:r>
            <a:endParaRPr lang="en-US" sz="2000" dirty="0"/>
          </a:p>
        </p:txBody>
      </p:sp>
      <p:sp>
        <p:nvSpPr>
          <p:cNvPr id="52" name="Shape 48"/>
          <p:cNvSpPr/>
          <p:nvPr/>
        </p:nvSpPr>
        <p:spPr>
          <a:xfrm>
            <a:off x="22661118" y="7680960"/>
            <a:ext cx="6974586" cy="4023360"/>
          </a:xfrm>
          <a:prstGeom prst="rect">
            <a:avLst/>
          </a:prstGeom>
          <a:solidFill>
            <a:srgbClr val="FAF1DF"/>
          </a:solidFill>
          <a:ln/>
          <a:effectLst>
            <a:outerShdw sx="100000" sy="100000" kx="0" ky="0" algn="bl" rotWithShape="0" blurRad="88900" dist="25400" dir="8100000">
              <a:srgbClr val="AEB7C6">
                <a:alpha val="22000"/>
              </a:srgbClr>
            </a:outerShdw>
          </a:effectLst>
        </p:spPr>
      </p:sp>
      <p:sp>
        <p:nvSpPr>
          <p:cNvPr id="53" name="Shape 49"/>
          <p:cNvSpPr/>
          <p:nvPr/>
        </p:nvSpPr>
        <p:spPr>
          <a:xfrm>
            <a:off x="22661118" y="7680960"/>
            <a:ext cx="6974586" cy="20116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4" name="Text 50"/>
          <p:cNvSpPr/>
          <p:nvPr/>
        </p:nvSpPr>
        <p:spPr>
          <a:xfrm>
            <a:off x="22843998" y="7991856"/>
            <a:ext cx="66088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800" b="1" spc="250" kern="0" dirty="0">
                <a:solidFill>
                  <a:srgbClr val="8A5C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LEVER</a:t>
            </a:r>
            <a:endParaRPr lang="en-US" sz="1800" dirty="0"/>
          </a:p>
        </p:txBody>
      </p:sp>
      <p:sp>
        <p:nvSpPr>
          <p:cNvPr id="55" name="Shape 51"/>
          <p:cNvSpPr/>
          <p:nvPr/>
        </p:nvSpPr>
        <p:spPr>
          <a:xfrm>
            <a:off x="25599771" y="8613648"/>
            <a:ext cx="1097280" cy="0"/>
          </a:xfrm>
          <a:prstGeom prst="line">
            <a:avLst/>
          </a:prstGeom>
          <a:noFill/>
          <a:ln w="57150">
            <a:solidFill>
              <a:srgbClr val="8A5C16"/>
            </a:solidFill>
            <a:prstDash val="solid"/>
            <a:tailEnd type="triangle"/>
          </a:ln>
        </p:spPr>
      </p:sp>
      <p:sp>
        <p:nvSpPr>
          <p:cNvPr id="56" name="Text 52"/>
          <p:cNvSpPr/>
          <p:nvPr/>
        </p:nvSpPr>
        <p:spPr>
          <a:xfrm>
            <a:off x="22752558" y="8759952"/>
            <a:ext cx="679170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7200" b="1" dirty="0">
                <a:solidFill>
                  <a:srgbClr val="8A5C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4-10%</a:t>
            </a:r>
            <a:endParaRPr lang="en-US" sz="7200" dirty="0"/>
          </a:p>
        </p:txBody>
      </p:sp>
      <p:sp>
        <p:nvSpPr>
          <p:cNvPr id="57" name="Shape 53"/>
          <p:cNvSpPr/>
          <p:nvPr/>
        </p:nvSpPr>
        <p:spPr>
          <a:xfrm>
            <a:off x="25645491" y="10296144"/>
            <a:ext cx="100584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8" name="Text 54"/>
          <p:cNvSpPr/>
          <p:nvPr/>
        </p:nvSpPr>
        <p:spPr>
          <a:xfrm>
            <a:off x="22889718" y="10442448"/>
            <a:ext cx="651738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8A5C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worst-case (CVaR) emissions cut</a:t>
            </a:r>
            <a:endParaRPr lang="en-US" sz="2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8A5C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by active inter-region migration</a:t>
            </a:r>
            <a:endParaRPr lang="en-US" sz="2000" dirty="0"/>
          </a:p>
        </p:txBody>
      </p:sp>
      <p:sp>
        <p:nvSpPr>
          <p:cNvPr id="59" name="Text 55"/>
          <p:cNvSpPr/>
          <p:nvPr/>
        </p:nvSpPr>
        <p:spPr>
          <a:xfrm>
            <a:off x="640080" y="12252960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b="1" spc="250" kern="0" dirty="0">
                <a:solidFill>
                  <a:srgbClr val="8A5C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BACKGROUND</a:t>
            </a:r>
            <a:endParaRPr lang="en-US" sz="1900" dirty="0"/>
          </a:p>
        </p:txBody>
      </p:sp>
      <p:sp>
        <p:nvSpPr>
          <p:cNvPr id="60" name="Shape 56"/>
          <p:cNvSpPr/>
          <p:nvPr/>
        </p:nvSpPr>
        <p:spPr>
          <a:xfrm>
            <a:off x="640080" y="12710160"/>
            <a:ext cx="694944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1" name="Text 57"/>
          <p:cNvSpPr/>
          <p:nvPr/>
        </p:nvSpPr>
        <p:spPr>
          <a:xfrm>
            <a:off x="640080" y="12838176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promise</a:t>
            </a:r>
            <a:endParaRPr lang="en-US" sz="2200" dirty="0"/>
          </a:p>
        </p:txBody>
      </p:sp>
      <p:sp>
        <p:nvSpPr>
          <p:cNvPr id="62" name="Text 58"/>
          <p:cNvSpPr/>
          <p:nvPr/>
        </p:nvSpPr>
        <p:spPr>
          <a:xfrm>
            <a:off x="640080" y="13551408"/>
            <a:ext cx="6949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Modern compute is </a:t>
            </a:r>
            <a:pPr algn="l" indent="0" marL="0">
              <a:lnSpc>
                <a:spcPct val="116000"/>
              </a:lnSpc>
              <a:buNone/>
            </a:pPr>
            <a:r>
              <a:rPr lang="en-US" sz="18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flexible</a:t>
            </a:r>
            <a:pPr algn="l"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: training and batch jobs shift in time and across data-center sites, so deferring work to </a:t>
            </a:r>
            <a:pPr algn="l" indent="0" marL="0">
              <a:lnSpc>
                <a:spcPct val="116000"/>
              </a:lnSpc>
              <a:buNone/>
            </a:pPr>
            <a:r>
              <a:rPr lang="en-US" sz="18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cleaner hours and regions</a:t>
            </a:r>
            <a:pPr algn="l"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lowers operational carbon. Across 2021 to 2025 neighbouring grids move strongly together, so spatial structure looks like free signal a robust scheduler could turn into savings. </a:t>
            </a:r>
            <a:pPr algn="l" indent="0" marL="0">
              <a:lnSpc>
                <a:spcPct val="116000"/>
              </a:lnSpc>
              <a:buNone/>
            </a:pPr>
            <a:r>
              <a:rPr lang="en-US" sz="18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Question: can measured cross-region correlation actually lower out-of-sample carbon?</a:t>
            </a:r>
            <a:endParaRPr lang="en-US" sz="1800" dirty="0"/>
          </a:p>
        </p:txBody>
      </p:sp>
      <p:sp>
        <p:nvSpPr>
          <p:cNvPr id="63" name="Text 59"/>
          <p:cNvSpPr/>
          <p:nvPr/>
        </p:nvSpPr>
        <p:spPr>
          <a:xfrm>
            <a:off x="640080" y="15883128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b="1" spc="250" kern="0" dirty="0">
                <a:solidFill>
                  <a:srgbClr val="8A5C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 &amp; SETUP</a:t>
            </a:r>
            <a:endParaRPr lang="en-US" sz="1900" dirty="0"/>
          </a:p>
        </p:txBody>
      </p:sp>
      <p:sp>
        <p:nvSpPr>
          <p:cNvPr id="64" name="Shape 60"/>
          <p:cNvSpPr/>
          <p:nvPr/>
        </p:nvSpPr>
        <p:spPr>
          <a:xfrm>
            <a:off x="640080" y="16340328"/>
            <a:ext cx="694944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5" name="Text 61"/>
          <p:cNvSpPr/>
          <p:nvPr/>
        </p:nvSpPr>
        <p:spPr>
          <a:xfrm>
            <a:off x="640080" y="16468344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What goes in</a:t>
            </a:r>
            <a:endParaRPr lang="en-US" sz="2200" dirty="0"/>
          </a:p>
        </p:txBody>
      </p:sp>
      <p:sp>
        <p:nvSpPr>
          <p:cNvPr id="66" name="Text 62"/>
          <p:cNvSpPr/>
          <p:nvPr/>
        </p:nvSpPr>
        <p:spPr>
          <a:xfrm>
            <a:off x="640080" y="17181576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Electricity Maps</a:t>
            </a:r>
            <a:pPr algn="l"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hourly carbon intensity, 2021 to 2025 (</a:t>
            </a:r>
            <a:pPr algn="l"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43,824 obs/zone</a:t>
            </a:r>
            <a:pPr algn="l"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); train 2021 to 2024, single </a:t>
            </a:r>
            <a:pPr algn="l"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locked 2025 test</a:t>
            </a:r>
            <a:pPr algn="l"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. Three US and Canadian grids spanning weak to strong residual correlation (up to 0.78). Facility: R zones × 24 h, 50 MW cap, </a:t>
            </a:r>
            <a:pPr algn="l"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80% utilization</a:t>
            </a:r>
            <a:pPr algn="l"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, 15 MW/h ramp, deferral window 0 to 7 h, inflexible fraction 30 to 75%.</a:t>
            </a:r>
            <a:endParaRPr lang="en-US" sz="1700" dirty="0"/>
          </a:p>
        </p:txBody>
      </p:sp>
      <p:sp>
        <p:nvSpPr>
          <p:cNvPr id="67" name="Text 63"/>
          <p:cNvSpPr/>
          <p:nvPr/>
        </p:nvSpPr>
        <p:spPr>
          <a:xfrm>
            <a:off x="640080" y="19604736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b="1" spc="250" kern="0" dirty="0">
                <a:solidFill>
                  <a:srgbClr val="8A5C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METHOD</a:t>
            </a:r>
            <a:endParaRPr lang="en-US" sz="1900" dirty="0"/>
          </a:p>
        </p:txBody>
      </p:sp>
      <p:sp>
        <p:nvSpPr>
          <p:cNvPr id="68" name="Shape 64"/>
          <p:cNvSpPr/>
          <p:nvPr/>
        </p:nvSpPr>
        <p:spPr>
          <a:xfrm>
            <a:off x="640080" y="20061936"/>
            <a:ext cx="694944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9" name="Text 65"/>
          <p:cNvSpPr/>
          <p:nvPr/>
        </p:nvSpPr>
        <p:spPr>
          <a:xfrm>
            <a:off x="640080" y="2018995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How it is built</a:t>
            </a:r>
            <a:endParaRPr lang="en-US" sz="2200" dirty="0"/>
          </a:p>
        </p:txBody>
      </p:sp>
      <p:sp>
        <p:nvSpPr>
          <p:cNvPr id="70" name="Text 66"/>
          <p:cNvSpPr/>
          <p:nvPr/>
        </p:nvSpPr>
        <p:spPr>
          <a:xfrm>
            <a:off x="640080" y="20903184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</a:t>
            </a:r>
            <a:pPr algn="l"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Mahalanobis Wasserstein DRO</a:t>
            </a:r>
            <a:pPr algn="l"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, a second-order cone program in </a:t>
            </a:r>
            <a:pPr algn="l"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CVXPY (Clarabel/HiGHS)</a:t>
            </a:r>
            <a:pPr algn="l"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, minimizing </a:t>
            </a:r>
            <a:pPr algn="l"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CVaR</a:t>
            </a:r>
            <a:pPr algn="l"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of carbon cost (</a:t>
            </a:r>
            <a:pPr algn="l" indent="0" marL="0">
              <a:lnSpc>
                <a:spcPct val="116000"/>
              </a:lnSpc>
              <a:buNone/>
            </a:pPr>
            <a:r>
              <a:rPr lang="en-US" sz="1700" i="1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Rockafellar and Uryasev 2000</a:t>
            </a:r>
            <a:pPr algn="l"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):</a:t>
            </a:r>
            <a:endParaRPr lang="en-US" sz="1700" dirty="0"/>
          </a:p>
        </p:txBody>
      </p:sp>
      <p:pic>
        <p:nvPicPr>
          <p:cNvPr id="71" name="Image 2" descr="figs/dro_equatio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22320504"/>
            <a:ext cx="6858000" cy="2433793"/>
          </a:xfrm>
          <a:prstGeom prst="rect">
            <a:avLst/>
          </a:prstGeom>
        </p:spPr>
      </p:pic>
      <p:sp>
        <p:nvSpPr>
          <p:cNvPr id="72" name="Text 67"/>
          <p:cNvSpPr/>
          <p:nvPr/>
        </p:nvSpPr>
        <p:spPr>
          <a:xfrm>
            <a:off x="640080" y="24909745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Cross-region value enters </a:t>
            </a:r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only through the off-diagonal blocks of Σ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; the pre-committed </a:t>
            </a:r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shuffled-marginals test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zeroes exactly those blocks. We add copula and tail checks, mean-leveling tests, and walk-forward validation to 2025.</a:t>
            </a:r>
            <a:endParaRPr lang="en-US" sz="1700" dirty="0"/>
          </a:p>
        </p:txBody>
      </p:sp>
      <p:sp>
        <p:nvSpPr>
          <p:cNvPr id="73" name="Text 68"/>
          <p:cNvSpPr/>
          <p:nvPr/>
        </p:nvSpPr>
        <p:spPr>
          <a:xfrm>
            <a:off x="640080" y="26647105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b="1" spc="250" kern="0" dirty="0">
                <a:solidFill>
                  <a:srgbClr val="8A5C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RIGOR</a:t>
            </a:r>
            <a:endParaRPr lang="en-US" sz="1900" dirty="0"/>
          </a:p>
        </p:txBody>
      </p:sp>
      <p:sp>
        <p:nvSpPr>
          <p:cNvPr id="74" name="Shape 69"/>
          <p:cNvSpPr/>
          <p:nvPr/>
        </p:nvSpPr>
        <p:spPr>
          <a:xfrm>
            <a:off x="640080" y="27104305"/>
            <a:ext cx="694944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5" name="Text 70"/>
          <p:cNvSpPr/>
          <p:nvPr/>
        </p:nvSpPr>
        <p:spPr>
          <a:xfrm>
            <a:off x="640080" y="27232321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you can trust a null</a:t>
            </a:r>
            <a:endParaRPr lang="en-US" sz="2200" dirty="0"/>
          </a:p>
        </p:txBody>
      </p:sp>
      <p:sp>
        <p:nvSpPr>
          <p:cNvPr id="76" name="Text 71"/>
          <p:cNvSpPr/>
          <p:nvPr/>
        </p:nvSpPr>
        <p:spPr>
          <a:xfrm>
            <a:off x="658368" y="27945553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b="1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202</a:t>
            </a:r>
            <a:endParaRPr lang="en-US" sz="3300" dirty="0"/>
          </a:p>
        </p:txBody>
      </p:sp>
      <p:sp>
        <p:nvSpPr>
          <p:cNvPr id="77" name="Text 72"/>
          <p:cNvSpPr/>
          <p:nvPr/>
        </p:nvSpPr>
        <p:spPr>
          <a:xfrm>
            <a:off x="2148840" y="27945553"/>
            <a:ext cx="5440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unit tests, CI on every push</a:t>
            </a:r>
            <a:endParaRPr lang="en-US" sz="1600" dirty="0"/>
          </a:p>
        </p:txBody>
      </p:sp>
      <p:sp>
        <p:nvSpPr>
          <p:cNvPr id="78" name="Shape 73"/>
          <p:cNvSpPr/>
          <p:nvPr/>
        </p:nvSpPr>
        <p:spPr>
          <a:xfrm>
            <a:off x="640080" y="28658785"/>
            <a:ext cx="6949440" cy="10973"/>
          </a:xfrm>
          <a:prstGeom prst="rect">
            <a:avLst/>
          </a:prstGeom>
          <a:solidFill>
            <a:srgbClr val="C9D2E0"/>
          </a:solidFill>
          <a:ln/>
        </p:spPr>
      </p:sp>
      <p:sp>
        <p:nvSpPr>
          <p:cNvPr id="79" name="Text 74"/>
          <p:cNvSpPr/>
          <p:nvPr/>
        </p:nvSpPr>
        <p:spPr>
          <a:xfrm>
            <a:off x="658368" y="28695361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b="1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27</a:t>
            </a:r>
            <a:endParaRPr lang="en-US" sz="3300" dirty="0"/>
          </a:p>
        </p:txBody>
      </p:sp>
      <p:sp>
        <p:nvSpPr>
          <p:cNvPr id="80" name="Text 75"/>
          <p:cNvSpPr/>
          <p:nvPr/>
        </p:nvSpPr>
        <p:spPr>
          <a:xfrm>
            <a:off x="2148840" y="28695361"/>
            <a:ext cx="5440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cells where TOST confirms a null effect</a:t>
            </a:r>
            <a:endParaRPr lang="en-US" sz="1600" dirty="0"/>
          </a:p>
        </p:txBody>
      </p:sp>
      <p:sp>
        <p:nvSpPr>
          <p:cNvPr id="81" name="Shape 76"/>
          <p:cNvSpPr/>
          <p:nvPr/>
        </p:nvSpPr>
        <p:spPr>
          <a:xfrm>
            <a:off x="640080" y="29408593"/>
            <a:ext cx="6949440" cy="10973"/>
          </a:xfrm>
          <a:prstGeom prst="rect">
            <a:avLst/>
          </a:prstGeom>
          <a:solidFill>
            <a:srgbClr val="C9D2E0"/>
          </a:solidFill>
          <a:ln/>
        </p:spPr>
      </p:sp>
      <p:sp>
        <p:nvSpPr>
          <p:cNvPr id="82" name="Text 77"/>
          <p:cNvSpPr/>
          <p:nvPr/>
        </p:nvSpPr>
        <p:spPr>
          <a:xfrm>
            <a:off x="658368" y="29445169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b="1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3300" dirty="0"/>
          </a:p>
        </p:txBody>
      </p:sp>
      <p:sp>
        <p:nvSpPr>
          <p:cNvPr id="83" name="Text 78"/>
          <p:cNvSpPr/>
          <p:nvPr/>
        </p:nvSpPr>
        <p:spPr>
          <a:xfrm>
            <a:off x="2148840" y="29445169"/>
            <a:ext cx="5440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mean-dominance theorem bounding the gap</a:t>
            </a:r>
            <a:endParaRPr lang="en-US" sz="1600" dirty="0"/>
          </a:p>
        </p:txBody>
      </p:sp>
      <p:sp>
        <p:nvSpPr>
          <p:cNvPr id="84" name="Text 79"/>
          <p:cNvSpPr/>
          <p:nvPr/>
        </p:nvSpPr>
        <p:spPr>
          <a:xfrm>
            <a:off x="8092440" y="12252960"/>
            <a:ext cx="684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00" b="1" spc="200" kern="0" dirty="0">
                <a:solidFill>
                  <a:srgbClr val="8A5C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STEP 01   </a:t>
            </a:r>
            <a:pPr algn="l" indent="0" marL="0">
              <a:lnSpc>
                <a:spcPct val="118000"/>
              </a:lnSpc>
              <a:buNone/>
            </a:pPr>
            <a:r>
              <a:rPr lang="en-US" sz="2200" b="1" spc="200" kern="0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PREMISE</a:t>
            </a:r>
            <a:endParaRPr lang="en-US" sz="2200" dirty="0"/>
          </a:p>
        </p:txBody>
      </p:sp>
      <p:sp>
        <p:nvSpPr>
          <p:cNvPr id="85" name="Text 80"/>
          <p:cNvSpPr/>
          <p:nvPr/>
        </p:nvSpPr>
        <p:spPr>
          <a:xfrm>
            <a:off x="8092440" y="12765024"/>
            <a:ext cx="68458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spatial signal is real, but does it pay?</a:t>
            </a:r>
            <a:endParaRPr lang="en-US" sz="3300" dirty="0"/>
          </a:p>
        </p:txBody>
      </p:sp>
      <p:sp>
        <p:nvSpPr>
          <p:cNvPr id="86" name="Shape 81"/>
          <p:cNvSpPr/>
          <p:nvPr/>
        </p:nvSpPr>
        <p:spPr>
          <a:xfrm>
            <a:off x="8092440" y="14538960"/>
            <a:ext cx="6845808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7" name="Text 82"/>
          <p:cNvSpPr/>
          <p:nvPr/>
        </p:nvSpPr>
        <p:spPr>
          <a:xfrm>
            <a:off x="8092440" y="14794992"/>
            <a:ext cx="68458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Across 2021 to 2025, de-seasonalized carbon intensity in neighbouring zones moves together. Residual cross-region correlation reaches </a:t>
            </a:r>
            <a:pPr algn="l" indent="0" marL="0">
              <a:lnSpc>
                <a:spcPct val="116000"/>
              </a:lnSpc>
              <a:buNone/>
            </a:pPr>
            <a:r>
              <a:rPr lang="en-US" sz="19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0.78</a:t>
            </a:r>
            <a:pPr algn="l" indent="0" marL="0">
              <a:lnSpc>
                <a:spcPct val="116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in the Western US and 0.73 in the Eastern interconnection. If spatial structure can ever sharpen a robust schedule, this is the regime where it should.</a:t>
            </a:r>
            <a:endParaRPr lang="en-US" sz="1900" dirty="0"/>
          </a:p>
        </p:txBody>
      </p:sp>
      <p:pic>
        <p:nvPicPr>
          <p:cNvPr id="88" name="Image 3" descr="figs/us_regions_map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38160" y="17007840"/>
            <a:ext cx="6754368" cy="4070145"/>
          </a:xfrm>
          <a:prstGeom prst="rect">
            <a:avLst/>
          </a:prstGeom>
        </p:spPr>
      </p:pic>
      <p:sp>
        <p:nvSpPr>
          <p:cNvPr id="89" name="Text 83"/>
          <p:cNvSpPr/>
          <p:nvPr/>
        </p:nvSpPr>
        <p:spPr>
          <a:xfrm>
            <a:off x="8092440" y="21196857"/>
            <a:ext cx="684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5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Three grids span the US and Canada; the </a:t>
            </a:r>
            <a:pPr algn="l" indent="0" marL="0">
              <a:lnSpc>
                <a:spcPct val="102000"/>
              </a:lnSpc>
              <a:buNone/>
            </a:pPr>
            <a:r>
              <a:rPr lang="en-US" sz="1650" b="1" i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Western US zones form a tightly correlated graph</a:t>
            </a:r>
            <a:pPr algn="l" indent="0" marL="0">
              <a:lnSpc>
                <a:spcPct val="102000"/>
              </a:lnSpc>
              <a:buNone/>
            </a:pPr>
            <a:r>
              <a:rPr lang="en-US" sz="165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(up to 0.78).</a:t>
            </a:r>
            <a:endParaRPr lang="en-US" sz="1650" dirty="0"/>
          </a:p>
        </p:txBody>
      </p:sp>
      <p:pic>
        <p:nvPicPr>
          <p:cNvPr id="90" name="Image 4" descr="figs/value_vs_corr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38160" y="21900945"/>
            <a:ext cx="6754368" cy="4325210"/>
          </a:xfrm>
          <a:prstGeom prst="rect">
            <a:avLst/>
          </a:prstGeom>
        </p:spPr>
      </p:pic>
      <p:sp>
        <p:nvSpPr>
          <p:cNvPr id="91" name="Text 84"/>
          <p:cNvSpPr/>
          <p:nvPr/>
        </p:nvSpPr>
        <p:spPr>
          <a:xfrm>
            <a:off x="8092440" y="26363316"/>
            <a:ext cx="684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5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But value does not follow: </a:t>
            </a:r>
            <a:pPr algn="l" indent="0" marL="0">
              <a:lnSpc>
                <a:spcPct val="102000"/>
              </a:lnSpc>
              <a:buNone/>
            </a:pPr>
            <a:r>
              <a:rPr lang="en-US" sz="1650" b="1" i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out-of-sample spatial value stays at zero</a:t>
            </a:r>
            <a:pPr algn="l" indent="0" marL="0">
              <a:lnSpc>
                <a:spcPct val="102000"/>
              </a:lnSpc>
              <a:buNone/>
            </a:pPr>
            <a:r>
              <a:rPr lang="en-US" sz="165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as correlation rises from 0.2 to 0.6.</a:t>
            </a:r>
            <a:endParaRPr lang="en-US" sz="1650" dirty="0"/>
          </a:p>
        </p:txBody>
      </p:sp>
      <p:sp>
        <p:nvSpPr>
          <p:cNvPr id="92" name="Shape 85"/>
          <p:cNvSpPr/>
          <p:nvPr/>
        </p:nvSpPr>
        <p:spPr>
          <a:xfrm>
            <a:off x="8092440" y="27058260"/>
            <a:ext cx="6845808" cy="2751180"/>
          </a:xfrm>
          <a:prstGeom prst="rect">
            <a:avLst/>
          </a:prstGeom>
          <a:solidFill>
            <a:srgbClr val="FFFFFF"/>
          </a:solidFill>
          <a:ln w="17780">
            <a:solidFill>
              <a:srgbClr val="00338D"/>
            </a:solidFill>
            <a:prstDash val="solid"/>
          </a:ln>
        </p:spPr>
      </p:sp>
      <p:sp>
        <p:nvSpPr>
          <p:cNvPr id="93" name="Shape 86"/>
          <p:cNvSpPr/>
          <p:nvPr/>
        </p:nvSpPr>
        <p:spPr>
          <a:xfrm>
            <a:off x="8092440" y="27058260"/>
            <a:ext cx="6845808" cy="566928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94" name="Text 87"/>
          <p:cNvSpPr/>
          <p:nvPr/>
        </p:nvSpPr>
        <p:spPr>
          <a:xfrm>
            <a:off x="8275320" y="27058260"/>
            <a:ext cx="28977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spc="100" kern="0" dirty="0">
                <a:solidFill>
                  <a:srgbClr val="BFD3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WE EXPECTED</a:t>
            </a:r>
            <a:endParaRPr lang="en-US" sz="1500" dirty="0"/>
          </a:p>
        </p:txBody>
      </p:sp>
      <p:sp>
        <p:nvSpPr>
          <p:cNvPr id="95" name="Text 88"/>
          <p:cNvSpPr/>
          <p:nvPr/>
        </p:nvSpPr>
        <p:spPr>
          <a:xfrm>
            <a:off x="11374222" y="27058260"/>
            <a:ext cx="34908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WE FOUND</a:t>
            </a:r>
            <a:endParaRPr lang="en-US" sz="1500" dirty="0"/>
          </a:p>
        </p:txBody>
      </p:sp>
      <p:sp>
        <p:nvSpPr>
          <p:cNvPr id="96" name="Shape 89"/>
          <p:cNvSpPr/>
          <p:nvPr/>
        </p:nvSpPr>
        <p:spPr>
          <a:xfrm>
            <a:off x="11173054" y="27625188"/>
            <a:ext cx="18288" cy="728084"/>
          </a:xfrm>
          <a:prstGeom prst="rect">
            <a:avLst/>
          </a:prstGeom>
          <a:solidFill>
            <a:srgbClr val="C9D2E0"/>
          </a:solidFill>
          <a:ln/>
        </p:spPr>
      </p:sp>
      <p:sp>
        <p:nvSpPr>
          <p:cNvPr id="97" name="Text 90"/>
          <p:cNvSpPr/>
          <p:nvPr/>
        </p:nvSpPr>
        <p:spPr>
          <a:xfrm>
            <a:off x="8275320" y="27625188"/>
            <a:ext cx="2788006" cy="728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Correlation sharpens the schedule</a:t>
            </a:r>
            <a:endParaRPr lang="en-US" sz="1500" dirty="0"/>
          </a:p>
        </p:txBody>
      </p:sp>
      <p:sp>
        <p:nvSpPr>
          <p:cNvPr id="98" name="Text 91"/>
          <p:cNvSpPr/>
          <p:nvPr/>
        </p:nvSpPr>
        <p:spPr>
          <a:xfrm>
            <a:off x="11374222" y="27625188"/>
            <a:ext cx="3417722" cy="728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Spatial value stays </a:t>
            </a:r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~0%</a:t>
            </a:r>
            <a:endParaRPr lang="en-US" sz="1600" dirty="0"/>
          </a:p>
        </p:txBody>
      </p:sp>
      <p:sp>
        <p:nvSpPr>
          <p:cNvPr id="99" name="Shape 92"/>
          <p:cNvSpPr/>
          <p:nvPr/>
        </p:nvSpPr>
        <p:spPr>
          <a:xfrm>
            <a:off x="8092440" y="28353272"/>
            <a:ext cx="6845808" cy="728084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100" name="Shape 93"/>
          <p:cNvSpPr/>
          <p:nvPr/>
        </p:nvSpPr>
        <p:spPr>
          <a:xfrm>
            <a:off x="8092440" y="28353272"/>
            <a:ext cx="6845808" cy="13716"/>
          </a:xfrm>
          <a:prstGeom prst="rect">
            <a:avLst/>
          </a:prstGeom>
          <a:solidFill>
            <a:srgbClr val="C9D2E0"/>
          </a:solidFill>
          <a:ln/>
        </p:spPr>
      </p:sp>
      <p:sp>
        <p:nvSpPr>
          <p:cNvPr id="101" name="Shape 94"/>
          <p:cNvSpPr/>
          <p:nvPr/>
        </p:nvSpPr>
        <p:spPr>
          <a:xfrm>
            <a:off x="11173054" y="28353272"/>
            <a:ext cx="18288" cy="728084"/>
          </a:xfrm>
          <a:prstGeom prst="rect">
            <a:avLst/>
          </a:prstGeom>
          <a:solidFill>
            <a:srgbClr val="C9D2E0"/>
          </a:solidFill>
          <a:ln/>
        </p:spPr>
      </p:sp>
      <p:sp>
        <p:nvSpPr>
          <p:cNvPr id="102" name="Text 95"/>
          <p:cNvSpPr/>
          <p:nvPr/>
        </p:nvSpPr>
        <p:spPr>
          <a:xfrm>
            <a:off x="8275320" y="28353272"/>
            <a:ext cx="2788006" cy="728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Copulas capture the dependence</a:t>
            </a:r>
            <a:endParaRPr lang="en-US" sz="1500" dirty="0"/>
          </a:p>
        </p:txBody>
      </p:sp>
      <p:sp>
        <p:nvSpPr>
          <p:cNvPr id="103" name="Text 96"/>
          <p:cNvSpPr/>
          <p:nvPr/>
        </p:nvSpPr>
        <p:spPr>
          <a:xfrm>
            <a:off x="11374222" y="28353272"/>
            <a:ext cx="3417722" cy="728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Even the maximal copula adds nothing</a:t>
            </a:r>
            <a:endParaRPr lang="en-US" sz="1600" dirty="0"/>
          </a:p>
        </p:txBody>
      </p:sp>
      <p:sp>
        <p:nvSpPr>
          <p:cNvPr id="104" name="Shape 97"/>
          <p:cNvSpPr/>
          <p:nvPr/>
        </p:nvSpPr>
        <p:spPr>
          <a:xfrm>
            <a:off x="8092440" y="29081356"/>
            <a:ext cx="6845808" cy="13716"/>
          </a:xfrm>
          <a:prstGeom prst="rect">
            <a:avLst/>
          </a:prstGeom>
          <a:solidFill>
            <a:srgbClr val="C9D2E0"/>
          </a:solidFill>
          <a:ln/>
        </p:spPr>
      </p:sp>
      <p:sp>
        <p:nvSpPr>
          <p:cNvPr id="105" name="Shape 98"/>
          <p:cNvSpPr/>
          <p:nvPr/>
        </p:nvSpPr>
        <p:spPr>
          <a:xfrm>
            <a:off x="11173054" y="29081356"/>
            <a:ext cx="18288" cy="728084"/>
          </a:xfrm>
          <a:prstGeom prst="rect">
            <a:avLst/>
          </a:prstGeom>
          <a:solidFill>
            <a:srgbClr val="C9D2E0"/>
          </a:solidFill>
          <a:ln/>
        </p:spPr>
      </p:sp>
      <p:sp>
        <p:nvSpPr>
          <p:cNvPr id="106" name="Text 99"/>
          <p:cNvSpPr/>
          <p:nvPr/>
        </p:nvSpPr>
        <p:spPr>
          <a:xfrm>
            <a:off x="8275320" y="29081356"/>
            <a:ext cx="2788006" cy="728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signal is simply absent</a:t>
            </a:r>
            <a:endParaRPr lang="en-US" sz="1500" dirty="0"/>
          </a:p>
        </p:txBody>
      </p:sp>
      <p:sp>
        <p:nvSpPr>
          <p:cNvPr id="107" name="Text 100"/>
          <p:cNvSpPr/>
          <p:nvPr/>
        </p:nvSpPr>
        <p:spPr>
          <a:xfrm>
            <a:off x="11374222" y="29081356"/>
            <a:ext cx="3417722" cy="728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Real, but masked: </a:t>
            </a:r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+1.46%</a:t>
            </a:r>
            <a:endParaRPr lang="en-US" sz="1600" dirty="0"/>
          </a:p>
        </p:txBody>
      </p:sp>
      <p:sp>
        <p:nvSpPr>
          <p:cNvPr id="108" name="Text 101"/>
          <p:cNvSpPr/>
          <p:nvPr/>
        </p:nvSpPr>
        <p:spPr>
          <a:xfrm>
            <a:off x="15441168" y="12252960"/>
            <a:ext cx="684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00" b="1" spc="200" kern="0" dirty="0">
                <a:solidFill>
                  <a:srgbClr val="8A5C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STEP 02   </a:t>
            </a:r>
            <a:pPr algn="l" indent="0" marL="0">
              <a:lnSpc>
                <a:spcPct val="118000"/>
              </a:lnSpc>
              <a:buNone/>
            </a:pPr>
            <a:r>
              <a:rPr lang="en-US" sz="2200" b="1" spc="200" kern="0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SCREEN</a:t>
            </a:r>
            <a:endParaRPr lang="en-US" sz="2200" dirty="0"/>
          </a:p>
        </p:txBody>
      </p:sp>
      <p:sp>
        <p:nvSpPr>
          <p:cNvPr id="109" name="Text 102"/>
          <p:cNvSpPr/>
          <p:nvPr/>
        </p:nvSpPr>
        <p:spPr>
          <a:xfrm>
            <a:off x="15441168" y="12765024"/>
            <a:ext cx="68458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Does passive sophistication pay? No.</a:t>
            </a:r>
            <a:endParaRPr lang="en-US" sz="3300" dirty="0"/>
          </a:p>
        </p:txBody>
      </p:sp>
      <p:sp>
        <p:nvSpPr>
          <p:cNvPr id="110" name="Shape 103"/>
          <p:cNvSpPr/>
          <p:nvPr/>
        </p:nvSpPr>
        <p:spPr>
          <a:xfrm>
            <a:off x="15441168" y="14538960"/>
            <a:ext cx="6845808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1" name="Text 104"/>
          <p:cNvSpPr/>
          <p:nvPr/>
        </p:nvSpPr>
        <p:spPr>
          <a:xfrm>
            <a:off x="15441168" y="14794992"/>
            <a:ext cx="68458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We re-fit the scheduler on the full joint covariance and on a block-diagonal version that erases every cross-region term, then compare out-of-sample CVaR of carbon cost. Across grids and horizons the gap </a:t>
            </a:r>
            <a:pPr algn="l" indent="0" marL="0">
              <a:lnSpc>
                <a:spcPct val="116000"/>
              </a:lnSpc>
              <a:buNone/>
            </a:pPr>
            <a:r>
              <a:rPr lang="en-US" sz="19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stays at zero</a:t>
            </a:r>
            <a:pPr algn="l" indent="0" marL="0">
              <a:lnSpc>
                <a:spcPct val="116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.</a:t>
            </a:r>
            <a:endParaRPr lang="en-US" sz="1900" dirty="0"/>
          </a:p>
        </p:txBody>
      </p:sp>
      <p:sp>
        <p:nvSpPr>
          <p:cNvPr id="112" name="Shape 105"/>
          <p:cNvSpPr/>
          <p:nvPr/>
        </p:nvSpPr>
        <p:spPr>
          <a:xfrm>
            <a:off x="15322296" y="16888968"/>
            <a:ext cx="7083552" cy="4638304"/>
          </a:xfrm>
          <a:prstGeom prst="rect">
            <a:avLst/>
          </a:prstGeom>
          <a:solidFill>
            <a:srgbClr val="FBFCFE"/>
          </a:solidFill>
          <a:ln w="12700">
            <a:solidFill>
              <a:srgbClr val="E2E8F1"/>
            </a:solidFill>
            <a:prstDash val="solid"/>
          </a:ln>
        </p:spPr>
      </p:sp>
      <p:pic>
        <p:nvPicPr>
          <p:cNvPr id="113" name="Image 5" descr="figs/finding_bar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5486888" y="17007840"/>
            <a:ext cx="6754368" cy="4400560"/>
          </a:xfrm>
          <a:prstGeom prst="rect">
            <a:avLst/>
          </a:prstGeom>
        </p:spPr>
      </p:pic>
      <p:sp>
        <p:nvSpPr>
          <p:cNvPr id="114" name="Text 106"/>
          <p:cNvSpPr/>
          <p:nvPr/>
        </p:nvSpPr>
        <p:spPr>
          <a:xfrm>
            <a:off x="15441168" y="21545560"/>
            <a:ext cx="684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5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Real problem versus covariance-only: about zero unless the mean field is removed.</a:t>
            </a:r>
            <a:endParaRPr lang="en-US" sz="1650" dirty="0"/>
          </a:p>
        </p:txBody>
      </p:sp>
      <p:sp>
        <p:nvSpPr>
          <p:cNvPr id="115" name="Shape 107"/>
          <p:cNvSpPr/>
          <p:nvPr/>
        </p:nvSpPr>
        <p:spPr>
          <a:xfrm>
            <a:off x="15322296" y="22130776"/>
            <a:ext cx="7083552" cy="2130596"/>
          </a:xfrm>
          <a:prstGeom prst="rect">
            <a:avLst/>
          </a:prstGeom>
          <a:solidFill>
            <a:srgbClr val="FBFCFE"/>
          </a:solidFill>
          <a:ln w="12700">
            <a:solidFill>
              <a:srgbClr val="E2E8F1"/>
            </a:solidFill>
            <a:prstDash val="solid"/>
          </a:ln>
        </p:spPr>
      </p:sp>
      <p:pic>
        <p:nvPicPr>
          <p:cNvPr id="116" name="Image 6" descr="figs/cv_curve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5486888" y="22249648"/>
            <a:ext cx="6754368" cy="1892852"/>
          </a:xfrm>
          <a:prstGeom prst="rect">
            <a:avLst/>
          </a:prstGeom>
        </p:spPr>
      </p:pic>
      <p:sp>
        <p:nvSpPr>
          <p:cNvPr id="117" name="Text 108"/>
          <p:cNvSpPr/>
          <p:nvPr/>
        </p:nvSpPr>
        <p:spPr>
          <a:xfrm>
            <a:off x="15441168" y="24279660"/>
            <a:ext cx="684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5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Cross-validation picks </a:t>
            </a:r>
            <a:pPr algn="l" indent="0" marL="0">
              <a:lnSpc>
                <a:spcPct val="102000"/>
              </a:lnSpc>
              <a:buNone/>
            </a:pPr>
            <a:r>
              <a:rPr lang="en-US" sz="1650" b="1" i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ε* = 1</a:t>
            </a:r>
            <a:pPr algn="l" indent="0" marL="0">
              <a:lnSpc>
                <a:spcPct val="102000"/>
              </a:lnSpc>
              <a:buNone/>
            </a:pPr>
            <a:r>
              <a:rPr lang="en-US" sz="165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: the optimizer truly robustifies, so the null is real.</a:t>
            </a:r>
            <a:endParaRPr lang="en-US" sz="1650" dirty="0"/>
          </a:p>
        </p:txBody>
      </p:sp>
      <p:sp>
        <p:nvSpPr>
          <p:cNvPr id="118" name="Shape 109"/>
          <p:cNvSpPr/>
          <p:nvPr/>
        </p:nvSpPr>
        <p:spPr>
          <a:xfrm>
            <a:off x="15322296" y="24864876"/>
            <a:ext cx="7083552" cy="2935957"/>
          </a:xfrm>
          <a:prstGeom prst="rect">
            <a:avLst/>
          </a:prstGeom>
          <a:solidFill>
            <a:srgbClr val="FBFCFE"/>
          </a:solidFill>
          <a:ln w="12700">
            <a:solidFill>
              <a:srgbClr val="E2E8F1"/>
            </a:solidFill>
            <a:prstDash val="solid"/>
          </a:ln>
        </p:spPr>
      </p:sp>
      <p:pic>
        <p:nvPicPr>
          <p:cNvPr id="119" name="Image 7" descr="figs/complexity_frontier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5486888" y="24983748"/>
            <a:ext cx="6754368" cy="2698213"/>
          </a:xfrm>
          <a:prstGeom prst="rect">
            <a:avLst/>
          </a:prstGeom>
        </p:spPr>
      </p:pic>
      <p:sp>
        <p:nvSpPr>
          <p:cNvPr id="120" name="Text 110"/>
          <p:cNvSpPr/>
          <p:nvPr/>
        </p:nvSpPr>
        <p:spPr>
          <a:xfrm>
            <a:off x="15441168" y="27819121"/>
            <a:ext cx="684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5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Cumulative savings vs. carbon-blind </a:t>
            </a:r>
            <a:pPr algn="l" indent="0" marL="0">
              <a:lnSpc>
                <a:spcPct val="102000"/>
              </a:lnSpc>
              <a:buNone/>
            </a:pPr>
            <a:r>
              <a:rPr lang="en-US" sz="1650" b="1" i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jump once (transfer), then stay flat</a:t>
            </a:r>
            <a:pPr algn="l" indent="0" marL="0">
              <a:lnSpc>
                <a:spcPct val="102000"/>
              </a:lnSpc>
              <a:buNone/>
            </a:pPr>
            <a:r>
              <a:rPr lang="en-US" sz="165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: joint covariance, the robust DRO, and copulas (Gaussian, Clayton, comonotone) each add nothing.</a:t>
            </a:r>
            <a:endParaRPr lang="en-US" sz="1650" dirty="0"/>
          </a:p>
        </p:txBody>
      </p:sp>
      <p:sp>
        <p:nvSpPr>
          <p:cNvPr id="121" name="Shape 111"/>
          <p:cNvSpPr/>
          <p:nvPr/>
        </p:nvSpPr>
        <p:spPr>
          <a:xfrm>
            <a:off x="15441168" y="28477489"/>
            <a:ext cx="6845808" cy="1331951"/>
          </a:xfrm>
          <a:prstGeom prst="rect">
            <a:avLst/>
          </a:prstGeom>
          <a:solidFill>
            <a:srgbClr val="E6F4FC"/>
          </a:solidFill>
          <a:ln/>
        </p:spPr>
      </p:sp>
      <p:sp>
        <p:nvSpPr>
          <p:cNvPr id="122" name="Shape 112"/>
          <p:cNvSpPr/>
          <p:nvPr/>
        </p:nvSpPr>
        <p:spPr>
          <a:xfrm>
            <a:off x="15441168" y="28477489"/>
            <a:ext cx="146304" cy="1331951"/>
          </a:xfrm>
          <a:prstGeom prst="rect">
            <a:avLst/>
          </a:prstGeom>
          <a:solidFill>
            <a:srgbClr val="0098E0"/>
          </a:solidFill>
          <a:ln/>
        </p:spPr>
      </p:sp>
      <p:sp>
        <p:nvSpPr>
          <p:cNvPr id="123" name="Text 113"/>
          <p:cNvSpPr/>
          <p:nvPr/>
        </p:nvSpPr>
        <p:spPr>
          <a:xfrm>
            <a:off x="15752064" y="28477489"/>
            <a:ext cx="6278880" cy="1331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5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VERDICT   </a:t>
            </a:r>
            <a:pPr algn="l" indent="0" marL="0">
              <a:lnSpc>
                <a:spcPct val="106000"/>
              </a:lnSpc>
              <a:buNone/>
            </a:pPr>
            <a:r>
              <a:rPr lang="en-US" sz="165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across every estimator and test, the out-of-sample spatial value is statistically indistinguishable from zero.</a:t>
            </a:r>
            <a:endParaRPr lang="en-US" sz="1650" dirty="0"/>
          </a:p>
        </p:txBody>
      </p:sp>
      <p:sp>
        <p:nvSpPr>
          <p:cNvPr id="124" name="Text 114"/>
          <p:cNvSpPr/>
          <p:nvPr/>
        </p:nvSpPr>
        <p:spPr>
          <a:xfrm>
            <a:off x="22789896" y="12252960"/>
            <a:ext cx="684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00" b="1" spc="200" kern="0" dirty="0">
                <a:solidFill>
                  <a:srgbClr val="8A5C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STEP 03   </a:t>
            </a:r>
            <a:pPr algn="l" indent="0" marL="0">
              <a:lnSpc>
                <a:spcPct val="118000"/>
              </a:lnSpc>
              <a:buNone/>
            </a:pPr>
            <a:r>
              <a:rPr lang="en-US" sz="2200" b="1" spc="200" kern="0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MECHANISM</a:t>
            </a:r>
            <a:endParaRPr lang="en-US" sz="2200" dirty="0"/>
          </a:p>
        </p:txBody>
      </p:sp>
      <p:sp>
        <p:nvSpPr>
          <p:cNvPr id="125" name="Text 115"/>
          <p:cNvSpPr/>
          <p:nvPr/>
        </p:nvSpPr>
        <p:spPr>
          <a:xfrm>
            <a:off x="22789896" y="12765024"/>
            <a:ext cx="68458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does it add nothing? The mean field holds it.</a:t>
            </a:r>
            <a:endParaRPr lang="en-US" sz="3300" dirty="0"/>
          </a:p>
        </p:txBody>
      </p:sp>
      <p:sp>
        <p:nvSpPr>
          <p:cNvPr id="126" name="Shape 116"/>
          <p:cNvSpPr/>
          <p:nvPr/>
        </p:nvSpPr>
        <p:spPr>
          <a:xfrm>
            <a:off x="22789896" y="14538960"/>
            <a:ext cx="6845808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7" name="Text 117"/>
          <p:cNvSpPr/>
          <p:nvPr/>
        </p:nvSpPr>
        <p:spPr>
          <a:xfrm>
            <a:off x="22789896" y="14794992"/>
            <a:ext cx="68458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mean-leveling test isolates the cause. Hold the covariance fixed and flatten the mean field, and the same cross-region structure now pays </a:t>
            </a:r>
            <a:pPr algn="l" indent="0" marL="0">
              <a:lnSpc>
                <a:spcPct val="116000"/>
              </a:lnSpc>
              <a:buNone/>
            </a:pPr>
            <a:r>
              <a:rPr lang="en-US" sz="19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+1.46%</a:t>
            </a:r>
            <a:pPr algn="l" indent="0" marL="0">
              <a:lnSpc>
                <a:spcPct val="116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. The signal is real but masked by a dominant mean, not absent.</a:t>
            </a:r>
            <a:endParaRPr lang="en-US" sz="1900" dirty="0"/>
          </a:p>
        </p:txBody>
      </p:sp>
      <p:pic>
        <p:nvPicPr>
          <p:cNvPr id="128" name="Image 8" descr="figs/carbon_landscape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22835616" y="17007840"/>
            <a:ext cx="6754368" cy="4268947"/>
          </a:xfrm>
          <a:prstGeom prst="rect">
            <a:avLst/>
          </a:prstGeom>
        </p:spPr>
      </p:pic>
      <p:sp>
        <p:nvSpPr>
          <p:cNvPr id="129" name="Text 118"/>
          <p:cNvSpPr/>
          <p:nvPr/>
        </p:nvSpPr>
        <p:spPr>
          <a:xfrm>
            <a:off x="22789896" y="21413947"/>
            <a:ext cx="684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5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</a:t>
            </a:r>
            <a:pPr algn="l" indent="0" marL="0">
              <a:lnSpc>
                <a:spcPct val="102000"/>
              </a:lnSpc>
              <a:buNone/>
            </a:pPr>
            <a:r>
              <a:rPr lang="en-US" sz="1650" b="1" i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dominant mean carbon field</a:t>
            </a:r>
            <a:pPr algn="l" indent="0" marL="0">
              <a:lnSpc>
                <a:spcPct val="102000"/>
              </a:lnSpc>
              <a:buNone/>
            </a:pPr>
            <a:r>
              <a:rPr lang="en-US" sz="165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: the schedule follows this terrain; the spatial covariance is a thin ripple on top (≤1.46%).</a:t>
            </a:r>
            <a:endParaRPr lang="en-US" sz="1650" dirty="0"/>
          </a:p>
        </p:txBody>
      </p:sp>
      <p:pic>
        <p:nvPicPr>
          <p:cNvPr id="130" name="Image 9" descr="figs/certificate_canyon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22835616" y="22191187"/>
            <a:ext cx="6754368" cy="4134367"/>
          </a:xfrm>
          <a:prstGeom prst="rect">
            <a:avLst/>
          </a:prstGeom>
        </p:spPr>
      </p:pic>
      <p:sp>
        <p:nvSpPr>
          <p:cNvPr id="131" name="Text 119"/>
          <p:cNvSpPr/>
          <p:nvPr/>
        </p:nvSpPr>
        <p:spPr>
          <a:xfrm>
            <a:off x="22789896" y="26462715"/>
            <a:ext cx="684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5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mean-dominance theorem caps the gap a-priori at </a:t>
            </a:r>
            <a:pPr algn="l" indent="0" marL="0">
              <a:lnSpc>
                <a:spcPct val="102000"/>
              </a:lnSpc>
              <a:buNone/>
            </a:pPr>
            <a:r>
              <a:rPr lang="en-US" sz="1650" b="1" i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 to 13% of CVaR</a:t>
            </a:r>
            <a:pPr algn="l" indent="0" marL="0">
              <a:lnSpc>
                <a:spcPct val="102000"/>
              </a:lnSpc>
              <a:buNone/>
            </a:pPr>
            <a:r>
              <a:rPr lang="en-US" sz="165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; the realized gap never exceeds 0.23%, about 100x below its own bound.</a:t>
            </a:r>
            <a:endParaRPr lang="en-US" sz="1650" dirty="0"/>
          </a:p>
        </p:txBody>
      </p:sp>
      <p:sp>
        <p:nvSpPr>
          <p:cNvPr id="132" name="Shape 120"/>
          <p:cNvSpPr/>
          <p:nvPr/>
        </p:nvSpPr>
        <p:spPr>
          <a:xfrm>
            <a:off x="22789896" y="27157659"/>
            <a:ext cx="6845808" cy="2651781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133" name="Shape 121"/>
          <p:cNvSpPr/>
          <p:nvPr/>
        </p:nvSpPr>
        <p:spPr>
          <a:xfrm>
            <a:off x="22789896" y="27157659"/>
            <a:ext cx="146304" cy="2651781"/>
          </a:xfrm>
          <a:prstGeom prst="rect">
            <a:avLst/>
          </a:prstGeom>
          <a:solidFill>
            <a:srgbClr val="0098E0"/>
          </a:solidFill>
          <a:ln/>
        </p:spPr>
      </p:sp>
      <p:sp>
        <p:nvSpPr>
          <p:cNvPr id="134" name="Text 122"/>
          <p:cNvSpPr/>
          <p:nvPr/>
        </p:nvSpPr>
        <p:spPr>
          <a:xfrm>
            <a:off x="23082504" y="27358827"/>
            <a:ext cx="634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b="1" spc="50" kern="0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NULL SURVIVES EVERY CHECK</a:t>
            </a:r>
            <a:endParaRPr lang="en-US" sz="1800" dirty="0"/>
          </a:p>
        </p:txBody>
      </p:sp>
      <p:sp>
        <p:nvSpPr>
          <p:cNvPr id="135" name="Shape 123"/>
          <p:cNvSpPr/>
          <p:nvPr/>
        </p:nvSpPr>
        <p:spPr>
          <a:xfrm>
            <a:off x="23082504" y="27870891"/>
            <a:ext cx="6260592" cy="41148"/>
          </a:xfrm>
          <a:prstGeom prst="rect">
            <a:avLst/>
          </a:prstGeom>
          <a:solidFill>
            <a:srgbClr val="0098E0"/>
          </a:solidFill>
          <a:ln/>
        </p:spPr>
      </p:sp>
      <p:sp>
        <p:nvSpPr>
          <p:cNvPr id="136" name="Text 124"/>
          <p:cNvSpPr/>
          <p:nvPr/>
        </p:nvSpPr>
        <p:spPr>
          <a:xfrm>
            <a:off x="23100792" y="28026339"/>
            <a:ext cx="457200" cy="27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</a:t>
            </a:r>
            <a:endParaRPr lang="en-US" sz="1800" dirty="0"/>
          </a:p>
        </p:txBody>
      </p:sp>
      <p:sp>
        <p:nvSpPr>
          <p:cNvPr id="137" name="Text 125"/>
          <p:cNvSpPr/>
          <p:nvPr/>
        </p:nvSpPr>
        <p:spPr>
          <a:xfrm>
            <a:off x="23576280" y="28026339"/>
            <a:ext cx="5839968" cy="27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Ledoit-Wolf covariance shrinkage</a:t>
            </a:r>
            <a:endParaRPr lang="en-US" sz="1650" dirty="0"/>
          </a:p>
        </p:txBody>
      </p:sp>
      <p:sp>
        <p:nvSpPr>
          <p:cNvPr id="138" name="Text 126"/>
          <p:cNvSpPr/>
          <p:nvPr/>
        </p:nvSpPr>
        <p:spPr>
          <a:xfrm>
            <a:off x="23100792" y="28300662"/>
            <a:ext cx="457200" cy="27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</a:t>
            </a:r>
            <a:endParaRPr lang="en-US" sz="1800" dirty="0"/>
          </a:p>
        </p:txBody>
      </p:sp>
      <p:sp>
        <p:nvSpPr>
          <p:cNvPr id="139" name="Text 127"/>
          <p:cNvSpPr/>
          <p:nvPr/>
        </p:nvSpPr>
        <p:spPr>
          <a:xfrm>
            <a:off x="23576280" y="28300662"/>
            <a:ext cx="5839968" cy="27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Residualization of the mean field</a:t>
            </a:r>
            <a:endParaRPr lang="en-US" sz="1650" dirty="0"/>
          </a:p>
        </p:txBody>
      </p:sp>
      <p:sp>
        <p:nvSpPr>
          <p:cNvPr id="140" name="Text 128"/>
          <p:cNvSpPr/>
          <p:nvPr/>
        </p:nvSpPr>
        <p:spPr>
          <a:xfrm>
            <a:off x="23100792" y="28574986"/>
            <a:ext cx="457200" cy="27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</a:t>
            </a:r>
            <a:endParaRPr lang="en-US" sz="1800" dirty="0"/>
          </a:p>
        </p:txBody>
      </p:sp>
      <p:sp>
        <p:nvSpPr>
          <p:cNvPr id="141" name="Text 129"/>
          <p:cNvSpPr/>
          <p:nvPr/>
        </p:nvSpPr>
        <p:spPr>
          <a:xfrm>
            <a:off x="23576280" y="28574986"/>
            <a:ext cx="5839968" cy="27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Benjamini-Hochberg over 144 cells</a:t>
            </a:r>
            <a:endParaRPr lang="en-US" sz="1650" dirty="0"/>
          </a:p>
        </p:txBody>
      </p:sp>
      <p:sp>
        <p:nvSpPr>
          <p:cNvPr id="142" name="Text 130"/>
          <p:cNvSpPr/>
          <p:nvPr/>
        </p:nvSpPr>
        <p:spPr>
          <a:xfrm>
            <a:off x="23100792" y="28849309"/>
            <a:ext cx="457200" cy="27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</a:t>
            </a:r>
            <a:endParaRPr lang="en-US" sz="1800" dirty="0"/>
          </a:p>
        </p:txBody>
      </p:sp>
      <p:sp>
        <p:nvSpPr>
          <p:cNvPr id="143" name="Text 131"/>
          <p:cNvSpPr/>
          <p:nvPr/>
        </p:nvSpPr>
        <p:spPr>
          <a:xfrm>
            <a:off x="23576280" y="28849309"/>
            <a:ext cx="5839968" cy="27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Walk-forward validation to 2024</a:t>
            </a:r>
            <a:endParaRPr lang="en-US" sz="1650" dirty="0"/>
          </a:p>
        </p:txBody>
      </p:sp>
      <p:sp>
        <p:nvSpPr>
          <p:cNvPr id="144" name="Text 132"/>
          <p:cNvSpPr/>
          <p:nvPr/>
        </p:nvSpPr>
        <p:spPr>
          <a:xfrm>
            <a:off x="23100792" y="29123633"/>
            <a:ext cx="457200" cy="27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</a:t>
            </a:r>
            <a:endParaRPr lang="en-US" sz="1800" dirty="0"/>
          </a:p>
        </p:txBody>
      </p:sp>
      <p:sp>
        <p:nvSpPr>
          <p:cNvPr id="145" name="Text 133"/>
          <p:cNvSpPr/>
          <p:nvPr/>
        </p:nvSpPr>
        <p:spPr>
          <a:xfrm>
            <a:off x="23576280" y="29123633"/>
            <a:ext cx="5839968" cy="27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Ramp and utilization sweeps</a:t>
            </a:r>
            <a:endParaRPr lang="en-US" sz="1650" dirty="0"/>
          </a:p>
        </p:txBody>
      </p:sp>
      <p:sp>
        <p:nvSpPr>
          <p:cNvPr id="146" name="Text 134"/>
          <p:cNvSpPr/>
          <p:nvPr/>
        </p:nvSpPr>
        <p:spPr>
          <a:xfrm>
            <a:off x="23100792" y="29397956"/>
            <a:ext cx="457200" cy="27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</a:t>
            </a:r>
            <a:endParaRPr lang="en-US" sz="1800" dirty="0"/>
          </a:p>
        </p:txBody>
      </p:sp>
      <p:sp>
        <p:nvSpPr>
          <p:cNvPr id="147" name="Text 135"/>
          <p:cNvSpPr/>
          <p:nvPr/>
        </p:nvSpPr>
        <p:spPr>
          <a:xfrm>
            <a:off x="23576280" y="29397956"/>
            <a:ext cx="5839968" cy="27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full CVaR tail range, 0.80 to 0.99</a:t>
            </a:r>
            <a:endParaRPr lang="en-US" sz="1650" dirty="0"/>
          </a:p>
        </p:txBody>
      </p:sp>
      <p:sp>
        <p:nvSpPr>
          <p:cNvPr id="148" name="Shape 136"/>
          <p:cNvSpPr/>
          <p:nvPr/>
        </p:nvSpPr>
        <p:spPr>
          <a:xfrm>
            <a:off x="640080" y="30083760"/>
            <a:ext cx="28995624" cy="759488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sx="100000" sy="100000" kx="0" ky="0" algn="bl" rotWithShape="0" blurRad="88900" dist="25400" dir="8100000">
              <a:srgbClr val="AEB7C6">
                <a:alpha val="22000"/>
              </a:srgbClr>
            </a:outerShdw>
          </a:effectLst>
        </p:spPr>
      </p:sp>
      <p:sp>
        <p:nvSpPr>
          <p:cNvPr id="149" name="Shape 137"/>
          <p:cNvSpPr/>
          <p:nvPr/>
        </p:nvSpPr>
        <p:spPr>
          <a:xfrm>
            <a:off x="640080" y="30083760"/>
            <a:ext cx="2899562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0" name="Text 138"/>
          <p:cNvSpPr/>
          <p:nvPr/>
        </p:nvSpPr>
        <p:spPr>
          <a:xfrm>
            <a:off x="1051560" y="30376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b="1" spc="300" kern="0" dirty="0">
                <a:solidFill>
                  <a:srgbClr val="8A5C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RESULT, SEEN DIRECTLY</a:t>
            </a:r>
            <a:endParaRPr lang="en-US" sz="1800" dirty="0"/>
          </a:p>
        </p:txBody>
      </p:sp>
      <p:sp>
        <p:nvSpPr>
          <p:cNvPr id="151" name="Text 139"/>
          <p:cNvSpPr/>
          <p:nvPr/>
        </p:nvSpPr>
        <p:spPr>
          <a:xfrm>
            <a:off x="8503920" y="30339792"/>
            <a:ext cx="20720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Each panel is one Western US grid.  Bars: scheduled load.  Line: carbon intensity.  Joint and shuffled plans overlap.</a:t>
            </a:r>
            <a:endParaRPr lang="en-US" sz="1500" dirty="0"/>
          </a:p>
        </p:txBody>
      </p:sp>
      <p:pic>
        <p:nvPicPr>
          <p:cNvPr id="152" name="Image 10" descr="figs/schedule_us_west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042416" y="30897576"/>
            <a:ext cx="28190952" cy="6561614"/>
          </a:xfrm>
          <a:prstGeom prst="rect">
            <a:avLst/>
          </a:prstGeom>
        </p:spPr>
      </p:pic>
      <p:sp>
        <p:nvSpPr>
          <p:cNvPr id="153" name="Shape 140"/>
          <p:cNvSpPr/>
          <p:nvPr/>
        </p:nvSpPr>
        <p:spPr>
          <a:xfrm>
            <a:off x="640080" y="37907246"/>
            <a:ext cx="28995624" cy="2606040"/>
          </a:xfrm>
          <a:prstGeom prst="rect">
            <a:avLst/>
          </a:prstGeom>
          <a:solidFill>
            <a:srgbClr val="FAF1D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54" name="Shape 141"/>
          <p:cNvSpPr/>
          <p:nvPr/>
        </p:nvSpPr>
        <p:spPr>
          <a:xfrm>
            <a:off x="640080" y="37907246"/>
            <a:ext cx="164592" cy="2606040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155" name="Image 11" descr="figs/schematic_transfer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1097280" y="38108414"/>
            <a:ext cx="5394960" cy="2203704"/>
          </a:xfrm>
          <a:prstGeom prst="rect">
            <a:avLst/>
          </a:prstGeom>
        </p:spPr>
      </p:pic>
      <p:sp>
        <p:nvSpPr>
          <p:cNvPr id="156" name="Text 142"/>
          <p:cNvSpPr/>
          <p:nvPr/>
        </p:nvSpPr>
        <p:spPr>
          <a:xfrm>
            <a:off x="6766560" y="38273006"/>
            <a:ext cx="22594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500" b="1" spc="100" kern="0" dirty="0">
                <a:solidFill>
                  <a:srgbClr val="8A5C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PAYOFF</a:t>
            </a:r>
            <a:endParaRPr lang="en-US" sz="2500" dirty="0"/>
          </a:p>
        </p:txBody>
      </p:sp>
      <p:sp>
        <p:nvSpPr>
          <p:cNvPr id="157" name="Text 143"/>
          <p:cNvSpPr/>
          <p:nvPr/>
        </p:nvSpPr>
        <p:spPr>
          <a:xfrm>
            <a:off x="6766560" y="39004526"/>
            <a:ext cx="22503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900" dirty="0">
                <a:solidFill>
                  <a:srgbClr val="8A5C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value is in physically moving compute toward whichever grid is clean right now. An </a:t>
            </a:r>
            <a:pPr algn="l" indent="0" marL="0">
              <a:lnSpc>
                <a:spcPct val="116000"/>
              </a:lnSpc>
              <a:buNone/>
            </a:pPr>
            <a:r>
              <a:rPr lang="en-US" sz="1900" b="1" dirty="0">
                <a:solidFill>
                  <a:srgbClr val="8A5C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active inter-region transfer channel</a:t>
            </a:r>
            <a:pPr algn="l" indent="0" marL="0">
              <a:lnSpc>
                <a:spcPct val="116000"/>
              </a:lnSpc>
              <a:buNone/>
            </a:pPr>
            <a:r>
              <a:rPr lang="en-US" sz="1900" dirty="0">
                <a:solidFill>
                  <a:srgbClr val="8A5C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cuts 4 to 10 percent of carbon, deterministically. The sophisticated layers (joint covariance, copulas, distributional robustness) add nothing until grid emergencies hit 3x severity, which real grids never reach. Deploy the simple migration scheduler; price robustness only if your grid faces genuine extremes.</a:t>
            </a:r>
            <a:endParaRPr lang="en-US" sz="1900" dirty="0"/>
          </a:p>
        </p:txBody>
      </p:sp>
      <p:sp>
        <p:nvSpPr>
          <p:cNvPr id="158" name="Shape 144"/>
          <p:cNvSpPr/>
          <p:nvPr/>
        </p:nvSpPr>
        <p:spPr>
          <a:xfrm>
            <a:off x="640080" y="40741886"/>
            <a:ext cx="28995624" cy="1188720"/>
          </a:xfrm>
          <a:prstGeom prst="rect">
            <a:avLst/>
          </a:prstGeom>
          <a:solidFill>
            <a:srgbClr val="002564"/>
          </a:solidFill>
          <a:ln/>
        </p:spPr>
      </p:sp>
      <p:sp>
        <p:nvSpPr>
          <p:cNvPr id="159" name="Shape 145"/>
          <p:cNvSpPr/>
          <p:nvPr/>
        </p:nvSpPr>
        <p:spPr>
          <a:xfrm>
            <a:off x="640080" y="40741886"/>
            <a:ext cx="164592" cy="1188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60" name="Shape 146"/>
          <p:cNvSpPr/>
          <p:nvPr/>
        </p:nvSpPr>
        <p:spPr>
          <a:xfrm>
            <a:off x="28236672" y="40677878"/>
            <a:ext cx="1316736" cy="131673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1" name="Image 12" descr="figs/repo_qr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28355544" y="40796750"/>
            <a:ext cx="1078992" cy="1078992"/>
          </a:xfrm>
          <a:prstGeom prst="rect">
            <a:avLst/>
          </a:prstGeom>
        </p:spPr>
      </p:pic>
      <p:sp>
        <p:nvSpPr>
          <p:cNvPr id="162" name="Text 147"/>
          <p:cNvSpPr/>
          <p:nvPr/>
        </p:nvSpPr>
        <p:spPr>
          <a:xfrm>
            <a:off x="26389584" y="40741886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400" b="1" spc="100" kern="0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REPOSITORY</a:t>
            </a:r>
            <a:endParaRPr lang="en-US" sz="14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1400" b="1" spc="100" kern="0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  ·  THESIS</a:t>
            </a:r>
            <a:endParaRPr lang="en-US" sz="1400" dirty="0"/>
          </a:p>
        </p:txBody>
      </p:sp>
      <p:sp>
        <p:nvSpPr>
          <p:cNvPr id="163" name="Text 148"/>
          <p:cNvSpPr/>
          <p:nvPr/>
        </p:nvSpPr>
        <p:spPr>
          <a:xfrm>
            <a:off x="1325880" y="40741886"/>
            <a:ext cx="24332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500" b="1" dirty="0">
                <a:solidFill>
                  <a:srgbClr val="E8A3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RECOMMENDATION    </a:t>
            </a:r>
            <a:pPr algn="l" indent="0" marL="0">
              <a:lnSpc>
                <a:spcPct val="118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Deploy the deterministic migration scheduler; skip joint-covariance and copula modeling; price robustness only past a severity real grids never reach.</a:t>
            </a:r>
            <a:endParaRPr lang="en-US" sz="2500" dirty="0"/>
          </a:p>
        </p:txBody>
      </p:sp>
      <p:sp>
        <p:nvSpPr>
          <p:cNvPr id="164" name="Text 149"/>
          <p:cNvSpPr/>
          <p:nvPr/>
        </p:nvSpPr>
        <p:spPr>
          <a:xfrm>
            <a:off x="640080" y="42113486"/>
            <a:ext cx="28995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Marco Ortiz Togashi   ·   marco.ortiztogashi@student.ie.edu      |      Supervisor: Prof. Bissan Ghaddar      |      IE University, MS in Business Analytics &amp; Data Science      |      Carbon data: Electricity Maps (academic licence).</a:t>
            </a:r>
            <a:endParaRPr lang="en-US" sz="1800" dirty="0"/>
          </a:p>
        </p:txBody>
      </p:sp>
      <p:sp>
        <p:nvSpPr>
          <p:cNvPr id="165" name="Text 150"/>
          <p:cNvSpPr/>
          <p:nvPr/>
        </p:nvSpPr>
        <p:spPr>
          <a:xfrm>
            <a:off x="640080" y="42515822"/>
            <a:ext cx="28995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80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References:  Hall et al. 2024 (carbon-aware DRO);  Mohajerin Esfahani and Kuhn 2018 (Wasserstein DRO);  Rockafellar and Uryasev 2000 (CVaR).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 DRO capstone poster</dc:title>
  <dc:subject>PptxGenJS Presentation</dc:subject>
  <dc:creator>Marco Ortiz Togashi</dc:creator>
  <cp:lastModifiedBy>Marco Ortiz Togashi</cp:lastModifiedBy>
  <cp:revision>1</cp:revision>
  <dcterms:created xsi:type="dcterms:W3CDTF">2026-06-27T12:16:35Z</dcterms:created>
  <dcterms:modified xsi:type="dcterms:W3CDTF">2026-06-27T12:16:35Z</dcterms:modified>
</cp:coreProperties>
</file>