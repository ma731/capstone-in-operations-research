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28995624" cy="3931920"/>
          </a:xfrm>
          <a:prstGeom prst="rect">
            <a:avLst/>
          </a:prstGeom>
          <a:solidFill>
            <a:srgbClr val="00338D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4572000"/>
            <a:ext cx="28995624" cy="146304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4" name="Image 0" descr="figs/ie_logo_wh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43000" y="1143000"/>
            <a:ext cx="402336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12080" y="1143000"/>
            <a:ext cx="18288" cy="2926080"/>
          </a:xfrm>
          <a:prstGeom prst="rect">
            <a:avLst/>
          </a:prstGeom>
          <a:solidFill>
            <a:srgbClr val="335FA4"/>
          </a:solidFill>
          <a:ln/>
        </p:spPr>
      </p:sp>
      <p:sp>
        <p:nvSpPr>
          <p:cNvPr id="6" name="Shape 3"/>
          <p:cNvSpPr/>
          <p:nvPr/>
        </p:nvSpPr>
        <p:spPr>
          <a:xfrm>
            <a:off x="24743664" y="1143000"/>
            <a:ext cx="18288" cy="2926080"/>
          </a:xfrm>
          <a:prstGeom prst="rect">
            <a:avLst/>
          </a:prstGeom>
          <a:solidFill>
            <a:srgbClr val="335FA4"/>
          </a:solidFill>
          <a:ln/>
        </p:spPr>
      </p:sp>
      <p:sp>
        <p:nvSpPr>
          <p:cNvPr id="7" name="Text 4"/>
          <p:cNvSpPr/>
          <p:nvPr/>
        </p:nvSpPr>
        <p:spPr>
          <a:xfrm>
            <a:off x="25292304" y="10241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b="1" spc="200" kern="0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&amp; TOOLS</a:t>
            </a:r>
            <a:endParaRPr lang="en-US" sz="1600" dirty="0"/>
          </a:p>
        </p:txBody>
      </p:sp>
      <p:pic>
        <p:nvPicPr>
          <p:cNvPr id="8" name="Image 1" descr="figs/em_bolt_whi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246584" y="1481328"/>
            <a:ext cx="868680" cy="12070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252424" y="1627632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Electricity Maps</a:t>
            </a:r>
            <a:endParaRPr lang="en-US" sz="2700" dirty="0"/>
          </a:p>
        </p:txBody>
      </p:sp>
      <p:sp>
        <p:nvSpPr>
          <p:cNvPr id="10" name="Text 6"/>
          <p:cNvSpPr/>
          <p:nvPr/>
        </p:nvSpPr>
        <p:spPr>
          <a:xfrm>
            <a:off x="25292304" y="25786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Real-time grid carbon, 2021 to 2025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25292304" y="3035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Solved with </a:t>
            </a:r>
            <a:pPr algn="l"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CVXPY · CLARABEL · HiGHS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5532120" y="1024128"/>
            <a:ext cx="1889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50" b="1" spc="300" kern="0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CARBON-AWARE DATA-CENTER SCHEDULING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5532120" y="1444752"/>
            <a:ext cx="188915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Price of Sophistication: When Do Spatial and</a:t>
            </a:r>
            <a:endParaRPr lang="en-US" sz="4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Robust Models Pay in Carbon-Aware Scheduling?</a:t>
            </a:r>
            <a:endParaRPr lang="en-US" sz="4700" dirty="0"/>
          </a:p>
        </p:txBody>
      </p:sp>
      <p:sp>
        <p:nvSpPr>
          <p:cNvPr id="14" name="Text 10"/>
          <p:cNvSpPr/>
          <p:nvPr/>
        </p:nvSpPr>
        <p:spPr>
          <a:xfrm>
            <a:off x="5532120" y="3310128"/>
            <a:ext cx="18891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400" b="1" i="1" dirty="0">
                <a:solidFill>
                  <a:srgbClr val="E3EEF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day-ahead migration scheduler and a complexity-value decision rule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13514832" y="3840480"/>
            <a:ext cx="292608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2"/>
          <p:cNvSpPr/>
          <p:nvPr/>
        </p:nvSpPr>
        <p:spPr>
          <a:xfrm>
            <a:off x="5532120" y="3950208"/>
            <a:ext cx="18891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Marco Ortiz Togashi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  |     Supervisor: Prof. Bissan Ghaddar     |     IE University, Master in Business Analytics &amp; Data Science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640080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8" name="Text 14"/>
          <p:cNvSpPr/>
          <p:nvPr/>
        </p:nvSpPr>
        <p:spPr>
          <a:xfrm>
            <a:off x="777240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Day-ahead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forecast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7244334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8140446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1" name="Text 17"/>
          <p:cNvSpPr/>
          <p:nvPr/>
        </p:nvSpPr>
        <p:spPr>
          <a:xfrm>
            <a:off x="8277606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Migration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scheduler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14744700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15640812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4" name="Text 20"/>
          <p:cNvSpPr/>
          <p:nvPr/>
        </p:nvSpPr>
        <p:spPr>
          <a:xfrm>
            <a:off x="15777972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Price each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modeling layer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22245066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6" name="Shape 22"/>
          <p:cNvSpPr/>
          <p:nvPr/>
        </p:nvSpPr>
        <p:spPr>
          <a:xfrm>
            <a:off x="23141178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7" name="Text 23"/>
          <p:cNvSpPr/>
          <p:nvPr/>
        </p:nvSpPr>
        <p:spPr>
          <a:xfrm>
            <a:off x="23278338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Decision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rule</a:t>
            </a:r>
            <a:endParaRPr lang="en-US" sz="2100" dirty="0"/>
          </a:p>
        </p:txBody>
      </p:sp>
      <p:sp>
        <p:nvSpPr>
          <p:cNvPr id="28" name="Text 24"/>
          <p:cNvSpPr/>
          <p:nvPr/>
        </p:nvSpPr>
        <p:spPr>
          <a:xfrm>
            <a:off x="640080" y="6903720"/>
            <a:ext cx="28995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Active inter-region migration cuts worst-case emissions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4.0 to 9.9%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added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sophistication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(joint covariance, robustness) does not pay until a severity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grids never reach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</a:t>
            </a:r>
            <a:endParaRPr lang="en-US" sz="2700" dirty="0"/>
          </a:p>
        </p:txBody>
      </p:sp>
      <p:sp>
        <p:nvSpPr>
          <p:cNvPr id="29" name="Shape 25"/>
          <p:cNvSpPr/>
          <p:nvPr/>
        </p:nvSpPr>
        <p:spPr>
          <a:xfrm>
            <a:off x="640080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640080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31" name="Text 27"/>
          <p:cNvSpPr/>
          <p:nvPr/>
        </p:nvSpPr>
        <p:spPr>
          <a:xfrm>
            <a:off x="822960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SCREEN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3560445" y="8531352"/>
            <a:ext cx="164592" cy="164592"/>
          </a:xfrm>
          <a:prstGeom prst="ellipse">
            <a:avLst/>
          </a:prstGeom>
          <a:solidFill>
            <a:srgbClr val="00338D"/>
          </a:solidFill>
          <a:ln/>
        </p:spPr>
      </p:sp>
      <p:sp>
        <p:nvSpPr>
          <p:cNvPr id="33" name="Shape 29"/>
          <p:cNvSpPr/>
          <p:nvPr/>
        </p:nvSpPr>
        <p:spPr>
          <a:xfrm>
            <a:off x="4529709" y="8531352"/>
            <a:ext cx="164592" cy="164592"/>
          </a:xfrm>
          <a:prstGeom prst="ellipse">
            <a:avLst/>
          </a:prstGeom>
          <a:solidFill>
            <a:srgbClr val="00338D"/>
          </a:solidFill>
          <a:ln/>
        </p:spPr>
      </p:sp>
      <p:sp>
        <p:nvSpPr>
          <p:cNvPr id="34" name="Shape 30"/>
          <p:cNvSpPr/>
          <p:nvPr/>
        </p:nvSpPr>
        <p:spPr>
          <a:xfrm>
            <a:off x="3725037" y="8613648"/>
            <a:ext cx="804672" cy="0"/>
          </a:xfrm>
          <a:prstGeom prst="line">
            <a:avLst/>
          </a:prstGeom>
          <a:noFill/>
          <a:ln w="44450">
            <a:solidFill>
              <a:srgbClr val="0098E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31520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~0%</a:t>
            </a:r>
            <a:endParaRPr lang="en-US" sz="6200" dirty="0"/>
          </a:p>
        </p:txBody>
      </p:sp>
      <p:sp>
        <p:nvSpPr>
          <p:cNvPr id="36" name="Shape 32"/>
          <p:cNvSpPr/>
          <p:nvPr/>
        </p:nvSpPr>
        <p:spPr>
          <a:xfrm>
            <a:off x="3624453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37" name="Text 33"/>
          <p:cNvSpPr/>
          <p:nvPr/>
        </p:nvSpPr>
        <p:spPr>
          <a:xfrm>
            <a:off x="868680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value added by joint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covariance and copulas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7980426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7980426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40" name="Text 36"/>
          <p:cNvSpPr/>
          <p:nvPr/>
        </p:nvSpPr>
        <p:spPr>
          <a:xfrm>
            <a:off x="8163306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PRICE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10919079" y="8613648"/>
            <a:ext cx="1097280" cy="0"/>
          </a:xfrm>
          <a:prstGeom prst="line">
            <a:avLst/>
          </a:prstGeom>
          <a:noFill/>
          <a:ln w="50800">
            <a:solidFill>
              <a:srgbClr val="0098E0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071866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M* = 3</a:t>
            </a:r>
            <a:endParaRPr lang="en-US" sz="6200" dirty="0"/>
          </a:p>
        </p:txBody>
      </p:sp>
      <p:sp>
        <p:nvSpPr>
          <p:cNvPr id="43" name="Shape 39"/>
          <p:cNvSpPr/>
          <p:nvPr/>
        </p:nvSpPr>
        <p:spPr>
          <a:xfrm>
            <a:off x="10964799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44" name="Text 40"/>
          <p:cNvSpPr/>
          <p:nvPr/>
        </p:nvSpPr>
        <p:spPr>
          <a:xfrm>
            <a:off x="8209026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severity where robustness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finally starts to pay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15320772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15320772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47" name="Text 43"/>
          <p:cNvSpPr/>
          <p:nvPr/>
        </p:nvSpPr>
        <p:spPr>
          <a:xfrm>
            <a:off x="15503652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LIMIT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18808065" y="8759952"/>
            <a:ext cx="0" cy="-310896"/>
          </a:xfrm>
          <a:prstGeom prst="line">
            <a:avLst/>
          </a:prstGeom>
          <a:noFill/>
          <a:ln w="5715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49" name="Text 45"/>
          <p:cNvSpPr/>
          <p:nvPr/>
        </p:nvSpPr>
        <p:spPr>
          <a:xfrm>
            <a:off x="15412212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 / 17</a:t>
            </a:r>
            <a:endParaRPr lang="en-US" sz="6200" dirty="0"/>
          </a:p>
        </p:txBody>
      </p:sp>
      <p:sp>
        <p:nvSpPr>
          <p:cNvPr id="50" name="Shape 46"/>
          <p:cNvSpPr/>
          <p:nvPr/>
        </p:nvSpPr>
        <p:spPr>
          <a:xfrm>
            <a:off x="18305145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51" name="Text 47"/>
          <p:cNvSpPr/>
          <p:nvPr/>
        </p:nvSpPr>
        <p:spPr>
          <a:xfrm>
            <a:off x="15549372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grids that reach the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robustness threshold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22661118" y="7680960"/>
            <a:ext cx="6974586" cy="4023360"/>
          </a:xfrm>
          <a:prstGeom prst="rect">
            <a:avLst/>
          </a:prstGeom>
          <a:solidFill>
            <a:srgbClr val="FAF1DF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22661118" y="7680960"/>
            <a:ext cx="6974586" cy="20116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4" name="Text 50"/>
          <p:cNvSpPr/>
          <p:nvPr/>
        </p:nvSpPr>
        <p:spPr>
          <a:xfrm>
            <a:off x="22843998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LEVER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25599771" y="8613648"/>
            <a:ext cx="1097280" cy="0"/>
          </a:xfrm>
          <a:prstGeom prst="line">
            <a:avLst/>
          </a:prstGeom>
          <a:noFill/>
          <a:ln w="57150">
            <a:solidFill>
              <a:srgbClr val="8A5C16"/>
            </a:solidFill>
            <a:prstDash val="solid"/>
            <a:tailEnd type="triangle"/>
          </a:ln>
        </p:spPr>
      </p:sp>
      <p:sp>
        <p:nvSpPr>
          <p:cNvPr id="56" name="Text 52"/>
          <p:cNvSpPr/>
          <p:nvPr/>
        </p:nvSpPr>
        <p:spPr>
          <a:xfrm>
            <a:off x="22752558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72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4-10%</a:t>
            </a:r>
            <a:endParaRPr lang="en-US" sz="7200" dirty="0"/>
          </a:p>
        </p:txBody>
      </p:sp>
      <p:sp>
        <p:nvSpPr>
          <p:cNvPr id="57" name="Shape 53"/>
          <p:cNvSpPr/>
          <p:nvPr/>
        </p:nvSpPr>
        <p:spPr>
          <a:xfrm>
            <a:off x="25645491" y="10296144"/>
            <a:ext cx="10058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8" name="Text 54"/>
          <p:cNvSpPr/>
          <p:nvPr/>
        </p:nvSpPr>
        <p:spPr>
          <a:xfrm>
            <a:off x="22889718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worst-case (CVaR) emissions cut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by active inter-region migration</a:t>
            </a:r>
            <a:endParaRPr lang="en-US" sz="2000" dirty="0"/>
          </a:p>
        </p:txBody>
      </p:sp>
      <p:sp>
        <p:nvSpPr>
          <p:cNvPr id="59" name="Text 55"/>
          <p:cNvSpPr/>
          <p:nvPr/>
        </p:nvSpPr>
        <p:spPr>
          <a:xfrm>
            <a:off x="640080" y="12252960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BACKGROUND</a:t>
            </a:r>
            <a:endParaRPr lang="en-US" sz="1900" dirty="0"/>
          </a:p>
        </p:txBody>
      </p:sp>
      <p:sp>
        <p:nvSpPr>
          <p:cNvPr id="60" name="Shape 56"/>
          <p:cNvSpPr/>
          <p:nvPr/>
        </p:nvSpPr>
        <p:spPr>
          <a:xfrm>
            <a:off x="640080" y="12710160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1" name="Text 57"/>
          <p:cNvSpPr/>
          <p:nvPr/>
        </p:nvSpPr>
        <p:spPr>
          <a:xfrm>
            <a:off x="640080" y="12838176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promise</a:t>
            </a:r>
            <a:endParaRPr lang="en-US" sz="2200" dirty="0"/>
          </a:p>
        </p:txBody>
      </p:sp>
      <p:sp>
        <p:nvSpPr>
          <p:cNvPr id="62" name="Text 58"/>
          <p:cNvSpPr/>
          <p:nvPr/>
        </p:nvSpPr>
        <p:spPr>
          <a:xfrm>
            <a:off x="640080" y="13551408"/>
            <a:ext cx="6949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Modern compute is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flexible</a:t>
            </a:r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training and batch jobs shift in time and across data-center sites, so deferring work to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cleaner hours and regions</a:t>
            </a:r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lowers operational carbon. Across 2021 to 2025 neighbouring grids move strongly together, so spatial structure looks like free signal a robust scheduler could turn into savings.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Question: can measured cross-region correlation actually lower out-of-sample carbon?</a:t>
            </a:r>
            <a:endParaRPr lang="en-US" sz="1800" dirty="0"/>
          </a:p>
        </p:txBody>
      </p:sp>
      <p:sp>
        <p:nvSpPr>
          <p:cNvPr id="63" name="Text 59"/>
          <p:cNvSpPr/>
          <p:nvPr/>
        </p:nvSpPr>
        <p:spPr>
          <a:xfrm>
            <a:off x="640080" y="15883128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&amp; SETUP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640080" y="16340328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5" name="Text 61"/>
          <p:cNvSpPr/>
          <p:nvPr/>
        </p:nvSpPr>
        <p:spPr>
          <a:xfrm>
            <a:off x="640080" y="16468344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What goes in</a:t>
            </a:r>
            <a:endParaRPr lang="en-US" sz="2200" dirty="0"/>
          </a:p>
        </p:txBody>
      </p:sp>
      <p:sp>
        <p:nvSpPr>
          <p:cNvPr id="66" name="Text 62"/>
          <p:cNvSpPr/>
          <p:nvPr/>
        </p:nvSpPr>
        <p:spPr>
          <a:xfrm>
            <a:off x="640080" y="17181576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Electricity Maps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hourly carbon intensity, 2021 to 2025 (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43,824 obs/zone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); train 2021 to 2024, single 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locked 2025 test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 Three US and Canadian grids spanning weak to strong residual correlation (up to 0.78). Facility: R zones × 24 h, 50 MW cap, 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80% utilization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15 MW/h ramp, deferral window 0 to 7 h, inflexible fraction 30 to 75%.</a:t>
            </a:r>
            <a:endParaRPr lang="en-US" sz="1700" dirty="0"/>
          </a:p>
        </p:txBody>
      </p:sp>
      <p:sp>
        <p:nvSpPr>
          <p:cNvPr id="67" name="Text 63"/>
          <p:cNvSpPr/>
          <p:nvPr/>
        </p:nvSpPr>
        <p:spPr>
          <a:xfrm>
            <a:off x="640080" y="19604736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METHOD</a:t>
            </a:r>
            <a:endParaRPr lang="en-US" sz="1900" dirty="0"/>
          </a:p>
        </p:txBody>
      </p:sp>
      <p:sp>
        <p:nvSpPr>
          <p:cNvPr id="68" name="Shape 64"/>
          <p:cNvSpPr/>
          <p:nvPr/>
        </p:nvSpPr>
        <p:spPr>
          <a:xfrm>
            <a:off x="640080" y="20061936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9" name="Text 65"/>
          <p:cNvSpPr/>
          <p:nvPr/>
        </p:nvSpPr>
        <p:spPr>
          <a:xfrm>
            <a:off x="640080" y="201899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How it is built</a:t>
            </a:r>
            <a:endParaRPr lang="en-US" sz="2200" dirty="0"/>
          </a:p>
        </p:txBody>
      </p:sp>
      <p:sp>
        <p:nvSpPr>
          <p:cNvPr id="70" name="Text 66"/>
          <p:cNvSpPr/>
          <p:nvPr/>
        </p:nvSpPr>
        <p:spPr>
          <a:xfrm>
            <a:off x="640080" y="20903184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Mahalanobis Wasserstein DRO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a second-order cone program in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CVXPY (Clarabel/HiGHS)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minimizing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CVaR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of carbon cost (</a:t>
            </a:r>
            <a:pPr algn="l" indent="0" marL="0">
              <a:lnSpc>
                <a:spcPct val="116000"/>
              </a:lnSpc>
              <a:buNone/>
            </a:pPr>
            <a:r>
              <a:rPr lang="en-US" sz="1700" i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Rockafellar and Uryasev 2000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):</a:t>
            </a:r>
            <a:endParaRPr lang="en-US" sz="1700" dirty="0"/>
          </a:p>
        </p:txBody>
      </p:sp>
      <p:pic>
        <p:nvPicPr>
          <p:cNvPr id="71" name="Image 2" descr="figs/dro_equa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85800" y="22320504"/>
            <a:ext cx="6858000" cy="2433793"/>
          </a:xfrm>
          <a:prstGeom prst="rect">
            <a:avLst/>
          </a:prstGeom>
        </p:spPr>
      </p:pic>
      <p:sp>
        <p:nvSpPr>
          <p:cNvPr id="72" name="Text 67"/>
          <p:cNvSpPr/>
          <p:nvPr/>
        </p:nvSpPr>
        <p:spPr>
          <a:xfrm>
            <a:off x="640080" y="24909745"/>
            <a:ext cx="6949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Cross-region value enters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only through the off-diagonal blocks of Σ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the pre-registered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shuffled-marginals test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zeroes exactly those blocks. We add copula and tail checks, mean-leveling tests, and walk-forward validation to 2025.</a:t>
            </a:r>
            <a:endParaRPr lang="en-US" sz="1700" dirty="0"/>
          </a:p>
        </p:txBody>
      </p:sp>
      <p:sp>
        <p:nvSpPr>
          <p:cNvPr id="73" name="Text 68"/>
          <p:cNvSpPr/>
          <p:nvPr/>
        </p:nvSpPr>
        <p:spPr>
          <a:xfrm>
            <a:off x="640080" y="26647105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RIGOR</a:t>
            </a:r>
            <a:endParaRPr lang="en-US" sz="1900" dirty="0"/>
          </a:p>
        </p:txBody>
      </p:sp>
      <p:sp>
        <p:nvSpPr>
          <p:cNvPr id="74" name="Shape 69"/>
          <p:cNvSpPr/>
          <p:nvPr/>
        </p:nvSpPr>
        <p:spPr>
          <a:xfrm>
            <a:off x="640080" y="27104305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5" name="Text 70"/>
          <p:cNvSpPr/>
          <p:nvPr/>
        </p:nvSpPr>
        <p:spPr>
          <a:xfrm>
            <a:off x="640080" y="27232321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Why you can trust a null</a:t>
            </a:r>
            <a:endParaRPr lang="en-US" sz="2200" dirty="0"/>
          </a:p>
        </p:txBody>
      </p:sp>
      <p:sp>
        <p:nvSpPr>
          <p:cNvPr id="76" name="Text 71"/>
          <p:cNvSpPr/>
          <p:nvPr/>
        </p:nvSpPr>
        <p:spPr>
          <a:xfrm>
            <a:off x="658368" y="27945553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</a:t>
            </a:r>
            <a:endParaRPr lang="en-US" sz="3300" dirty="0"/>
          </a:p>
        </p:txBody>
      </p:sp>
      <p:sp>
        <p:nvSpPr>
          <p:cNvPr id="77" name="Text 72"/>
          <p:cNvSpPr/>
          <p:nvPr/>
        </p:nvSpPr>
        <p:spPr>
          <a:xfrm>
            <a:off x="2148840" y="27945553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unit tests, CI on every push</a:t>
            </a:r>
            <a:endParaRPr lang="en-US" sz="1600" dirty="0"/>
          </a:p>
        </p:txBody>
      </p:sp>
      <p:sp>
        <p:nvSpPr>
          <p:cNvPr id="78" name="Shape 73"/>
          <p:cNvSpPr/>
          <p:nvPr/>
        </p:nvSpPr>
        <p:spPr>
          <a:xfrm>
            <a:off x="640080" y="28658785"/>
            <a:ext cx="6949440" cy="10973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79" name="Text 74"/>
          <p:cNvSpPr/>
          <p:nvPr/>
        </p:nvSpPr>
        <p:spPr>
          <a:xfrm>
            <a:off x="658368" y="28695361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</a:t>
            </a:r>
            <a:endParaRPr lang="en-US" sz="3300" dirty="0"/>
          </a:p>
        </p:txBody>
      </p:sp>
      <p:sp>
        <p:nvSpPr>
          <p:cNvPr id="80" name="Text 75"/>
          <p:cNvSpPr/>
          <p:nvPr/>
        </p:nvSpPr>
        <p:spPr>
          <a:xfrm>
            <a:off x="2148840" y="28695361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cells where TOST confirms a null effect</a:t>
            </a:r>
            <a:endParaRPr lang="en-US" sz="1600" dirty="0"/>
          </a:p>
        </p:txBody>
      </p:sp>
      <p:sp>
        <p:nvSpPr>
          <p:cNvPr id="81" name="Shape 76"/>
          <p:cNvSpPr/>
          <p:nvPr/>
        </p:nvSpPr>
        <p:spPr>
          <a:xfrm>
            <a:off x="640080" y="29408593"/>
            <a:ext cx="6949440" cy="10973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82" name="Text 77"/>
          <p:cNvSpPr/>
          <p:nvPr/>
        </p:nvSpPr>
        <p:spPr>
          <a:xfrm>
            <a:off x="658368" y="29445169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3300" dirty="0"/>
          </a:p>
        </p:txBody>
      </p:sp>
      <p:sp>
        <p:nvSpPr>
          <p:cNvPr id="83" name="Text 78"/>
          <p:cNvSpPr/>
          <p:nvPr/>
        </p:nvSpPr>
        <p:spPr>
          <a:xfrm>
            <a:off x="2148840" y="29445169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mean-dominance theorem bounding the gap</a:t>
            </a:r>
            <a:endParaRPr lang="en-US" sz="1600" dirty="0"/>
          </a:p>
        </p:txBody>
      </p:sp>
      <p:sp>
        <p:nvSpPr>
          <p:cNvPr id="84" name="Text 79"/>
          <p:cNvSpPr/>
          <p:nvPr/>
        </p:nvSpPr>
        <p:spPr>
          <a:xfrm>
            <a:off x="8092440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01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PREMISE</a:t>
            </a:r>
            <a:endParaRPr lang="en-US" sz="2200" dirty="0"/>
          </a:p>
        </p:txBody>
      </p:sp>
      <p:sp>
        <p:nvSpPr>
          <p:cNvPr id="85" name="Text 80"/>
          <p:cNvSpPr/>
          <p:nvPr/>
        </p:nvSpPr>
        <p:spPr>
          <a:xfrm>
            <a:off x="8092440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spatial signal is real, but does it pay?</a:t>
            </a:r>
            <a:endParaRPr lang="en-US" sz="3300" dirty="0"/>
          </a:p>
        </p:txBody>
      </p:sp>
      <p:sp>
        <p:nvSpPr>
          <p:cNvPr id="86" name="Shape 81"/>
          <p:cNvSpPr/>
          <p:nvPr/>
        </p:nvSpPr>
        <p:spPr>
          <a:xfrm>
            <a:off x="8092440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7" name="Text 82"/>
          <p:cNvSpPr/>
          <p:nvPr/>
        </p:nvSpPr>
        <p:spPr>
          <a:xfrm>
            <a:off x="8092440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Across 2021 to 2025, de-seasonalized carbon intensity in neighbouring zones moves together. Residual cross-region correlation reaches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0.78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in the Western US and 0.73 in the Eastern interconnection. If spatial structure can ever sharpen a robust schedule, this is the regime where it should.</a:t>
            </a:r>
            <a:endParaRPr lang="en-US" sz="1900" dirty="0"/>
          </a:p>
        </p:txBody>
      </p:sp>
      <p:pic>
        <p:nvPicPr>
          <p:cNvPr id="88" name="Image 3" descr="figs/us_regions_map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38160" y="17007840"/>
            <a:ext cx="6754368" cy="4070145"/>
          </a:xfrm>
          <a:prstGeom prst="rect">
            <a:avLst/>
          </a:prstGeom>
        </p:spPr>
      </p:pic>
      <p:sp>
        <p:nvSpPr>
          <p:cNvPr id="89" name="Text 83"/>
          <p:cNvSpPr/>
          <p:nvPr/>
        </p:nvSpPr>
        <p:spPr>
          <a:xfrm>
            <a:off x="8092440" y="21196857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Three grids span the US and Canada; the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Western US zones form a tightly correlated graph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(up to 0.78).</a:t>
            </a:r>
            <a:endParaRPr lang="en-US" sz="1650" dirty="0"/>
          </a:p>
        </p:txBody>
      </p:sp>
      <p:pic>
        <p:nvPicPr>
          <p:cNvPr id="90" name="Image 4" descr="figs/value_vs_corr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38160" y="21900945"/>
            <a:ext cx="6754368" cy="4325210"/>
          </a:xfrm>
          <a:prstGeom prst="rect">
            <a:avLst/>
          </a:prstGeom>
        </p:spPr>
      </p:pic>
      <p:sp>
        <p:nvSpPr>
          <p:cNvPr id="91" name="Text 84"/>
          <p:cNvSpPr/>
          <p:nvPr/>
        </p:nvSpPr>
        <p:spPr>
          <a:xfrm>
            <a:off x="8092440" y="26363316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But value does not follow: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out-of-sample spatial value stays at zero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as correlation rises from 0.2 to 0.6.</a:t>
            </a:r>
            <a:endParaRPr lang="en-US" sz="1650" dirty="0"/>
          </a:p>
        </p:txBody>
      </p:sp>
      <p:sp>
        <p:nvSpPr>
          <p:cNvPr id="92" name="Shape 85"/>
          <p:cNvSpPr/>
          <p:nvPr/>
        </p:nvSpPr>
        <p:spPr>
          <a:xfrm>
            <a:off x="8092440" y="27058260"/>
            <a:ext cx="6845808" cy="2751180"/>
          </a:xfrm>
          <a:prstGeom prst="rect">
            <a:avLst/>
          </a:prstGeom>
          <a:solidFill>
            <a:srgbClr val="FFFFFF"/>
          </a:solidFill>
          <a:ln w="17780">
            <a:solidFill>
              <a:srgbClr val="00338D"/>
            </a:solidFill>
            <a:prstDash val="solid"/>
          </a:ln>
        </p:spPr>
      </p:sp>
      <p:sp>
        <p:nvSpPr>
          <p:cNvPr id="93" name="Shape 86"/>
          <p:cNvSpPr/>
          <p:nvPr/>
        </p:nvSpPr>
        <p:spPr>
          <a:xfrm>
            <a:off x="8092440" y="27058260"/>
            <a:ext cx="6845808" cy="566928"/>
          </a:xfrm>
          <a:prstGeom prst="rect">
            <a:avLst/>
          </a:prstGeom>
          <a:solidFill>
            <a:srgbClr val="00338D"/>
          </a:solidFill>
          <a:ln/>
        </p:spPr>
      </p:sp>
      <p:sp>
        <p:nvSpPr>
          <p:cNvPr id="94" name="Text 87"/>
          <p:cNvSpPr/>
          <p:nvPr/>
        </p:nvSpPr>
        <p:spPr>
          <a:xfrm>
            <a:off x="8275320" y="27058260"/>
            <a:ext cx="28977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spc="100" kern="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EXPECTED</a:t>
            </a:r>
            <a:endParaRPr lang="en-US" sz="1500" dirty="0"/>
          </a:p>
        </p:txBody>
      </p:sp>
      <p:sp>
        <p:nvSpPr>
          <p:cNvPr id="95" name="Text 88"/>
          <p:cNvSpPr/>
          <p:nvPr/>
        </p:nvSpPr>
        <p:spPr>
          <a:xfrm>
            <a:off x="11374222" y="27058260"/>
            <a:ext cx="3490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FOUND</a:t>
            </a:r>
            <a:endParaRPr lang="en-US" sz="1500" dirty="0"/>
          </a:p>
        </p:txBody>
      </p:sp>
      <p:sp>
        <p:nvSpPr>
          <p:cNvPr id="96" name="Shape 89"/>
          <p:cNvSpPr/>
          <p:nvPr/>
        </p:nvSpPr>
        <p:spPr>
          <a:xfrm>
            <a:off x="11173054" y="27625188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97" name="Text 90"/>
          <p:cNvSpPr/>
          <p:nvPr/>
        </p:nvSpPr>
        <p:spPr>
          <a:xfrm>
            <a:off x="8275320" y="27625188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Correlation sharpens the schedule</a:t>
            </a:r>
            <a:endParaRPr lang="en-US" sz="1500" dirty="0"/>
          </a:p>
        </p:txBody>
      </p:sp>
      <p:sp>
        <p:nvSpPr>
          <p:cNvPr id="98" name="Text 91"/>
          <p:cNvSpPr/>
          <p:nvPr/>
        </p:nvSpPr>
        <p:spPr>
          <a:xfrm>
            <a:off x="11374222" y="27625188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Spatial value stays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~0%</a:t>
            </a:r>
            <a:endParaRPr lang="en-US" sz="1600" dirty="0"/>
          </a:p>
        </p:txBody>
      </p:sp>
      <p:sp>
        <p:nvSpPr>
          <p:cNvPr id="99" name="Shape 92"/>
          <p:cNvSpPr/>
          <p:nvPr/>
        </p:nvSpPr>
        <p:spPr>
          <a:xfrm>
            <a:off x="8092440" y="28353272"/>
            <a:ext cx="6845808" cy="728084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00" name="Shape 93"/>
          <p:cNvSpPr/>
          <p:nvPr/>
        </p:nvSpPr>
        <p:spPr>
          <a:xfrm>
            <a:off x="8092440" y="28353272"/>
            <a:ext cx="6845808" cy="13716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1" name="Shape 94"/>
          <p:cNvSpPr/>
          <p:nvPr/>
        </p:nvSpPr>
        <p:spPr>
          <a:xfrm>
            <a:off x="11173054" y="28353272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2" name="Text 95"/>
          <p:cNvSpPr/>
          <p:nvPr/>
        </p:nvSpPr>
        <p:spPr>
          <a:xfrm>
            <a:off x="8275320" y="28353272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Copulas capture the dependence</a:t>
            </a:r>
            <a:endParaRPr lang="en-US" sz="1500" dirty="0"/>
          </a:p>
        </p:txBody>
      </p:sp>
      <p:sp>
        <p:nvSpPr>
          <p:cNvPr id="103" name="Text 96"/>
          <p:cNvSpPr/>
          <p:nvPr/>
        </p:nvSpPr>
        <p:spPr>
          <a:xfrm>
            <a:off x="11374222" y="28353272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Even the maximal copula adds nothing</a:t>
            </a:r>
            <a:endParaRPr lang="en-US" sz="1600" dirty="0"/>
          </a:p>
        </p:txBody>
      </p:sp>
      <p:sp>
        <p:nvSpPr>
          <p:cNvPr id="104" name="Shape 97"/>
          <p:cNvSpPr/>
          <p:nvPr/>
        </p:nvSpPr>
        <p:spPr>
          <a:xfrm>
            <a:off x="8092440" y="29081356"/>
            <a:ext cx="6845808" cy="13716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5" name="Shape 98"/>
          <p:cNvSpPr/>
          <p:nvPr/>
        </p:nvSpPr>
        <p:spPr>
          <a:xfrm>
            <a:off x="11173054" y="29081356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6" name="Text 99"/>
          <p:cNvSpPr/>
          <p:nvPr/>
        </p:nvSpPr>
        <p:spPr>
          <a:xfrm>
            <a:off x="8275320" y="29081356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signal is simply absent</a:t>
            </a:r>
            <a:endParaRPr lang="en-US" sz="1500" dirty="0"/>
          </a:p>
        </p:txBody>
      </p:sp>
      <p:sp>
        <p:nvSpPr>
          <p:cNvPr id="107" name="Text 100"/>
          <p:cNvSpPr/>
          <p:nvPr/>
        </p:nvSpPr>
        <p:spPr>
          <a:xfrm>
            <a:off x="11374222" y="29081356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Real, but masked: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+1.46%</a:t>
            </a:r>
            <a:endParaRPr lang="en-US" sz="1600" dirty="0"/>
          </a:p>
        </p:txBody>
      </p:sp>
      <p:sp>
        <p:nvSpPr>
          <p:cNvPr id="108" name="Text 101"/>
          <p:cNvSpPr/>
          <p:nvPr/>
        </p:nvSpPr>
        <p:spPr>
          <a:xfrm>
            <a:off x="15441168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02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SCREEN</a:t>
            </a:r>
            <a:endParaRPr lang="en-US" sz="2200" dirty="0"/>
          </a:p>
        </p:txBody>
      </p:sp>
      <p:sp>
        <p:nvSpPr>
          <p:cNvPr id="109" name="Text 102"/>
          <p:cNvSpPr/>
          <p:nvPr/>
        </p:nvSpPr>
        <p:spPr>
          <a:xfrm>
            <a:off x="15441168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Does passive sophistication pay? No.</a:t>
            </a:r>
            <a:endParaRPr lang="en-US" sz="3300" dirty="0"/>
          </a:p>
        </p:txBody>
      </p:sp>
      <p:sp>
        <p:nvSpPr>
          <p:cNvPr id="110" name="Shape 103"/>
          <p:cNvSpPr/>
          <p:nvPr/>
        </p:nvSpPr>
        <p:spPr>
          <a:xfrm>
            <a:off x="15441168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1" name="Text 104"/>
          <p:cNvSpPr/>
          <p:nvPr/>
        </p:nvSpPr>
        <p:spPr>
          <a:xfrm>
            <a:off x="15441168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re-fit the scheduler on the full joint covariance and on a block-diagonal version that erases every cross-region term, then compare out-of-sample CVaR of carbon cost. Across grids and horizons the gap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stays at zero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</a:t>
            </a:r>
            <a:endParaRPr lang="en-US" sz="1900" dirty="0"/>
          </a:p>
        </p:txBody>
      </p:sp>
      <p:sp>
        <p:nvSpPr>
          <p:cNvPr id="112" name="Shape 105"/>
          <p:cNvSpPr/>
          <p:nvPr/>
        </p:nvSpPr>
        <p:spPr>
          <a:xfrm>
            <a:off x="15322296" y="16888968"/>
            <a:ext cx="7083552" cy="4638304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3" name="Image 5" descr="figs/finding_bar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5486888" y="17007840"/>
            <a:ext cx="6754368" cy="4400560"/>
          </a:xfrm>
          <a:prstGeom prst="rect">
            <a:avLst/>
          </a:prstGeom>
        </p:spPr>
      </p:pic>
      <p:sp>
        <p:nvSpPr>
          <p:cNvPr id="114" name="Text 106"/>
          <p:cNvSpPr/>
          <p:nvPr/>
        </p:nvSpPr>
        <p:spPr>
          <a:xfrm>
            <a:off x="15441168" y="21545560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problem versus covariance-only: about zero unless the mean field is removed.</a:t>
            </a:r>
            <a:endParaRPr lang="en-US" sz="1650" dirty="0"/>
          </a:p>
        </p:txBody>
      </p:sp>
      <p:sp>
        <p:nvSpPr>
          <p:cNvPr id="115" name="Shape 107"/>
          <p:cNvSpPr/>
          <p:nvPr/>
        </p:nvSpPr>
        <p:spPr>
          <a:xfrm>
            <a:off x="15322296" y="22130776"/>
            <a:ext cx="7083552" cy="2130596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6" name="Image 6" descr="figs/cv_curve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5486888" y="22249648"/>
            <a:ext cx="6754368" cy="1892852"/>
          </a:xfrm>
          <a:prstGeom prst="rect">
            <a:avLst/>
          </a:prstGeom>
        </p:spPr>
      </p:pic>
      <p:sp>
        <p:nvSpPr>
          <p:cNvPr id="117" name="Text 108"/>
          <p:cNvSpPr/>
          <p:nvPr/>
        </p:nvSpPr>
        <p:spPr>
          <a:xfrm>
            <a:off x="15441168" y="24279660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Cross-validation picks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ε* = 1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the optimizer truly robustifies, so the null is real.</a:t>
            </a:r>
            <a:endParaRPr lang="en-US" sz="1650" dirty="0"/>
          </a:p>
        </p:txBody>
      </p:sp>
      <p:sp>
        <p:nvSpPr>
          <p:cNvPr id="118" name="Shape 109"/>
          <p:cNvSpPr/>
          <p:nvPr/>
        </p:nvSpPr>
        <p:spPr>
          <a:xfrm>
            <a:off x="15322296" y="24864876"/>
            <a:ext cx="7083552" cy="2935957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9" name="Image 7" descr="figs/complexity_frontier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5486888" y="24983748"/>
            <a:ext cx="6754368" cy="2698213"/>
          </a:xfrm>
          <a:prstGeom prst="rect">
            <a:avLst/>
          </a:prstGeom>
        </p:spPr>
      </p:pic>
      <p:sp>
        <p:nvSpPr>
          <p:cNvPr id="120" name="Text 110"/>
          <p:cNvSpPr/>
          <p:nvPr/>
        </p:nvSpPr>
        <p:spPr>
          <a:xfrm>
            <a:off x="15441168" y="27819121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Cumulative savings vs. carbon-blind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jump once (transfer), then stay flat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joint covariance, the robust DRO, and copulas (Gaussian, Clayton, comonotone) each add nothing.</a:t>
            </a:r>
            <a:endParaRPr lang="en-US" sz="1650" dirty="0"/>
          </a:p>
        </p:txBody>
      </p:sp>
      <p:sp>
        <p:nvSpPr>
          <p:cNvPr id="121" name="Shape 111"/>
          <p:cNvSpPr/>
          <p:nvPr/>
        </p:nvSpPr>
        <p:spPr>
          <a:xfrm>
            <a:off x="15441168" y="28477489"/>
            <a:ext cx="6845808" cy="1331951"/>
          </a:xfrm>
          <a:prstGeom prst="rect">
            <a:avLst/>
          </a:prstGeom>
          <a:solidFill>
            <a:srgbClr val="E6F4FC"/>
          </a:solidFill>
          <a:ln/>
        </p:spPr>
      </p:sp>
      <p:sp>
        <p:nvSpPr>
          <p:cNvPr id="122" name="Shape 112"/>
          <p:cNvSpPr/>
          <p:nvPr/>
        </p:nvSpPr>
        <p:spPr>
          <a:xfrm>
            <a:off x="15441168" y="28477489"/>
            <a:ext cx="146304" cy="1331951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23" name="Text 113"/>
          <p:cNvSpPr/>
          <p:nvPr/>
        </p:nvSpPr>
        <p:spPr>
          <a:xfrm>
            <a:off x="15752064" y="28477489"/>
            <a:ext cx="6278880" cy="1331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VERDICT   </a:t>
            </a:r>
            <a:pPr algn="l"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across every estimator and test, the out-of-sample spatial value is statistically indistinguishable from zero.</a:t>
            </a:r>
            <a:endParaRPr lang="en-US" sz="1650" dirty="0"/>
          </a:p>
        </p:txBody>
      </p:sp>
      <p:sp>
        <p:nvSpPr>
          <p:cNvPr id="124" name="Text 114"/>
          <p:cNvSpPr/>
          <p:nvPr/>
        </p:nvSpPr>
        <p:spPr>
          <a:xfrm>
            <a:off x="22789896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03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MECHANISM</a:t>
            </a:r>
            <a:endParaRPr lang="en-US" sz="2200" dirty="0"/>
          </a:p>
        </p:txBody>
      </p:sp>
      <p:sp>
        <p:nvSpPr>
          <p:cNvPr id="125" name="Text 115"/>
          <p:cNvSpPr/>
          <p:nvPr/>
        </p:nvSpPr>
        <p:spPr>
          <a:xfrm>
            <a:off x="22789896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Why does it add nothing? The mean field holds it.</a:t>
            </a:r>
            <a:endParaRPr lang="en-US" sz="3300" dirty="0"/>
          </a:p>
        </p:txBody>
      </p:sp>
      <p:sp>
        <p:nvSpPr>
          <p:cNvPr id="126" name="Shape 116"/>
          <p:cNvSpPr/>
          <p:nvPr/>
        </p:nvSpPr>
        <p:spPr>
          <a:xfrm>
            <a:off x="22789896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7" name="Text 117"/>
          <p:cNvSpPr/>
          <p:nvPr/>
        </p:nvSpPr>
        <p:spPr>
          <a:xfrm>
            <a:off x="22789896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mean-leveling test isolates the cause. Hold the covariance fixed and flatten the mean field, and the same cross-region structure now pays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+1.46%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 The signal is real but masked by a dominant mean, not absent.</a:t>
            </a:r>
            <a:endParaRPr lang="en-US" sz="1900" dirty="0"/>
          </a:p>
        </p:txBody>
      </p:sp>
      <p:pic>
        <p:nvPicPr>
          <p:cNvPr id="128" name="Image 8" descr="figs/carbon_landscape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2835616" y="17007840"/>
            <a:ext cx="6754368" cy="4268947"/>
          </a:xfrm>
          <a:prstGeom prst="rect">
            <a:avLst/>
          </a:prstGeom>
        </p:spPr>
      </p:pic>
      <p:sp>
        <p:nvSpPr>
          <p:cNvPr id="129" name="Text 118"/>
          <p:cNvSpPr/>
          <p:nvPr/>
        </p:nvSpPr>
        <p:spPr>
          <a:xfrm>
            <a:off x="22789896" y="21413947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dominant mean carbon field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the schedule follows this terrain; the spatial covariance is a thin ripple on top (≤1.46%).</a:t>
            </a:r>
            <a:endParaRPr lang="en-US" sz="1650" dirty="0"/>
          </a:p>
        </p:txBody>
      </p:sp>
      <p:pic>
        <p:nvPicPr>
          <p:cNvPr id="130" name="Image 9" descr="figs/certificate_canyon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22835616" y="22191187"/>
            <a:ext cx="6754368" cy="4134367"/>
          </a:xfrm>
          <a:prstGeom prst="rect">
            <a:avLst/>
          </a:prstGeom>
        </p:spPr>
      </p:pic>
      <p:sp>
        <p:nvSpPr>
          <p:cNvPr id="131" name="Text 119"/>
          <p:cNvSpPr/>
          <p:nvPr/>
        </p:nvSpPr>
        <p:spPr>
          <a:xfrm>
            <a:off x="22789896" y="26462715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mean-dominance theorem caps the gap a-priori at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 to 13% of CVaR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the realized gap never exceeds 0.23%, about 100x below its own bound.</a:t>
            </a:r>
            <a:endParaRPr lang="en-US" sz="1650" dirty="0"/>
          </a:p>
        </p:txBody>
      </p:sp>
      <p:sp>
        <p:nvSpPr>
          <p:cNvPr id="132" name="Shape 120"/>
          <p:cNvSpPr/>
          <p:nvPr/>
        </p:nvSpPr>
        <p:spPr>
          <a:xfrm>
            <a:off x="22789896" y="27157659"/>
            <a:ext cx="6845808" cy="2651781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33" name="Shape 121"/>
          <p:cNvSpPr/>
          <p:nvPr/>
        </p:nvSpPr>
        <p:spPr>
          <a:xfrm>
            <a:off x="22789896" y="27157659"/>
            <a:ext cx="146304" cy="2651781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34" name="Text 122"/>
          <p:cNvSpPr/>
          <p:nvPr/>
        </p:nvSpPr>
        <p:spPr>
          <a:xfrm>
            <a:off x="23082504" y="27358827"/>
            <a:ext cx="634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spc="50" kern="0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NULL SURVIVES EVERY CHECK</a:t>
            </a:r>
            <a:endParaRPr lang="en-US" sz="1800" dirty="0"/>
          </a:p>
        </p:txBody>
      </p:sp>
      <p:sp>
        <p:nvSpPr>
          <p:cNvPr id="135" name="Shape 123"/>
          <p:cNvSpPr/>
          <p:nvPr/>
        </p:nvSpPr>
        <p:spPr>
          <a:xfrm>
            <a:off x="23082504" y="27870891"/>
            <a:ext cx="6260592" cy="41148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36" name="Text 124"/>
          <p:cNvSpPr/>
          <p:nvPr/>
        </p:nvSpPr>
        <p:spPr>
          <a:xfrm>
            <a:off x="23100792" y="28026339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37" name="Text 125"/>
          <p:cNvSpPr/>
          <p:nvPr/>
        </p:nvSpPr>
        <p:spPr>
          <a:xfrm>
            <a:off x="23576280" y="28026339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Ledoit-Wolf covariance shrinkage</a:t>
            </a:r>
            <a:endParaRPr lang="en-US" sz="1650" dirty="0"/>
          </a:p>
        </p:txBody>
      </p:sp>
      <p:sp>
        <p:nvSpPr>
          <p:cNvPr id="138" name="Text 126"/>
          <p:cNvSpPr/>
          <p:nvPr/>
        </p:nvSpPr>
        <p:spPr>
          <a:xfrm>
            <a:off x="23100792" y="28300662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39" name="Text 127"/>
          <p:cNvSpPr/>
          <p:nvPr/>
        </p:nvSpPr>
        <p:spPr>
          <a:xfrm>
            <a:off x="23576280" y="28300662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Residualization of the mean field</a:t>
            </a:r>
            <a:endParaRPr lang="en-US" sz="1650" dirty="0"/>
          </a:p>
        </p:txBody>
      </p:sp>
      <p:sp>
        <p:nvSpPr>
          <p:cNvPr id="140" name="Text 128"/>
          <p:cNvSpPr/>
          <p:nvPr/>
        </p:nvSpPr>
        <p:spPr>
          <a:xfrm>
            <a:off x="23100792" y="28574986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1" name="Text 129"/>
          <p:cNvSpPr/>
          <p:nvPr/>
        </p:nvSpPr>
        <p:spPr>
          <a:xfrm>
            <a:off x="23576280" y="28574986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Benjamini-Hochberg over 144 cells</a:t>
            </a:r>
            <a:endParaRPr lang="en-US" sz="1650" dirty="0"/>
          </a:p>
        </p:txBody>
      </p:sp>
      <p:sp>
        <p:nvSpPr>
          <p:cNvPr id="142" name="Text 130"/>
          <p:cNvSpPr/>
          <p:nvPr/>
        </p:nvSpPr>
        <p:spPr>
          <a:xfrm>
            <a:off x="23100792" y="28849309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3" name="Text 131"/>
          <p:cNvSpPr/>
          <p:nvPr/>
        </p:nvSpPr>
        <p:spPr>
          <a:xfrm>
            <a:off x="23576280" y="28849309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Walk-forward validation to 2024</a:t>
            </a:r>
            <a:endParaRPr lang="en-US" sz="1650" dirty="0"/>
          </a:p>
        </p:txBody>
      </p:sp>
      <p:sp>
        <p:nvSpPr>
          <p:cNvPr id="144" name="Text 132"/>
          <p:cNvSpPr/>
          <p:nvPr/>
        </p:nvSpPr>
        <p:spPr>
          <a:xfrm>
            <a:off x="23100792" y="29123633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5" name="Text 133"/>
          <p:cNvSpPr/>
          <p:nvPr/>
        </p:nvSpPr>
        <p:spPr>
          <a:xfrm>
            <a:off x="23576280" y="29123633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Ramp and utilization sweeps</a:t>
            </a:r>
            <a:endParaRPr lang="en-US" sz="1650" dirty="0"/>
          </a:p>
        </p:txBody>
      </p:sp>
      <p:sp>
        <p:nvSpPr>
          <p:cNvPr id="146" name="Text 134"/>
          <p:cNvSpPr/>
          <p:nvPr/>
        </p:nvSpPr>
        <p:spPr>
          <a:xfrm>
            <a:off x="23100792" y="29397956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7" name="Text 135"/>
          <p:cNvSpPr/>
          <p:nvPr/>
        </p:nvSpPr>
        <p:spPr>
          <a:xfrm>
            <a:off x="23576280" y="29397956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full CVaR tail range, 0.80 to 0.99</a:t>
            </a:r>
            <a:endParaRPr lang="en-US" sz="1650" dirty="0"/>
          </a:p>
        </p:txBody>
      </p:sp>
      <p:sp>
        <p:nvSpPr>
          <p:cNvPr id="148" name="Shape 136"/>
          <p:cNvSpPr/>
          <p:nvPr/>
        </p:nvSpPr>
        <p:spPr>
          <a:xfrm>
            <a:off x="640080" y="30083760"/>
            <a:ext cx="28995624" cy="759488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E0"/>
            </a:solidFill>
            <a:prstDash val="solid"/>
          </a:ln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149" name="Shape 137"/>
          <p:cNvSpPr/>
          <p:nvPr/>
        </p:nvSpPr>
        <p:spPr>
          <a:xfrm>
            <a:off x="640080" y="30083760"/>
            <a:ext cx="28995624" cy="14630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0" name="Text 138"/>
          <p:cNvSpPr/>
          <p:nvPr/>
        </p:nvSpPr>
        <p:spPr>
          <a:xfrm>
            <a:off x="1051560" y="3037636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spc="3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RESULT, SEEN DIRECTLY</a:t>
            </a:r>
            <a:endParaRPr lang="en-US" sz="1800" dirty="0"/>
          </a:p>
        </p:txBody>
      </p:sp>
      <p:sp>
        <p:nvSpPr>
          <p:cNvPr id="151" name="Text 139"/>
          <p:cNvSpPr/>
          <p:nvPr/>
        </p:nvSpPr>
        <p:spPr>
          <a:xfrm>
            <a:off x="8503920" y="30339792"/>
            <a:ext cx="20720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Each panel is one Western US grid.  Bars: scheduled load.  Line: carbon intensity.  Joint and shuffled plans overlap.</a:t>
            </a:r>
            <a:endParaRPr lang="en-US" sz="1500" dirty="0"/>
          </a:p>
        </p:txBody>
      </p:sp>
      <p:pic>
        <p:nvPicPr>
          <p:cNvPr id="152" name="Image 10" descr="figs/schedule_us_west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042416" y="30897576"/>
            <a:ext cx="28190952" cy="6561614"/>
          </a:xfrm>
          <a:prstGeom prst="rect">
            <a:avLst/>
          </a:prstGeom>
        </p:spPr>
      </p:pic>
      <p:sp>
        <p:nvSpPr>
          <p:cNvPr id="153" name="Shape 140"/>
          <p:cNvSpPr/>
          <p:nvPr/>
        </p:nvSpPr>
        <p:spPr>
          <a:xfrm>
            <a:off x="640080" y="37907246"/>
            <a:ext cx="28995624" cy="2606040"/>
          </a:xfrm>
          <a:prstGeom prst="rect">
            <a:avLst/>
          </a:prstGeom>
          <a:solidFill>
            <a:srgbClr val="FAF1D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54" name="Shape 141"/>
          <p:cNvSpPr/>
          <p:nvPr/>
        </p:nvSpPr>
        <p:spPr>
          <a:xfrm>
            <a:off x="640080" y="37907246"/>
            <a:ext cx="164592" cy="2606040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155" name="Image 11" descr="figs/schematic_transfer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97280" y="38108414"/>
            <a:ext cx="5394960" cy="2203704"/>
          </a:xfrm>
          <a:prstGeom prst="rect">
            <a:avLst/>
          </a:prstGeom>
        </p:spPr>
      </p:pic>
      <p:sp>
        <p:nvSpPr>
          <p:cNvPr id="156" name="Text 142"/>
          <p:cNvSpPr/>
          <p:nvPr/>
        </p:nvSpPr>
        <p:spPr>
          <a:xfrm>
            <a:off x="6766560" y="38273006"/>
            <a:ext cx="22594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500" b="1" spc="1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PAYOFF</a:t>
            </a:r>
            <a:endParaRPr lang="en-US" sz="2500" dirty="0"/>
          </a:p>
        </p:txBody>
      </p:sp>
      <p:sp>
        <p:nvSpPr>
          <p:cNvPr id="157" name="Text 143"/>
          <p:cNvSpPr/>
          <p:nvPr/>
        </p:nvSpPr>
        <p:spPr>
          <a:xfrm>
            <a:off x="6766560" y="39004526"/>
            <a:ext cx="22503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value is in physically moving compute toward whichever grid is clean right now. An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active inter-region transfer channel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cuts 4 to 10 percent of carbon, deterministically. The sophisticated layers (joint covariance, copulas, distributional robustness) add nothing until grid emergencies hit 3x severity, which real grids never reach. Deploy the simple migration scheduler; price robustness only if your grid faces genuine extremes.</a:t>
            </a:r>
            <a:endParaRPr lang="en-US" sz="1900" dirty="0"/>
          </a:p>
        </p:txBody>
      </p:sp>
      <p:sp>
        <p:nvSpPr>
          <p:cNvPr id="158" name="Shape 144"/>
          <p:cNvSpPr/>
          <p:nvPr/>
        </p:nvSpPr>
        <p:spPr>
          <a:xfrm>
            <a:off x="640080" y="40741886"/>
            <a:ext cx="28995624" cy="1188720"/>
          </a:xfrm>
          <a:prstGeom prst="rect">
            <a:avLst/>
          </a:prstGeom>
          <a:solidFill>
            <a:srgbClr val="002564"/>
          </a:solidFill>
          <a:ln/>
        </p:spPr>
      </p:sp>
      <p:sp>
        <p:nvSpPr>
          <p:cNvPr id="159" name="Shape 145"/>
          <p:cNvSpPr/>
          <p:nvPr/>
        </p:nvSpPr>
        <p:spPr>
          <a:xfrm>
            <a:off x="640080" y="40741886"/>
            <a:ext cx="164592" cy="1188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0" name="Shape 146"/>
          <p:cNvSpPr/>
          <p:nvPr/>
        </p:nvSpPr>
        <p:spPr>
          <a:xfrm>
            <a:off x="28236672" y="40677878"/>
            <a:ext cx="1316736" cy="1316736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61" name="Image 12" descr="figs/repo_qr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28355544" y="40796750"/>
            <a:ext cx="1078992" cy="1078992"/>
          </a:xfrm>
          <a:prstGeom prst="rect">
            <a:avLst/>
          </a:prstGeom>
        </p:spPr>
      </p:pic>
      <p:sp>
        <p:nvSpPr>
          <p:cNvPr id="162" name="Text 147"/>
          <p:cNvSpPr/>
          <p:nvPr/>
        </p:nvSpPr>
        <p:spPr>
          <a:xfrm>
            <a:off x="26389584" y="40741886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400" b="1" spc="1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REPOSITORY</a:t>
            </a:r>
            <a:endParaRPr lang="en-US" sz="14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400" b="1" spc="1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 ·  THESIS</a:t>
            </a:r>
            <a:endParaRPr lang="en-US" sz="1400" dirty="0"/>
          </a:p>
        </p:txBody>
      </p:sp>
      <p:sp>
        <p:nvSpPr>
          <p:cNvPr id="163" name="Text 148"/>
          <p:cNvSpPr/>
          <p:nvPr/>
        </p:nvSpPr>
        <p:spPr>
          <a:xfrm>
            <a:off x="1325880" y="40741886"/>
            <a:ext cx="24332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RECOMMENDATION    </a:t>
            </a:r>
            <a:pPr algn="l"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Deploy the deterministic migration scheduler; skip joint-covariance and copula modeling; price robustness only past a severity real grids never reach.</a:t>
            </a:r>
            <a:endParaRPr lang="en-US" sz="2500" dirty="0"/>
          </a:p>
        </p:txBody>
      </p:sp>
      <p:sp>
        <p:nvSpPr>
          <p:cNvPr id="164" name="Text 149"/>
          <p:cNvSpPr/>
          <p:nvPr/>
        </p:nvSpPr>
        <p:spPr>
          <a:xfrm>
            <a:off x="640080" y="42113486"/>
            <a:ext cx="28995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Marco Ortiz Togashi   ·   marco.ortiztogashi@student.ie.edu      |      Supervisor: Prof. Bissan Ghaddar      |      IE University, MS in Business Analytics &amp; Data Science      |      Carbon data: Electricity Maps (academic licence).</a:t>
            </a:r>
            <a:endParaRPr lang="en-US" sz="1800" dirty="0"/>
          </a:p>
        </p:txBody>
      </p:sp>
      <p:sp>
        <p:nvSpPr>
          <p:cNvPr id="165" name="Text 150"/>
          <p:cNvSpPr/>
          <p:nvPr/>
        </p:nvSpPr>
        <p:spPr>
          <a:xfrm>
            <a:off x="640080" y="42515822"/>
            <a:ext cx="28995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References:  Hall et al. 2024 (carbon-aware DRO);  Mohajerin Esfahani and Kuhn 2018 (Wasserstein DRO);  Rockafellar and Uryasev 2000 (CVaR).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DRO capstone poster</dc:title>
  <dc:subject>PptxGenJS Presentation</dc:subject>
  <dc:creator>Marco Ortiz Togashi</dc:creator>
  <cp:lastModifiedBy>Marco Ortiz Togashi</cp:lastModifiedBy>
  <cp:revision>1</cp:revision>
  <dcterms:created xsi:type="dcterms:W3CDTF">2026-06-27T00:43:53Z</dcterms:created>
  <dcterms:modified xsi:type="dcterms:W3CDTF">2026-06-27T00:43:53Z</dcterms:modified>
</cp:coreProperties>
</file>